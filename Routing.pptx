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alibri (MS) Bold" charset="1" panose="020F0702030404030204"/>
      <p:regular r:id="rId28"/>
    </p:embeddedFont>
    <p:embeddedFont>
      <p:font typeface="Calibri (MS)" charset="1" panose="020F0502020204030204"/>
      <p:regular r:id="rId29"/>
    </p:embeddedFont>
    <p:embeddedFont>
      <p:font typeface="Cambria Bold" charset="1" panose="02040803050406030204"/>
      <p:regular r:id="rId30"/>
    </p:embeddedFont>
    <p:embeddedFont>
      <p:font typeface="Consolas Bold" charset="1" panose="020B0709020204030204"/>
      <p:regular r:id="rId33"/>
    </p:embeddedFont>
    <p:embeddedFont>
      <p:font typeface="Consolas" charset="1" panose="020B0609020204030204"/>
      <p:regular r:id="rId34"/>
    </p:embeddedFont>
    <p:embeddedFont>
      <p:font typeface="Roboto Bold" charset="1" panose="02000000000000000000"/>
      <p:regular r:id="rId44"/>
    </p:embeddedFont>
    <p:embeddedFont>
      <p:font typeface="Droid Serif Bold" charset="1" panose="02020800060500020200"/>
      <p:regular r:id="rId45"/>
    </p:embeddedFont>
    <p:embeddedFont>
      <p:font typeface="Roboto" charset="1" panose="02000000000000000000"/>
      <p:regular r:id="rId46"/>
    </p:embeddedFont>
    <p:embeddedFont>
      <p:font typeface="Inter Bold" charset="1" panose="02000503000000020004"/>
      <p:regular r:id="rId47"/>
    </p:embeddedFont>
    <p:embeddedFont>
      <p:font typeface="Arimo Bold" charset="1" panose="020B0704020202020204"/>
      <p:regular r:id="rId48"/>
    </p:embeddedFont>
    <p:embeddedFont>
      <p:font typeface="Inter" charset="1" panose="02000503000000020004"/>
      <p:regular r:id="rId49"/>
    </p:embeddedFont>
    <p:embeddedFont>
      <p:font typeface="Inter Italics" charset="1" panose="02000503000000020004"/>
      <p:regular r:id="rId50"/>
    </p:embeddedFont>
    <p:embeddedFont>
      <p:font typeface="Arimo" charset="1" panose="020B0604020202020204"/>
      <p:regular r:id="rId51"/>
    </p:embeddedFont>
    <p:embeddedFont>
      <p:font typeface="Anca Coder Bold" charset="1" panose="020B0809020502020204"/>
      <p:regular r:id="rId52"/>
    </p:embeddedFont>
    <p:embeddedFont>
      <p:font typeface="Calibri (MS) Italics" charset="1" panose="020F05020202040A0204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notesSlides/notesSlide13.xml" Type="http://schemas.openxmlformats.org/officeDocument/2006/relationships/notesSlide"/><Relationship Id="rId54" Target="fonts/font54.fntdata" Type="http://schemas.openxmlformats.org/officeDocument/2006/relationships/font"/><Relationship Id="rId55" Target="notesSlides/notesSlide14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2.jpeg" Type="http://schemas.openxmlformats.org/officeDocument/2006/relationships/image"/><Relationship Id="rId7" Target="../media/image7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Relationship Id="rId4" Target="../media/image1.png" Type="http://schemas.openxmlformats.org/officeDocument/2006/relationships/image"/><Relationship Id="rId5" Target="../media/image2.jpe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2.jpeg" Type="http://schemas.openxmlformats.org/officeDocument/2006/relationships/image"/><Relationship Id="rId6" Target="../media/image11.jpeg" Type="http://schemas.openxmlformats.org/officeDocument/2006/relationships/image"/><Relationship Id="rId7" Target="../media/image10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4.png" Type="http://schemas.openxmlformats.org/officeDocument/2006/relationships/image"/><Relationship Id="rId6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2.jpeg" Type="http://schemas.openxmlformats.org/officeDocument/2006/relationships/image"/><Relationship Id="rId6" Target="../media/image10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2.jpeg" Type="http://schemas.openxmlformats.org/officeDocument/2006/relationships/image"/><Relationship Id="rId6" Target="../media/image12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Relationship Id="rId5" Target="../media/image1.png" Type="http://schemas.openxmlformats.org/officeDocument/2006/relationships/image"/><Relationship Id="rId6" Target="../media/image13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2.jpeg" Type="http://schemas.openxmlformats.org/officeDocument/2006/relationships/image"/><Relationship Id="rId6" Target="../media/image10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2.jpeg" Type="http://schemas.openxmlformats.org/officeDocument/2006/relationships/image"/><Relationship Id="rId6" Target="../media/image10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2.jpeg" Type="http://schemas.openxmlformats.org/officeDocument/2006/relationships/image"/><Relationship Id="rId6" Target="../media/image10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1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Relationship Id="rId5" Target="../media/image27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3" id="3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2920">
            <a:off x="1014365" y="3117723"/>
            <a:ext cx="4280630" cy="0"/>
          </a:xfrm>
          <a:prstGeom prst="line">
            <a:avLst/>
          </a:prstGeom>
          <a:ln cap="rnd" w="19050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60120" y="3291840"/>
            <a:ext cx="8229600" cy="685800"/>
            <a:chOff x="0" y="0"/>
            <a:chExt cx="109728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9728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450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SCIENCE MEETS CIRCUITS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6789420"/>
            <a:ext cx="9326880" cy="685800"/>
            <a:chOff x="0" y="0"/>
            <a:chExt cx="1243584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43584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FD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Router basics,routing protocols,and security basics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10112" y="1651637"/>
            <a:ext cx="4065886" cy="8635363"/>
            <a:chOff x="0" y="0"/>
            <a:chExt cx="6492240" cy="13788593"/>
          </a:xfrm>
        </p:grpSpPr>
        <p:sp>
          <p:nvSpPr>
            <p:cNvPr name="Freeform 12" id="12" descr="/home/claude/assets/senku_full.png"/>
            <p:cNvSpPr/>
            <p:nvPr/>
          </p:nvSpPr>
          <p:spPr>
            <a:xfrm flipH="false" flipV="false" rot="0">
              <a:off x="0" y="0"/>
              <a:ext cx="6492240" cy="13788592"/>
            </a:xfrm>
            <a:custGeom>
              <a:avLst/>
              <a:gdLst/>
              <a:ahLst/>
              <a:cxnLst/>
              <a:rect r="r" b="b" t="t" l="l"/>
              <a:pathLst>
                <a:path h="13788592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3788592"/>
                  </a:lnTo>
                  <a:lnTo>
                    <a:pt x="0" y="13788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35" r="0" b="-103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14" id="14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840618" y="1261872"/>
            <a:ext cx="4454330" cy="2227165"/>
          </a:xfrm>
          <a:custGeom>
            <a:avLst/>
            <a:gdLst/>
            <a:ahLst/>
            <a:cxnLst/>
            <a:rect r="r" b="b" t="t" l="l"/>
            <a:pathLst>
              <a:path h="2227165" w="4454330">
                <a:moveTo>
                  <a:pt x="0" y="0"/>
                </a:moveTo>
                <a:lnTo>
                  <a:pt x="4454330" y="0"/>
                </a:lnTo>
                <a:lnTo>
                  <a:pt x="4454330" y="2227165"/>
                </a:lnTo>
                <a:lnTo>
                  <a:pt x="0" y="22271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51560" y="4533900"/>
            <a:ext cx="10104120" cy="89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2"/>
              </a:lnSpc>
            </a:pPr>
            <a:r>
              <a:rPr lang="en-US" sz="5700" b="true">
                <a:solidFill>
                  <a:srgbClr val="F2FFFA"/>
                </a:solidFill>
                <a:latin typeface="Cambria Bold"/>
                <a:ea typeface="Cambria Bold"/>
                <a:cs typeface="Cambria Bold"/>
                <a:sym typeface="Cambria Bold"/>
              </a:rPr>
              <a:t>Routing &amp; Security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9705" y="1028700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</a:blip>
            <a:stretch>
              <a:fillRect l="-6" t="0" r="-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4" id="4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6" id="6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894011" y="221059"/>
            <a:ext cx="5835525" cy="1402370"/>
            <a:chOff x="0" y="0"/>
            <a:chExt cx="7780700" cy="18698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80700" cy="1869827"/>
            </a:xfrm>
            <a:custGeom>
              <a:avLst/>
              <a:gdLst/>
              <a:ahLst/>
              <a:cxnLst/>
              <a:rect r="r" b="b" t="t" l="l"/>
              <a:pathLst>
                <a:path h="1869827" w="7780700">
                  <a:moveTo>
                    <a:pt x="0" y="0"/>
                  </a:moveTo>
                  <a:lnTo>
                    <a:pt x="7780700" y="0"/>
                  </a:lnTo>
                  <a:lnTo>
                    <a:pt x="7780700" y="1869827"/>
                  </a:lnTo>
                  <a:lnTo>
                    <a:pt x="0" y="18698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8966" r="-36325" b="-521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42875"/>
              <a:ext cx="7780700" cy="20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b="true" sz="6999" spc="291">
                  <a:solidFill>
                    <a:srgbClr val="F2FF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39341" y="3543988"/>
            <a:ext cx="754380" cy="61722"/>
            <a:chOff x="0" y="0"/>
            <a:chExt cx="1005840" cy="82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82296"/>
            </a:xfrm>
            <a:custGeom>
              <a:avLst/>
              <a:gdLst/>
              <a:ahLst/>
              <a:cxnLst/>
              <a:rect r="r" b="b" t="t" l="l"/>
              <a:pathLst>
                <a:path h="8229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35353" y="4083521"/>
            <a:ext cx="676789" cy="676789"/>
            <a:chOff x="0" y="0"/>
            <a:chExt cx="731520" cy="731520"/>
          </a:xfrm>
        </p:grpSpPr>
        <p:sp>
          <p:nvSpPr>
            <p:cNvPr name="Freeform 15" id="15" descr="/home/claude/assets/gen/hex_filled_blu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50537" y="3982002"/>
            <a:ext cx="6767890" cy="507592"/>
            <a:chOff x="0" y="0"/>
            <a:chExt cx="73152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50537" y="4489594"/>
            <a:ext cx="10151835" cy="676789"/>
            <a:chOff x="0" y="0"/>
            <a:chExt cx="109728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9728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2FF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ECE Level 300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35353" y="5775493"/>
            <a:ext cx="676789" cy="676789"/>
            <a:chOff x="0" y="0"/>
            <a:chExt cx="731520" cy="731520"/>
          </a:xfrm>
        </p:grpSpPr>
        <p:sp>
          <p:nvSpPr>
            <p:cNvPr name="Freeform 23" id="23" descr="/home/claude/assets/gen/hex_filled_blu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150537" y="5673975"/>
            <a:ext cx="6767890" cy="507592"/>
            <a:chOff x="0" y="0"/>
            <a:chExt cx="73152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POSITION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50537" y="6181567"/>
            <a:ext cx="10151835" cy="796723"/>
            <a:chOff x="0" y="0"/>
            <a:chExt cx="10972800" cy="8611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861153"/>
            </a:xfrm>
            <a:custGeom>
              <a:avLst/>
              <a:gdLst/>
              <a:ahLst/>
              <a:cxnLst/>
              <a:rect r="r" b="b" t="t" l="l"/>
              <a:pathLst>
                <a:path h="861153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61153"/>
                  </a:lnTo>
                  <a:lnTo>
                    <a:pt x="0" y="8611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071" r="0" b="-86501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972800" cy="918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2FF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Network Camp Instructor</a:t>
              </a:r>
            </a:p>
            <a:p>
              <a:pPr algn="l">
                <a:lnSpc>
                  <a:spcPts val="270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35353" y="7467466"/>
            <a:ext cx="676789" cy="676789"/>
            <a:chOff x="0" y="0"/>
            <a:chExt cx="731520" cy="731520"/>
          </a:xfrm>
        </p:grpSpPr>
        <p:sp>
          <p:nvSpPr>
            <p:cNvPr name="Freeform 31" id="31" descr="/home/claude/assets/gen/hex_filled_blu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50537" y="7365947"/>
            <a:ext cx="6767890" cy="507592"/>
            <a:chOff x="0" y="0"/>
            <a:chExt cx="73152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CONTACT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150537" y="7873539"/>
            <a:ext cx="10151835" cy="676789"/>
            <a:chOff x="0" y="0"/>
            <a:chExt cx="109728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9728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2FF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ranahythmhsny@gmail.com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80445" y="2128254"/>
            <a:ext cx="5916930" cy="6819785"/>
            <a:chOff x="0" y="0"/>
            <a:chExt cx="6693281" cy="77145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93281" cy="7714597"/>
            </a:xfrm>
            <a:custGeom>
              <a:avLst/>
              <a:gdLst/>
              <a:ahLst/>
              <a:cxnLst/>
              <a:rect r="r" b="b" t="t" l="l"/>
              <a:pathLst>
                <a:path h="7714597" w="6693281">
                  <a:moveTo>
                    <a:pt x="0" y="168206"/>
                  </a:moveTo>
                  <a:cubicBezTo>
                    <a:pt x="0" y="75338"/>
                    <a:pt x="64492" y="0"/>
                    <a:pt x="143991" y="0"/>
                  </a:cubicBezTo>
                  <a:lnTo>
                    <a:pt x="6549289" y="0"/>
                  </a:lnTo>
                  <a:cubicBezTo>
                    <a:pt x="6628788" y="0"/>
                    <a:pt x="6693281" y="75338"/>
                    <a:pt x="6693281" y="168206"/>
                  </a:cubicBezTo>
                  <a:lnTo>
                    <a:pt x="6693281" y="7546391"/>
                  </a:lnTo>
                  <a:cubicBezTo>
                    <a:pt x="6693281" y="7639259"/>
                    <a:pt x="6628788" y="7714597"/>
                    <a:pt x="6549289" y="7714597"/>
                  </a:cubicBezTo>
                  <a:lnTo>
                    <a:pt x="143991" y="7714597"/>
                  </a:lnTo>
                  <a:cubicBezTo>
                    <a:pt x="64492" y="7714597"/>
                    <a:pt x="0" y="7639260"/>
                    <a:pt x="0" y="7546391"/>
                  </a:cubicBezTo>
                  <a:close/>
                </a:path>
              </a:pathLst>
            </a:custGeom>
            <a:blipFill>
              <a:blip r:embed="rId8"/>
              <a:stretch>
                <a:fillRect l="0" t="-15070" r="0" b="-15070"/>
              </a:stretch>
            </a:blip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333768" y="2310310"/>
            <a:ext cx="372284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2A73D"/>
                </a:solidFill>
                <a:latin typeface="Cambria Bold"/>
                <a:ea typeface="Cambria Bold"/>
                <a:cs typeface="Cambria Bold"/>
                <a:sym typeface="Cambria Bold"/>
              </a:rPr>
              <a:t>Rana Haitham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39983" y="694256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</a:blip>
            <a:stretch>
              <a:fillRect l="-6" t="0" r="-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4" id="4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6" id="6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51780">
            <a:off x="3553368" y="3364373"/>
            <a:ext cx="135562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514963" y="3320444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851387" y="4656877"/>
            <a:ext cx="96012" cy="96012"/>
            <a:chOff x="0" y="0"/>
            <a:chExt cx="128016" cy="12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12" id="12"/>
          <p:cNvSpPr/>
          <p:nvPr/>
        </p:nvSpPr>
        <p:spPr>
          <a:xfrm rot="5355420">
            <a:off x="16636089" y="6112069"/>
            <a:ext cx="157523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10755420">
            <a:off x="15857372" y="6890785"/>
            <a:ext cx="157523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7375019" y="5290804"/>
            <a:ext cx="96012" cy="96012"/>
            <a:chOff x="0" y="0"/>
            <a:chExt cx="128016" cy="1280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818958" y="6846856"/>
            <a:ext cx="96012" cy="96012"/>
            <a:chOff x="0" y="0"/>
            <a:chExt cx="128016" cy="1280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18" id="18"/>
          <p:cNvSpPr/>
          <p:nvPr/>
        </p:nvSpPr>
        <p:spPr>
          <a:xfrm rot="10768140">
            <a:off x="2504208" y="6168200"/>
            <a:ext cx="220377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4650410" y="8308905"/>
            <a:ext cx="96012" cy="96012"/>
            <a:chOff x="0" y="0"/>
            <a:chExt cx="128016" cy="1280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465775" y="6124270"/>
            <a:ext cx="96012" cy="96012"/>
            <a:chOff x="0" y="0"/>
            <a:chExt cx="128016" cy="1280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23" id="23"/>
          <p:cNvSpPr/>
          <p:nvPr/>
        </p:nvSpPr>
        <p:spPr>
          <a:xfrm rot="35820">
            <a:off x="8050492" y="5560685"/>
            <a:ext cx="19611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8012059" y="5516756"/>
            <a:ext cx="96012" cy="96012"/>
            <a:chOff x="0" y="0"/>
            <a:chExt cx="128016" cy="1280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54044" y="3574771"/>
            <a:ext cx="96012" cy="96012"/>
            <a:chOff x="0" y="0"/>
            <a:chExt cx="128016" cy="1280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736473" y="-48006"/>
            <a:ext cx="96012" cy="96012"/>
            <a:chOff x="0" y="0"/>
            <a:chExt cx="128016" cy="1280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30" id="30"/>
          <p:cNvSpPr/>
          <p:nvPr/>
        </p:nvSpPr>
        <p:spPr>
          <a:xfrm rot="49380">
            <a:off x="14265783" y="6548638"/>
            <a:ext cx="14225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5350620">
            <a:off x="14968147" y="7249630"/>
            <a:ext cx="14225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4227378" y="6504708"/>
            <a:ext cx="96012" cy="96012"/>
            <a:chOff x="0" y="0"/>
            <a:chExt cx="128016" cy="1280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630725" y="7908055"/>
            <a:ext cx="96012" cy="96012"/>
            <a:chOff x="0" y="0"/>
            <a:chExt cx="128016" cy="1280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985192" y="6855809"/>
            <a:ext cx="96012" cy="96012"/>
            <a:chOff x="0" y="0"/>
            <a:chExt cx="128016" cy="1280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372719" y="9243327"/>
            <a:ext cx="96012" cy="96012"/>
            <a:chOff x="0" y="0"/>
            <a:chExt cx="128016" cy="1280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417273" y="6045975"/>
            <a:ext cx="96012" cy="96012"/>
            <a:chOff x="0" y="0"/>
            <a:chExt cx="128016" cy="1280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42" id="42"/>
          <p:cNvSpPr/>
          <p:nvPr/>
        </p:nvSpPr>
        <p:spPr>
          <a:xfrm rot="10770780">
            <a:off x="1648997" y="3887191"/>
            <a:ext cx="2401424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3992842" y="3843261"/>
            <a:ext cx="96012" cy="96012"/>
            <a:chOff x="0" y="0"/>
            <a:chExt cx="128016" cy="1280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10563" y="1975104"/>
            <a:ext cx="96012" cy="96012"/>
            <a:chOff x="0" y="0"/>
            <a:chExt cx="128016" cy="1280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0120" y="754380"/>
            <a:ext cx="192024" cy="192024"/>
            <a:chOff x="0" y="0"/>
            <a:chExt cx="256032" cy="2560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1168" y="0"/>
                  </a:lnTo>
                  <a:cubicBezTo>
                    <a:pt x="231521" y="0"/>
                    <a:pt x="256032" y="24511"/>
                    <a:pt x="256032" y="54864"/>
                  </a:cubicBezTo>
                  <a:lnTo>
                    <a:pt x="256032" y="201168"/>
                  </a:lnTo>
                  <a:cubicBezTo>
                    <a:pt x="256032" y="231521"/>
                    <a:pt x="231521" y="256032"/>
                    <a:pt x="201168" y="256032"/>
                  </a:cubicBezTo>
                  <a:lnTo>
                    <a:pt x="54864" y="256032"/>
                  </a:lnTo>
                  <a:cubicBezTo>
                    <a:pt x="24511" y="256032"/>
                    <a:pt x="0" y="231521"/>
                    <a:pt x="0" y="201168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16736" y="672084"/>
            <a:ext cx="6858000" cy="384048"/>
            <a:chOff x="0" y="0"/>
            <a:chExt cx="9144000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1440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2A73D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BOOT SEQUENCE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77253" y="999782"/>
            <a:ext cx="4261599" cy="1231925"/>
            <a:chOff x="0" y="0"/>
            <a:chExt cx="5682132" cy="164256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682137" cy="1642567"/>
            </a:xfrm>
            <a:custGeom>
              <a:avLst/>
              <a:gdLst/>
              <a:ahLst/>
              <a:cxnLst/>
              <a:rect r="r" b="b" t="t" l="l"/>
              <a:pathLst>
                <a:path h="1642567" w="5682137">
                  <a:moveTo>
                    <a:pt x="0" y="0"/>
                  </a:moveTo>
                  <a:lnTo>
                    <a:pt x="5682137" y="0"/>
                  </a:lnTo>
                  <a:lnTo>
                    <a:pt x="5682137" y="1642567"/>
                  </a:lnTo>
                  <a:lnTo>
                    <a:pt x="0" y="16425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" r="24973" b="-67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682132" cy="165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>
                  <a:solidFill>
                    <a:srgbClr val="F2FF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AGENDA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77252" y="2660333"/>
            <a:ext cx="10315575" cy="1400175"/>
            <a:chOff x="0" y="0"/>
            <a:chExt cx="13754100" cy="18669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7541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1375410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13604748" y="0"/>
                  </a:lnTo>
                  <a:cubicBezTo>
                    <a:pt x="13687171" y="0"/>
                    <a:pt x="13754100" y="66929"/>
                    <a:pt x="13754100" y="149352"/>
                  </a:cubicBezTo>
                  <a:lnTo>
                    <a:pt x="13754100" y="1717548"/>
                  </a:lnTo>
                  <a:cubicBezTo>
                    <a:pt x="13754100" y="1799971"/>
                    <a:pt x="13687171" y="1866900"/>
                    <a:pt x="13604748" y="1866900"/>
                  </a:cubicBezTo>
                  <a:lnTo>
                    <a:pt x="149352" y="1866900"/>
                  </a:lnTo>
                  <a:cubicBezTo>
                    <a:pt x="66929" y="1866900"/>
                    <a:pt x="0" y="1799971"/>
                    <a:pt x="0" y="1717548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93292" y="2921508"/>
            <a:ext cx="877824" cy="877824"/>
            <a:chOff x="0" y="0"/>
            <a:chExt cx="1170432" cy="11704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93292" y="2921508"/>
            <a:ext cx="877824" cy="877824"/>
            <a:chOff x="0" y="0"/>
            <a:chExt cx="1170432" cy="11704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142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01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400300" y="2839212"/>
            <a:ext cx="8503920" cy="548640"/>
            <a:chOff x="0" y="0"/>
            <a:chExt cx="1133856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FF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Router Basics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400300" y="3415284"/>
            <a:ext cx="8503920" cy="548640"/>
            <a:chOff x="0" y="0"/>
            <a:chExt cx="1133856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6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router ? ,router hardware ,router modes &amp; basic configuration.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77252" y="4278820"/>
            <a:ext cx="10315575" cy="1400175"/>
            <a:chOff x="0" y="0"/>
            <a:chExt cx="13754100" cy="18669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7541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1375410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13604748" y="0"/>
                  </a:lnTo>
                  <a:cubicBezTo>
                    <a:pt x="13687171" y="0"/>
                    <a:pt x="13754100" y="66929"/>
                    <a:pt x="13754100" y="149352"/>
                  </a:cubicBezTo>
                  <a:lnTo>
                    <a:pt x="13754100" y="1717548"/>
                  </a:lnTo>
                  <a:cubicBezTo>
                    <a:pt x="13754100" y="1799971"/>
                    <a:pt x="13687171" y="1866900"/>
                    <a:pt x="13604748" y="1866900"/>
                  </a:cubicBezTo>
                  <a:lnTo>
                    <a:pt x="149352" y="1866900"/>
                  </a:lnTo>
                  <a:cubicBezTo>
                    <a:pt x="66929" y="1866900"/>
                    <a:pt x="0" y="1799971"/>
                    <a:pt x="0" y="1717548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152144" y="4430268"/>
            <a:ext cx="877824" cy="877824"/>
            <a:chOff x="0" y="0"/>
            <a:chExt cx="1170432" cy="117043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504399" y="3737635"/>
            <a:ext cx="2308340" cy="2308340"/>
            <a:chOff x="0" y="0"/>
            <a:chExt cx="1170432" cy="117043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142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02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400300" y="4457700"/>
            <a:ext cx="8503920" cy="548640"/>
            <a:chOff x="0" y="0"/>
            <a:chExt cx="1133856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FF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Routing 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400300" y="5033772"/>
            <a:ext cx="8503920" cy="548640"/>
            <a:chOff x="0" y="0"/>
            <a:chExt cx="1133856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6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Routing types,static route &amp; default route.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77252" y="5897308"/>
            <a:ext cx="10315575" cy="1400175"/>
            <a:chOff x="0" y="0"/>
            <a:chExt cx="13754100" cy="18669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7541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1375410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13604748" y="0"/>
                  </a:lnTo>
                  <a:cubicBezTo>
                    <a:pt x="13687171" y="0"/>
                    <a:pt x="13754100" y="66929"/>
                    <a:pt x="13754100" y="149352"/>
                  </a:cubicBezTo>
                  <a:lnTo>
                    <a:pt x="13754100" y="1717548"/>
                  </a:lnTo>
                  <a:cubicBezTo>
                    <a:pt x="13754100" y="1799971"/>
                    <a:pt x="13687171" y="1866900"/>
                    <a:pt x="13604748" y="1866900"/>
                  </a:cubicBezTo>
                  <a:lnTo>
                    <a:pt x="149352" y="1866900"/>
                  </a:lnTo>
                  <a:cubicBezTo>
                    <a:pt x="66929" y="1866900"/>
                    <a:pt x="0" y="1799971"/>
                    <a:pt x="0" y="1717548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193292" y="6158484"/>
            <a:ext cx="877824" cy="877824"/>
            <a:chOff x="0" y="0"/>
            <a:chExt cx="1170432" cy="117043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93292" y="6158484"/>
            <a:ext cx="877824" cy="877824"/>
            <a:chOff x="0" y="0"/>
            <a:chExt cx="1170432" cy="117043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142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03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2400300" y="6076188"/>
            <a:ext cx="8503920" cy="548640"/>
            <a:chOff x="0" y="0"/>
            <a:chExt cx="1133856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FF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Dynamic route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400300" y="6652260"/>
            <a:ext cx="8503920" cy="548640"/>
            <a:chOff x="0" y="0"/>
            <a:chExt cx="11338560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6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admin. distance ,Types dynamic route,RIP,EIGRP,OSPF.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77252" y="7515796"/>
            <a:ext cx="10315575" cy="1400175"/>
            <a:chOff x="0" y="0"/>
            <a:chExt cx="13754100" cy="18669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37541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1375410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13604748" y="0"/>
                  </a:lnTo>
                  <a:cubicBezTo>
                    <a:pt x="13687171" y="0"/>
                    <a:pt x="13754100" y="66929"/>
                    <a:pt x="13754100" y="149352"/>
                  </a:cubicBezTo>
                  <a:lnTo>
                    <a:pt x="13754100" y="1717548"/>
                  </a:lnTo>
                  <a:cubicBezTo>
                    <a:pt x="13754100" y="1799971"/>
                    <a:pt x="13687171" y="1866900"/>
                    <a:pt x="13604748" y="1866900"/>
                  </a:cubicBezTo>
                  <a:lnTo>
                    <a:pt x="149352" y="1866900"/>
                  </a:lnTo>
                  <a:cubicBezTo>
                    <a:pt x="66929" y="1866900"/>
                    <a:pt x="0" y="1799971"/>
                    <a:pt x="0" y="1717548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193292" y="7776972"/>
            <a:ext cx="877824" cy="877824"/>
            <a:chOff x="0" y="0"/>
            <a:chExt cx="1170432" cy="117043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193292" y="7776972"/>
            <a:ext cx="877824" cy="877824"/>
            <a:chOff x="0" y="0"/>
            <a:chExt cx="1170432" cy="117043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142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04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400300" y="7763048"/>
            <a:ext cx="8503920" cy="480268"/>
            <a:chOff x="0" y="0"/>
            <a:chExt cx="11338560" cy="64035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338560" cy="640358"/>
            </a:xfrm>
            <a:custGeom>
              <a:avLst/>
              <a:gdLst/>
              <a:ahLst/>
              <a:cxnLst/>
              <a:rect r="r" b="b" t="t" l="l"/>
              <a:pathLst>
                <a:path h="64035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895" r="0" b="-30213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1338560" cy="67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2FF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 control list (ACL)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400300" y="8270748"/>
            <a:ext cx="8503920" cy="548640"/>
            <a:chOff x="0" y="0"/>
            <a:chExt cx="1133856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6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ACL types ,ACL configuration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026439" y="2660332"/>
            <a:ext cx="5796001" cy="3642551"/>
            <a:chOff x="0" y="0"/>
            <a:chExt cx="7206666" cy="452909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206666" cy="4529096"/>
            </a:xfrm>
            <a:custGeom>
              <a:avLst/>
              <a:gdLst/>
              <a:ahLst/>
              <a:cxnLst/>
              <a:rect r="r" b="b" t="t" l="l"/>
              <a:pathLst>
                <a:path h="4529096" w="7206666">
                  <a:moveTo>
                    <a:pt x="0" y="98751"/>
                  </a:moveTo>
                  <a:cubicBezTo>
                    <a:pt x="0" y="44229"/>
                    <a:pt x="69439" y="0"/>
                    <a:pt x="155035" y="0"/>
                  </a:cubicBezTo>
                  <a:lnTo>
                    <a:pt x="7051631" y="0"/>
                  </a:lnTo>
                  <a:cubicBezTo>
                    <a:pt x="7137226" y="0"/>
                    <a:pt x="7206666" y="44229"/>
                    <a:pt x="7206666" y="98751"/>
                  </a:cubicBezTo>
                  <a:lnTo>
                    <a:pt x="7206666" y="4430345"/>
                  </a:lnTo>
                  <a:cubicBezTo>
                    <a:pt x="7206666" y="4484866"/>
                    <a:pt x="7137226" y="4529096"/>
                    <a:pt x="7051631" y="4529096"/>
                  </a:cubicBezTo>
                  <a:lnTo>
                    <a:pt x="155035" y="4529096"/>
                  </a:lnTo>
                  <a:cubicBezTo>
                    <a:pt x="69439" y="4529096"/>
                    <a:pt x="0" y="4484867"/>
                    <a:pt x="0" y="4430345"/>
                  </a:cubicBezTo>
                  <a:close/>
                </a:path>
              </a:pathLst>
            </a:custGeom>
            <a:blipFill>
              <a:blip r:embed="rId6"/>
              <a:stretch>
                <a:fillRect l="-1831" t="0" r="-1831" b="0"/>
              </a:stretch>
            </a:blip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sp>
        <p:nvSpPr>
          <p:cNvPr name="AutoShape 109" id="109"/>
          <p:cNvSpPr/>
          <p:nvPr/>
        </p:nvSpPr>
        <p:spPr>
          <a:xfrm rot="2880">
            <a:off x="678656" y="9706166"/>
            <a:ext cx="169302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0" id="110"/>
          <p:cNvGrpSpPr/>
          <p:nvPr/>
        </p:nvGrpSpPr>
        <p:grpSpPr>
          <a:xfrm rot="0">
            <a:off x="14721383" y="9765792"/>
            <a:ext cx="2880360" cy="411480"/>
            <a:chOff x="0" y="0"/>
            <a:chExt cx="3840480" cy="5486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840480" cy="548640"/>
            </a:xfrm>
            <a:custGeom>
              <a:avLst/>
              <a:gdLst/>
              <a:ahLst/>
              <a:cxnLst/>
              <a:rect r="r" b="b" t="t" l="l"/>
              <a:pathLst>
                <a:path h="5486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38404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F2A73D"/>
                  </a:solidFill>
                  <a:latin typeface="Consolas"/>
                  <a:ea typeface="Consolas"/>
                  <a:cs typeface="Consolas"/>
                  <a:sym typeface="Consolas"/>
                </a:rPr>
                <a:t>AGENDA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6184880" y="6350508"/>
            <a:ext cx="1470822" cy="1700784"/>
            <a:chOff x="0" y="0"/>
            <a:chExt cx="1961096" cy="226771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961134" cy="2267712"/>
            </a:xfrm>
            <a:custGeom>
              <a:avLst/>
              <a:gdLst/>
              <a:ahLst/>
              <a:cxnLst/>
              <a:rect r="r" b="b" t="t" l="l"/>
              <a:pathLst>
                <a:path h="2267712" w="1961134">
                  <a:moveTo>
                    <a:pt x="0" y="0"/>
                  </a:moveTo>
                  <a:lnTo>
                    <a:pt x="1961134" y="0"/>
                  </a:lnTo>
                  <a:lnTo>
                    <a:pt x="1961134" y="2267712"/>
                  </a:lnTo>
                  <a:lnTo>
                    <a:pt x="0" y="2267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4875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3" id="3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5" id="5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36473" y="-48006"/>
            <a:ext cx="96012" cy="96012"/>
            <a:chOff x="0" y="0"/>
            <a:chExt cx="128016" cy="128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630725" y="7908055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372719" y="9243327"/>
            <a:ext cx="96012" cy="96012"/>
            <a:chOff x="0" y="0"/>
            <a:chExt cx="128016" cy="12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10563" y="1975104"/>
            <a:ext cx="96012" cy="96012"/>
            <a:chOff x="0" y="0"/>
            <a:chExt cx="128016" cy="128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754380"/>
            <a:ext cx="192024" cy="192024"/>
            <a:chOff x="0" y="0"/>
            <a:chExt cx="256032" cy="256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1168" y="0"/>
                  </a:lnTo>
                  <a:cubicBezTo>
                    <a:pt x="231521" y="0"/>
                    <a:pt x="256032" y="24511"/>
                    <a:pt x="256032" y="54864"/>
                  </a:cubicBezTo>
                  <a:lnTo>
                    <a:pt x="256032" y="201168"/>
                  </a:lnTo>
                  <a:cubicBezTo>
                    <a:pt x="256032" y="231521"/>
                    <a:pt x="231521" y="256032"/>
                    <a:pt x="201168" y="256032"/>
                  </a:cubicBezTo>
                  <a:lnTo>
                    <a:pt x="54864" y="256032"/>
                  </a:lnTo>
                  <a:cubicBezTo>
                    <a:pt x="24511" y="256032"/>
                    <a:pt x="0" y="231521"/>
                    <a:pt x="0" y="201168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739983" y="694256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</a:blip>
            <a:stretch>
              <a:fillRect l="-6" t="0" r="-6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16736" y="672084"/>
            <a:ext cx="6858000" cy="384048"/>
            <a:chOff x="0" y="0"/>
            <a:chExt cx="91440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2A73D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BOOT SEQUENCE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7253" y="999782"/>
            <a:ext cx="4261599" cy="1231925"/>
            <a:chOff x="0" y="0"/>
            <a:chExt cx="5682132" cy="16425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82137" cy="1642567"/>
            </a:xfrm>
            <a:custGeom>
              <a:avLst/>
              <a:gdLst/>
              <a:ahLst/>
              <a:cxnLst/>
              <a:rect r="r" b="b" t="t" l="l"/>
              <a:pathLst>
                <a:path h="1642567" w="5682137">
                  <a:moveTo>
                    <a:pt x="0" y="0"/>
                  </a:moveTo>
                  <a:lnTo>
                    <a:pt x="5682137" y="0"/>
                  </a:lnTo>
                  <a:lnTo>
                    <a:pt x="5682137" y="1642567"/>
                  </a:lnTo>
                  <a:lnTo>
                    <a:pt x="0" y="16425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" r="24973" b="-6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682132" cy="165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>
                  <a:solidFill>
                    <a:srgbClr val="F2FF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AGENDA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66446" y="2602773"/>
            <a:ext cx="6042447" cy="4441917"/>
            <a:chOff x="0" y="0"/>
            <a:chExt cx="6395851" cy="47017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95851" cy="4701711"/>
            </a:xfrm>
            <a:custGeom>
              <a:avLst/>
              <a:gdLst/>
              <a:ahLst/>
              <a:cxnLst/>
              <a:rect r="r" b="b" t="t" l="l"/>
              <a:pathLst>
                <a:path h="4701711" w="6395851">
                  <a:moveTo>
                    <a:pt x="0" y="102514"/>
                  </a:moveTo>
                  <a:cubicBezTo>
                    <a:pt x="0" y="45915"/>
                    <a:pt x="61626" y="0"/>
                    <a:pt x="137592" y="0"/>
                  </a:cubicBezTo>
                  <a:lnTo>
                    <a:pt x="6258259" y="0"/>
                  </a:lnTo>
                  <a:cubicBezTo>
                    <a:pt x="6334225" y="0"/>
                    <a:pt x="6395851" y="45915"/>
                    <a:pt x="6395851" y="102514"/>
                  </a:cubicBezTo>
                  <a:lnTo>
                    <a:pt x="6395851" y="4599196"/>
                  </a:lnTo>
                  <a:cubicBezTo>
                    <a:pt x="6395851" y="4655795"/>
                    <a:pt x="6334225" y="4701711"/>
                    <a:pt x="6258259" y="4701711"/>
                  </a:cubicBezTo>
                  <a:lnTo>
                    <a:pt x="137592" y="4701711"/>
                  </a:lnTo>
                  <a:cubicBezTo>
                    <a:pt x="61626" y="4701711"/>
                    <a:pt x="0" y="4655796"/>
                    <a:pt x="0" y="4599196"/>
                  </a:cubicBezTo>
                  <a:close/>
                </a:path>
              </a:pathLst>
            </a:custGeom>
            <a:blipFill>
              <a:blip r:embed="rId6"/>
              <a:stretch>
                <a:fillRect l="-19200" t="0" r="-15571" b="0"/>
              </a:stretch>
            </a:blip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sp>
        <p:nvSpPr>
          <p:cNvPr name="AutoShape 25" id="25"/>
          <p:cNvSpPr/>
          <p:nvPr/>
        </p:nvSpPr>
        <p:spPr>
          <a:xfrm rot="2880">
            <a:off x="678656" y="9706166"/>
            <a:ext cx="169302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5726737" y="6742470"/>
            <a:ext cx="1793153" cy="2073511"/>
            <a:chOff x="0" y="0"/>
            <a:chExt cx="1961096" cy="22677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61134" cy="2267712"/>
            </a:xfrm>
            <a:custGeom>
              <a:avLst/>
              <a:gdLst/>
              <a:ahLst/>
              <a:cxnLst/>
              <a:rect r="r" b="b" t="t" l="l"/>
              <a:pathLst>
                <a:path h="2267712" w="1961134">
                  <a:moveTo>
                    <a:pt x="0" y="0"/>
                  </a:moveTo>
                  <a:lnTo>
                    <a:pt x="1961134" y="0"/>
                  </a:lnTo>
                  <a:lnTo>
                    <a:pt x="1961134" y="2267712"/>
                  </a:lnTo>
                  <a:lnTo>
                    <a:pt x="0" y="2267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4875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77253" y="4481322"/>
            <a:ext cx="9933449" cy="1400175"/>
            <a:chOff x="0" y="0"/>
            <a:chExt cx="13244599" cy="1866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244599" cy="1866900"/>
            </a:xfrm>
            <a:custGeom>
              <a:avLst/>
              <a:gdLst/>
              <a:ahLst/>
              <a:cxnLst/>
              <a:rect r="r" b="b" t="t" l="l"/>
              <a:pathLst>
                <a:path h="1866900" w="13244599">
                  <a:moveTo>
                    <a:pt x="0" y="149352"/>
                  </a:moveTo>
                  <a:cubicBezTo>
                    <a:pt x="0" y="66929"/>
                    <a:pt x="64450" y="0"/>
                    <a:pt x="143819" y="0"/>
                  </a:cubicBezTo>
                  <a:lnTo>
                    <a:pt x="13100779" y="0"/>
                  </a:lnTo>
                  <a:cubicBezTo>
                    <a:pt x="13180149" y="0"/>
                    <a:pt x="13244599" y="66929"/>
                    <a:pt x="13244599" y="149352"/>
                  </a:cubicBezTo>
                  <a:lnTo>
                    <a:pt x="13244599" y="1717548"/>
                  </a:lnTo>
                  <a:cubicBezTo>
                    <a:pt x="13244599" y="1799971"/>
                    <a:pt x="13180149" y="1866900"/>
                    <a:pt x="13100779" y="1866900"/>
                  </a:cubicBezTo>
                  <a:lnTo>
                    <a:pt x="143819" y="1866900"/>
                  </a:lnTo>
                  <a:cubicBezTo>
                    <a:pt x="64450" y="1866900"/>
                    <a:pt x="0" y="1799971"/>
                    <a:pt x="0" y="1717548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67663" y="4704588"/>
            <a:ext cx="877824" cy="877824"/>
            <a:chOff x="0" y="0"/>
            <a:chExt cx="1170432" cy="11704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7663" y="4704588"/>
            <a:ext cx="877824" cy="877824"/>
            <a:chOff x="0" y="0"/>
            <a:chExt cx="1170432" cy="11704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142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06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306781" y="4766607"/>
            <a:ext cx="8503920" cy="753786"/>
            <a:chOff x="0" y="0"/>
            <a:chExt cx="11338560" cy="10050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338560" cy="1005048"/>
            </a:xfrm>
            <a:custGeom>
              <a:avLst/>
              <a:gdLst/>
              <a:ahLst/>
              <a:cxnLst/>
              <a:rect r="r" b="b" t="t" l="l"/>
              <a:pathLst>
                <a:path h="100504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005048"/>
                  </a:lnTo>
                  <a:lnTo>
                    <a:pt x="0" y="10050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430" r="0" b="-15621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1338560" cy="1071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0"/>
                </a:lnSpc>
              </a:pPr>
              <a:r>
                <a:rPr lang="en-US" sz="3100" b="true">
                  <a:solidFill>
                    <a:srgbClr val="F2FF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Etherchannel &amp; DHCP snooping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77253" y="2656427"/>
            <a:ext cx="9933449" cy="1400175"/>
            <a:chOff x="0" y="0"/>
            <a:chExt cx="13244599" cy="18669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244599" cy="1866900"/>
            </a:xfrm>
            <a:custGeom>
              <a:avLst/>
              <a:gdLst/>
              <a:ahLst/>
              <a:cxnLst/>
              <a:rect r="r" b="b" t="t" l="l"/>
              <a:pathLst>
                <a:path h="1866900" w="13244599">
                  <a:moveTo>
                    <a:pt x="0" y="149352"/>
                  </a:moveTo>
                  <a:cubicBezTo>
                    <a:pt x="0" y="66929"/>
                    <a:pt x="64450" y="0"/>
                    <a:pt x="143819" y="0"/>
                  </a:cubicBezTo>
                  <a:lnTo>
                    <a:pt x="13100779" y="0"/>
                  </a:lnTo>
                  <a:cubicBezTo>
                    <a:pt x="13180149" y="0"/>
                    <a:pt x="13244599" y="66929"/>
                    <a:pt x="13244599" y="149352"/>
                  </a:cubicBezTo>
                  <a:lnTo>
                    <a:pt x="13244599" y="1717548"/>
                  </a:lnTo>
                  <a:cubicBezTo>
                    <a:pt x="13244599" y="1799971"/>
                    <a:pt x="13180149" y="1866900"/>
                    <a:pt x="13100779" y="1866900"/>
                  </a:cubicBezTo>
                  <a:lnTo>
                    <a:pt x="143819" y="1866900"/>
                  </a:lnTo>
                  <a:cubicBezTo>
                    <a:pt x="64450" y="1866900"/>
                    <a:pt x="0" y="1799971"/>
                    <a:pt x="0" y="1717548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19657" y="2904458"/>
            <a:ext cx="877824" cy="877824"/>
            <a:chOff x="0" y="0"/>
            <a:chExt cx="1170432" cy="117043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19657" y="2917603"/>
            <a:ext cx="877824" cy="877824"/>
            <a:chOff x="0" y="0"/>
            <a:chExt cx="1170432" cy="11704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142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306781" y="2907792"/>
            <a:ext cx="8503920" cy="619553"/>
            <a:chOff x="0" y="0"/>
            <a:chExt cx="11338560" cy="8260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338560" cy="826071"/>
            </a:xfrm>
            <a:custGeom>
              <a:avLst/>
              <a:gdLst/>
              <a:ahLst/>
              <a:cxnLst/>
              <a:rect r="r" b="b" t="t" l="l"/>
              <a:pathLst>
                <a:path h="826071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826071"/>
                  </a:lnTo>
                  <a:lnTo>
                    <a:pt x="0" y="8260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3172" r="0" b="-21172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11338560" cy="892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0"/>
                </a:lnSpc>
              </a:pPr>
              <a:r>
                <a:rPr lang="en-US" sz="3100" b="true">
                  <a:solidFill>
                    <a:srgbClr val="F2FF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Spanning Tree Protocol (STP)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306781" y="3420237"/>
            <a:ext cx="8503920" cy="548640"/>
            <a:chOff x="0" y="0"/>
            <a:chExt cx="113385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1338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649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STP, port fast , &amp; port security.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180" y="-551156"/>
            <a:ext cx="4937760" cy="3291840"/>
            <a:chOff x="0" y="0"/>
            <a:chExt cx="6583680" cy="4389120"/>
          </a:xfrm>
        </p:grpSpPr>
        <p:sp>
          <p:nvSpPr>
            <p:cNvPr name="Freeform 3" id="3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5" id="5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36473" y="-48006"/>
            <a:ext cx="96012" cy="96012"/>
            <a:chOff x="0" y="0"/>
            <a:chExt cx="128016" cy="128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630725" y="7908055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372719" y="9243327"/>
            <a:ext cx="96012" cy="96012"/>
            <a:chOff x="0" y="0"/>
            <a:chExt cx="128016" cy="12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10563" y="1975104"/>
            <a:ext cx="96012" cy="96012"/>
            <a:chOff x="0" y="0"/>
            <a:chExt cx="128016" cy="128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739983" y="694256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</a:blip>
            <a:stretch>
              <a:fillRect l="-6" t="0" r="-6" b="0"/>
            </a:stretch>
          </a:blipFill>
        </p:spPr>
      </p:sp>
      <p:sp>
        <p:nvSpPr>
          <p:cNvPr name="AutoShape 15" id="15"/>
          <p:cNvSpPr/>
          <p:nvPr/>
        </p:nvSpPr>
        <p:spPr>
          <a:xfrm rot="2880">
            <a:off x="678656" y="9706166"/>
            <a:ext cx="169302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5657" y="2423231"/>
            <a:ext cx="634906" cy="634906"/>
            <a:chOff x="0" y="0"/>
            <a:chExt cx="1170432" cy="11704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75657" y="4460969"/>
            <a:ext cx="634906" cy="634906"/>
            <a:chOff x="0" y="0"/>
            <a:chExt cx="1170432" cy="11704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58901" y="2418918"/>
            <a:ext cx="8503920" cy="643532"/>
            <a:chOff x="0" y="0"/>
            <a:chExt cx="11338560" cy="8580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38560" cy="858042"/>
            </a:xfrm>
            <a:custGeom>
              <a:avLst/>
              <a:gdLst/>
              <a:ahLst/>
              <a:cxnLst/>
              <a:rect r="r" b="b" t="t" l="l"/>
              <a:pathLst>
                <a:path h="85804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858042"/>
                  </a:lnTo>
                  <a:lnTo>
                    <a:pt x="0" y="85804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4856" r="0" b="-20011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1338560" cy="934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F2FF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router?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021010" y="2991462"/>
            <a:ext cx="15328226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312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router is a network device that forwards data packets between different computer networks, </a:t>
            </a:r>
          </a:p>
          <a:p>
            <a:pPr algn="l">
              <a:lnSpc>
                <a:spcPts val="3751"/>
              </a:lnSpc>
              <a:spcBef>
                <a:spcPct val="0"/>
              </a:spcBef>
            </a:pPr>
            <a:r>
              <a:rPr lang="en-US" sz="312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directing Internet traffic to ensure data reaches its correct destination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73629" y="2292247"/>
            <a:ext cx="877824" cy="877824"/>
            <a:chOff x="0" y="0"/>
            <a:chExt cx="1170432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142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3629" y="4339510"/>
            <a:ext cx="877824" cy="877824"/>
            <a:chOff x="0" y="0"/>
            <a:chExt cx="1170432" cy="1170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00142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58901" y="4461158"/>
            <a:ext cx="8503920" cy="643532"/>
            <a:chOff x="0" y="0"/>
            <a:chExt cx="11338560" cy="85804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38560" cy="858042"/>
            </a:xfrm>
            <a:custGeom>
              <a:avLst/>
              <a:gdLst/>
              <a:ahLst/>
              <a:cxnLst/>
              <a:rect r="r" b="b" t="t" l="l"/>
              <a:pathLst>
                <a:path h="85804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858042"/>
                  </a:lnTo>
                  <a:lnTo>
                    <a:pt x="0" y="85804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4856" r="0" b="-20011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11338560" cy="934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b="true" sz="3199">
                  <a:solidFill>
                    <a:srgbClr val="F2FF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Router components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-551156"/>
            <a:ext cx="4261599" cy="3883276"/>
            <a:chOff x="0" y="0"/>
            <a:chExt cx="5682132" cy="517770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82137" cy="5177702"/>
            </a:xfrm>
            <a:custGeom>
              <a:avLst/>
              <a:gdLst/>
              <a:ahLst/>
              <a:cxnLst/>
              <a:rect r="r" b="b" t="t" l="l"/>
              <a:pathLst>
                <a:path h="5177702" w="5682137">
                  <a:moveTo>
                    <a:pt x="0" y="0"/>
                  </a:moveTo>
                  <a:lnTo>
                    <a:pt x="5682137" y="0"/>
                  </a:lnTo>
                  <a:lnTo>
                    <a:pt x="5682137" y="5177702"/>
                  </a:lnTo>
                  <a:lnTo>
                    <a:pt x="0" y="517770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8" r="24973" b="680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5682132" cy="51872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59"/>
                </a:lnSpc>
              </a:pPr>
              <a:r>
                <a:rPr lang="en-US" b="true" sz="5299">
                  <a:solidFill>
                    <a:srgbClr val="F2FF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Router Basics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21010" y="5165714"/>
            <a:ext cx="11772781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4952" indent="-337476" lvl="1">
              <a:lnSpc>
                <a:spcPts val="3751"/>
              </a:lnSpc>
              <a:buFont typeface="Arial"/>
              <a:buChar char="•"/>
            </a:pPr>
            <a:r>
              <a:rPr lang="en-US" sz="3126">
                <a:solidFill>
                  <a:srgbClr val="F2A73D"/>
                </a:solidFill>
                <a:latin typeface="Calibri (MS)"/>
                <a:ea typeface="Calibri (MS)"/>
                <a:cs typeface="Calibri (MS)"/>
                <a:sym typeface="Calibri (MS)"/>
              </a:rPr>
              <a:t>Serial ports:</a:t>
            </a:r>
            <a:r>
              <a:rPr lang="en-US" sz="312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Connect WAN links and routers.</a:t>
            </a:r>
          </a:p>
          <a:p>
            <a:pPr algn="l" marL="674952" indent="-337476" lvl="1">
              <a:lnSpc>
                <a:spcPts val="3751"/>
              </a:lnSpc>
              <a:buFont typeface="Arial"/>
              <a:buChar char="•"/>
            </a:pPr>
            <a:r>
              <a:rPr lang="en-US" sz="3126">
                <a:solidFill>
                  <a:srgbClr val="F2A73D"/>
                </a:solidFill>
                <a:latin typeface="Calibri (MS)"/>
                <a:ea typeface="Calibri (MS)"/>
                <a:cs typeface="Calibri (MS)"/>
                <a:sym typeface="Calibri (MS)"/>
              </a:rPr>
              <a:t>Console port:</a:t>
            </a:r>
            <a:r>
              <a:rPr lang="en-US" sz="312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Used for initial router configuration.</a:t>
            </a:r>
          </a:p>
          <a:p>
            <a:pPr algn="l" marL="674952" indent="-337476" lvl="1">
              <a:lnSpc>
                <a:spcPts val="3751"/>
              </a:lnSpc>
              <a:buFont typeface="Arial"/>
              <a:buChar char="•"/>
            </a:pPr>
            <a:r>
              <a:rPr lang="en-US" sz="3126">
                <a:solidFill>
                  <a:srgbClr val="F2A73D"/>
                </a:solidFill>
                <a:latin typeface="Calibri (MS)"/>
                <a:ea typeface="Calibri (MS)"/>
                <a:cs typeface="Calibri (MS)"/>
                <a:sym typeface="Calibri (MS)"/>
              </a:rPr>
              <a:t>Auxiliary port:</a:t>
            </a:r>
            <a:r>
              <a:rPr lang="en-US" sz="312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Allows remote dial-in management.</a:t>
            </a:r>
          </a:p>
          <a:p>
            <a:pPr algn="l" marL="674952" indent="-337476" lvl="1">
              <a:lnSpc>
                <a:spcPts val="3751"/>
              </a:lnSpc>
              <a:buFont typeface="Arial"/>
              <a:buChar char="•"/>
            </a:pPr>
            <a:r>
              <a:rPr lang="en-US" sz="3126">
                <a:solidFill>
                  <a:srgbClr val="F2A73D"/>
                </a:solidFill>
                <a:latin typeface="Calibri (MS)"/>
                <a:ea typeface="Calibri (MS)"/>
                <a:cs typeface="Calibri (MS)"/>
                <a:sym typeface="Calibri (MS)"/>
              </a:rPr>
              <a:t>FastEthernet ports:</a:t>
            </a:r>
            <a:r>
              <a:rPr lang="en-US" sz="312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Connect high-speed LAN devices.</a:t>
            </a:r>
          </a:p>
          <a:p>
            <a:pPr algn="l" marL="674952" indent="-337476" lvl="1">
              <a:lnSpc>
                <a:spcPts val="3751"/>
              </a:lnSpc>
              <a:buFont typeface="Arial"/>
              <a:buChar char="•"/>
            </a:pPr>
            <a:r>
              <a:rPr lang="en-US" sz="3126">
                <a:solidFill>
                  <a:srgbClr val="F2A73D"/>
                </a:solidFill>
                <a:latin typeface="Calibri (MS)"/>
                <a:ea typeface="Calibri (MS)"/>
                <a:cs typeface="Calibri (MS)"/>
                <a:sym typeface="Calibri (MS)"/>
              </a:rPr>
              <a:t>Power switch &amp; Power card connection:</a:t>
            </a:r>
            <a:r>
              <a:rPr lang="en-US" sz="312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Supplies and controls power.</a:t>
            </a:r>
          </a:p>
          <a:p>
            <a:pPr algn="l">
              <a:lnSpc>
                <a:spcPts val="375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3" id="3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5" id="5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36473" y="-48006"/>
            <a:ext cx="96012" cy="96012"/>
            <a:chOff x="0" y="0"/>
            <a:chExt cx="128016" cy="128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630725" y="7908055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372719" y="9243327"/>
            <a:ext cx="96012" cy="96012"/>
            <a:chOff x="0" y="0"/>
            <a:chExt cx="128016" cy="12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10563" y="1975104"/>
            <a:ext cx="96012" cy="96012"/>
            <a:chOff x="0" y="0"/>
            <a:chExt cx="128016" cy="128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754380"/>
            <a:ext cx="192024" cy="192024"/>
            <a:chOff x="0" y="0"/>
            <a:chExt cx="256032" cy="256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1168" y="0"/>
                  </a:lnTo>
                  <a:cubicBezTo>
                    <a:pt x="231521" y="0"/>
                    <a:pt x="256032" y="24511"/>
                    <a:pt x="256032" y="54864"/>
                  </a:cubicBezTo>
                  <a:lnTo>
                    <a:pt x="256032" y="201168"/>
                  </a:lnTo>
                  <a:cubicBezTo>
                    <a:pt x="256032" y="231521"/>
                    <a:pt x="231521" y="256032"/>
                    <a:pt x="201168" y="256032"/>
                  </a:cubicBezTo>
                  <a:lnTo>
                    <a:pt x="54864" y="256032"/>
                  </a:lnTo>
                  <a:cubicBezTo>
                    <a:pt x="24511" y="256032"/>
                    <a:pt x="0" y="231521"/>
                    <a:pt x="0" y="201168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739983" y="694256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</a:blip>
            <a:stretch>
              <a:fillRect l="-6" t="0" r="-6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16736" y="672084"/>
            <a:ext cx="6858000" cy="384048"/>
            <a:chOff x="0" y="0"/>
            <a:chExt cx="91440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2A73D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BOOT SEQUENCE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8659" y="-384048"/>
            <a:ext cx="4261599" cy="3738358"/>
            <a:chOff x="0" y="0"/>
            <a:chExt cx="5682132" cy="49844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82137" cy="4984477"/>
            </a:xfrm>
            <a:custGeom>
              <a:avLst/>
              <a:gdLst/>
              <a:ahLst/>
              <a:cxnLst/>
              <a:rect r="r" b="b" t="t" l="l"/>
              <a:pathLst>
                <a:path h="4984477" w="5682137">
                  <a:moveTo>
                    <a:pt x="0" y="0"/>
                  </a:moveTo>
                  <a:lnTo>
                    <a:pt x="5682137" y="0"/>
                  </a:lnTo>
                  <a:lnTo>
                    <a:pt x="5682137" y="4984477"/>
                  </a:lnTo>
                  <a:lnTo>
                    <a:pt x="0" y="49844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" r="24973" b="6682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682132" cy="4994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>
                  <a:solidFill>
                    <a:srgbClr val="F2FF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Router Basics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2880">
            <a:off x="678656" y="9706166"/>
            <a:ext cx="169302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5726737" y="6742470"/>
            <a:ext cx="1793153" cy="2073511"/>
            <a:chOff x="0" y="0"/>
            <a:chExt cx="1961096" cy="22677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61134" cy="2267712"/>
            </a:xfrm>
            <a:custGeom>
              <a:avLst/>
              <a:gdLst/>
              <a:ahLst/>
              <a:cxnLst/>
              <a:rect r="r" b="b" t="t" l="l"/>
              <a:pathLst>
                <a:path h="2267712" w="1961134">
                  <a:moveTo>
                    <a:pt x="0" y="0"/>
                  </a:moveTo>
                  <a:lnTo>
                    <a:pt x="1961134" y="0"/>
                  </a:lnTo>
                  <a:lnTo>
                    <a:pt x="1961134" y="2267712"/>
                  </a:lnTo>
                  <a:lnTo>
                    <a:pt x="0" y="2267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4875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06210" y="2590339"/>
            <a:ext cx="634906" cy="634906"/>
            <a:chOff x="0" y="0"/>
            <a:chExt cx="1170432" cy="117043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58569" y="2590339"/>
            <a:ext cx="8503920" cy="581117"/>
            <a:chOff x="0" y="0"/>
            <a:chExt cx="11338560" cy="7748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38560" cy="774823"/>
            </a:xfrm>
            <a:custGeom>
              <a:avLst/>
              <a:gdLst/>
              <a:ahLst/>
              <a:cxnLst/>
              <a:rect r="r" b="b" t="t" l="l"/>
              <a:pathLst>
                <a:path h="774823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74823"/>
                  </a:lnTo>
                  <a:lnTo>
                    <a:pt x="0" y="7748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7933" r="0" b="-23234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1338560" cy="831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b="true" sz="2899">
                  <a:solidFill>
                    <a:srgbClr val="F2FF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Router Hardware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17220" y="2476486"/>
            <a:ext cx="877824" cy="877824"/>
            <a:chOff x="0" y="0"/>
            <a:chExt cx="1170432" cy="11704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142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03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495044" y="3193180"/>
            <a:ext cx="14091642" cy="530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256" indent="-340628" lvl="1">
              <a:lnSpc>
                <a:spcPts val="3786"/>
              </a:lnSpc>
              <a:buFont typeface="Arial"/>
              <a:buChar char="•"/>
            </a:pPr>
            <a:r>
              <a:rPr lang="en-US" sz="3155">
                <a:solidFill>
                  <a:srgbClr val="F2A73D"/>
                </a:solidFill>
                <a:latin typeface="Calibri (MS)"/>
                <a:ea typeface="Calibri (MS)"/>
                <a:cs typeface="Calibri (MS)"/>
                <a:sym typeface="Calibri (MS)"/>
              </a:rPr>
              <a:t>ROM:</a:t>
            </a:r>
            <a:r>
              <a:rPr lang="en-US" sz="31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Read-only memory that contains the bootstrap program, power-on self-test</a:t>
            </a:r>
          </a:p>
          <a:p>
            <a:pPr algn="l">
              <a:lnSpc>
                <a:spcPts val="3786"/>
              </a:lnSpc>
            </a:pPr>
            <a:r>
              <a:rPr lang="en-US" sz="31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(POST) diagnostics, and a mini-IOS for recovery.</a:t>
            </a:r>
          </a:p>
          <a:p>
            <a:pPr algn="l" marL="681256" indent="-340628" lvl="1">
              <a:lnSpc>
                <a:spcPts val="3786"/>
              </a:lnSpc>
              <a:buFont typeface="Arial"/>
              <a:buChar char="•"/>
            </a:pPr>
            <a:r>
              <a:rPr lang="en-US" sz="3155">
                <a:solidFill>
                  <a:srgbClr val="F2A73D"/>
                </a:solidFill>
                <a:latin typeface="Calibri (MS)"/>
                <a:ea typeface="Calibri (MS)"/>
                <a:cs typeface="Calibri (MS)"/>
                <a:sym typeface="Calibri (MS)"/>
              </a:rPr>
              <a:t>Flash Memory:</a:t>
            </a:r>
            <a:r>
              <a:rPr lang="en-US" sz="31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Non-volatile memory used to store the router's operating system </a:t>
            </a:r>
          </a:p>
          <a:p>
            <a:pPr algn="l">
              <a:lnSpc>
                <a:spcPts val="3786"/>
              </a:lnSpc>
            </a:pPr>
            <a:r>
              <a:rPr lang="en-US" sz="31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(Cisco IOS) image file and system files.</a:t>
            </a:r>
          </a:p>
          <a:p>
            <a:pPr algn="l" marL="681256" indent="-340628" lvl="1">
              <a:lnSpc>
                <a:spcPts val="3786"/>
              </a:lnSpc>
              <a:buFont typeface="Arial"/>
              <a:buChar char="•"/>
            </a:pPr>
            <a:r>
              <a:rPr lang="en-US" sz="3155">
                <a:solidFill>
                  <a:srgbClr val="F2A73D"/>
                </a:solidFill>
                <a:latin typeface="Calibri (MS)"/>
                <a:ea typeface="Calibri (MS)"/>
                <a:cs typeface="Calibri (MS)"/>
                <a:sym typeface="Calibri (MS)"/>
              </a:rPr>
              <a:t>RAM:</a:t>
            </a:r>
            <a:r>
              <a:rPr lang="en-US" sz="31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Volatile memory that stores the running configuration file (running-config),</a:t>
            </a:r>
          </a:p>
          <a:p>
            <a:pPr algn="l">
              <a:lnSpc>
                <a:spcPts val="3786"/>
              </a:lnSpc>
            </a:pPr>
            <a:r>
              <a:rPr lang="en-US" sz="31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routing tables, and ARP cache while powered on.</a:t>
            </a:r>
          </a:p>
          <a:p>
            <a:pPr algn="l" marL="681256" indent="-340628" lvl="1">
              <a:lnSpc>
                <a:spcPts val="3786"/>
              </a:lnSpc>
              <a:buFont typeface="Arial"/>
              <a:buChar char="•"/>
            </a:pPr>
            <a:r>
              <a:rPr lang="en-US" sz="3155">
                <a:solidFill>
                  <a:srgbClr val="F2A73D"/>
                </a:solidFill>
                <a:latin typeface="Calibri (MS)"/>
                <a:ea typeface="Calibri (MS)"/>
                <a:cs typeface="Calibri (MS)"/>
                <a:sym typeface="Calibri (MS)"/>
              </a:rPr>
              <a:t>NVRAM:</a:t>
            </a:r>
            <a:r>
              <a:rPr lang="en-US" sz="31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Non-volatile memory that stores the permanent startup configuration file</a:t>
            </a:r>
          </a:p>
          <a:p>
            <a:pPr algn="l">
              <a:lnSpc>
                <a:spcPts val="3786"/>
              </a:lnSpc>
            </a:pPr>
            <a:r>
              <a:rPr lang="en-US" sz="315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(startup-config) and configuration register.</a:t>
            </a:r>
          </a:p>
          <a:p>
            <a:pPr algn="l">
              <a:lnSpc>
                <a:spcPts val="3786"/>
              </a:lnSpc>
            </a:pPr>
          </a:p>
          <a:p>
            <a:pPr algn="l">
              <a:lnSpc>
                <a:spcPts val="3786"/>
              </a:lnSpc>
            </a:pPr>
          </a:p>
          <a:p>
            <a:pPr algn="l">
              <a:lnSpc>
                <a:spcPts val="378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3" id="3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42240">
            <a:off x="12625969" y="4782188"/>
            <a:ext cx="166223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4230617" y="4738259"/>
            <a:ext cx="96012" cy="96012"/>
            <a:chOff x="0" y="0"/>
            <a:chExt cx="128016" cy="1280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356082" y="4532338"/>
            <a:ext cx="96012" cy="96012"/>
            <a:chOff x="0" y="0"/>
            <a:chExt cx="128016" cy="1280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497220" y="2860777"/>
            <a:ext cx="96012" cy="96012"/>
            <a:chOff x="0" y="0"/>
            <a:chExt cx="128016" cy="128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11" id="11"/>
          <p:cNvSpPr/>
          <p:nvPr/>
        </p:nvSpPr>
        <p:spPr>
          <a:xfrm rot="10755900">
            <a:off x="3019730" y="8001076"/>
            <a:ext cx="159216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2981315" y="7957147"/>
            <a:ext cx="96012" cy="96012"/>
            <a:chOff x="0" y="0"/>
            <a:chExt cx="128016" cy="128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15" id="15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129028" y="10238994"/>
            <a:ext cx="96012" cy="96012"/>
            <a:chOff x="0" y="0"/>
            <a:chExt cx="128016" cy="1280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" y="754380"/>
            <a:ext cx="192024" cy="192024"/>
            <a:chOff x="0" y="0"/>
            <a:chExt cx="256032" cy="2560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1168" y="0"/>
                  </a:lnTo>
                  <a:cubicBezTo>
                    <a:pt x="231521" y="0"/>
                    <a:pt x="256032" y="24511"/>
                    <a:pt x="256032" y="54864"/>
                  </a:cubicBezTo>
                  <a:lnTo>
                    <a:pt x="256032" y="201168"/>
                  </a:lnTo>
                  <a:cubicBezTo>
                    <a:pt x="256032" y="231521"/>
                    <a:pt x="231521" y="256032"/>
                    <a:pt x="201168" y="256032"/>
                  </a:cubicBezTo>
                  <a:lnTo>
                    <a:pt x="54864" y="256032"/>
                  </a:lnTo>
                  <a:cubicBezTo>
                    <a:pt x="24511" y="256032"/>
                    <a:pt x="0" y="231521"/>
                    <a:pt x="0" y="201168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739983" y="694256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</a:blip>
            <a:stretch>
              <a:fillRect l="-6" t="0" r="-6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316736" y="672084"/>
            <a:ext cx="6858000" cy="384048"/>
            <a:chOff x="0" y="0"/>
            <a:chExt cx="914400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1440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2A73D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MODULE 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-279237"/>
            <a:ext cx="10972800" cy="3516213"/>
            <a:chOff x="0" y="0"/>
            <a:chExt cx="14630400" cy="46882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0" cy="4688284"/>
            </a:xfrm>
            <a:custGeom>
              <a:avLst/>
              <a:gdLst/>
              <a:ahLst/>
              <a:cxnLst/>
              <a:rect r="r" b="b" t="t" l="l"/>
              <a:pathLst>
                <a:path h="468828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688284"/>
                  </a:lnTo>
                  <a:lnTo>
                    <a:pt x="0" y="46882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252" r="0" b="216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4630400" cy="46978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2FF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Router Basic configuration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661910" y="4575810"/>
            <a:ext cx="2918460" cy="1409700"/>
            <a:chOff x="0" y="0"/>
            <a:chExt cx="3891280" cy="187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91280" cy="1879600"/>
            </a:xfrm>
            <a:custGeom>
              <a:avLst/>
              <a:gdLst/>
              <a:ahLst/>
              <a:cxnLst/>
              <a:rect r="r" b="b" t="t" l="l"/>
              <a:pathLst>
                <a:path h="1879600" w="38912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3703320" y="0"/>
                  </a:lnTo>
                  <a:cubicBezTo>
                    <a:pt x="3807079" y="0"/>
                    <a:pt x="3891280" y="84201"/>
                    <a:pt x="3891280" y="187960"/>
                  </a:cubicBezTo>
                  <a:lnTo>
                    <a:pt x="3891280" y="1691640"/>
                  </a:lnTo>
                  <a:cubicBezTo>
                    <a:pt x="3891280" y="1795399"/>
                    <a:pt x="3807079" y="1879600"/>
                    <a:pt x="3703320" y="1879600"/>
                  </a:cubicBezTo>
                  <a:lnTo>
                    <a:pt x="187960" y="1879600"/>
                  </a:lnTo>
                  <a:cubicBezTo>
                    <a:pt x="84201" y="1879600"/>
                    <a:pt x="0" y="1795399"/>
                    <a:pt x="0" y="1691640"/>
                  </a:cubicBezTo>
                  <a:close/>
                </a:path>
              </a:pathLst>
            </a:custGeom>
            <a:solidFill>
              <a:srgbClr val="F2A73D"/>
            </a:solidFill>
            <a:ln w="38100" cap="sq">
              <a:solidFill>
                <a:srgbClr val="F2FFF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502652" y="4990338"/>
            <a:ext cx="178308" cy="123444"/>
            <a:chOff x="0" y="0"/>
            <a:chExt cx="237744" cy="164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FFF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502652" y="5447538"/>
            <a:ext cx="178308" cy="123444"/>
            <a:chOff x="0" y="0"/>
            <a:chExt cx="237744" cy="164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FFF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561320" y="4990338"/>
            <a:ext cx="178308" cy="123444"/>
            <a:chOff x="0" y="0"/>
            <a:chExt cx="237744" cy="1645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FFF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561320" y="5447538"/>
            <a:ext cx="178308" cy="123444"/>
            <a:chOff x="0" y="0"/>
            <a:chExt cx="237744" cy="164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FFF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579358" y="4416552"/>
            <a:ext cx="123444" cy="178308"/>
            <a:chOff x="0" y="0"/>
            <a:chExt cx="164592" cy="2377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FFF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539478" y="4416552"/>
            <a:ext cx="123444" cy="178308"/>
            <a:chOff x="0" y="0"/>
            <a:chExt cx="164592" cy="2377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FFF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579358" y="5966460"/>
            <a:ext cx="123444" cy="178308"/>
            <a:chOff x="0" y="0"/>
            <a:chExt cx="164592" cy="23774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FFF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539478" y="5966460"/>
            <a:ext cx="123444" cy="178308"/>
            <a:chOff x="0" y="0"/>
            <a:chExt cx="164592" cy="2377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FFF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680960" y="4594860"/>
            <a:ext cx="2880360" cy="1371600"/>
            <a:chOff x="0" y="0"/>
            <a:chExt cx="3840480" cy="1828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40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38404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39"/>
                </a:lnSpc>
              </a:pPr>
              <a:r>
                <a:rPr lang="en-US" sz="2449" b="true">
                  <a:solidFill>
                    <a:srgbClr val="00142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Router modes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77252" y="2660333"/>
            <a:ext cx="5103495" cy="2154555"/>
            <a:chOff x="0" y="0"/>
            <a:chExt cx="6804660" cy="28727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04660" cy="2872740"/>
            </a:xfrm>
            <a:custGeom>
              <a:avLst/>
              <a:gdLst/>
              <a:ahLst/>
              <a:cxnLst/>
              <a:rect r="r" b="b" t="t" l="l"/>
              <a:pathLst>
                <a:path h="2872740" w="680466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637909" y="0"/>
                  </a:lnTo>
                  <a:cubicBezTo>
                    <a:pt x="6729984" y="0"/>
                    <a:pt x="6804660" y="74676"/>
                    <a:pt x="6804660" y="166751"/>
                  </a:cubicBezTo>
                  <a:lnTo>
                    <a:pt x="6804660" y="2705989"/>
                  </a:lnTo>
                  <a:cubicBezTo>
                    <a:pt x="6804660" y="2798064"/>
                    <a:pt x="6729984" y="2872740"/>
                    <a:pt x="6637909" y="2872740"/>
                  </a:cubicBezTo>
                  <a:lnTo>
                    <a:pt x="166751" y="2872740"/>
                  </a:lnTo>
                  <a:cubicBezTo>
                    <a:pt x="74676" y="2872740"/>
                    <a:pt x="0" y="2798064"/>
                    <a:pt x="0" y="2705989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91540" y="2674620"/>
            <a:ext cx="123444" cy="2125980"/>
            <a:chOff x="0" y="0"/>
            <a:chExt cx="164592" cy="2834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03020" y="2894076"/>
            <a:ext cx="4389120" cy="685800"/>
            <a:chOff x="0" y="0"/>
            <a:chExt cx="585216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58521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b="true" sz="23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EXEC Mode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03020" y="3552444"/>
            <a:ext cx="4389120" cy="1114974"/>
            <a:chOff x="0" y="0"/>
            <a:chExt cx="5852160" cy="148663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52160" cy="1486632"/>
            </a:xfrm>
            <a:custGeom>
              <a:avLst/>
              <a:gdLst/>
              <a:ahLst/>
              <a:cxnLst/>
              <a:rect r="r" b="b" t="t" l="l"/>
              <a:pathLst>
                <a:path h="148663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486632"/>
                  </a:lnTo>
                  <a:lnTo>
                    <a:pt x="0" y="14866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496" r="0" b="-2590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5852160" cy="1524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77824" indent="-188912" lvl="1">
                <a:lnSpc>
                  <a:spcPts val="2099"/>
                </a:lnSpc>
                <a:buFont typeface="Arial"/>
                <a:buChar char="•"/>
              </a:pP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Descri</a:t>
              </a: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ption: Basic view-only mode for simple diagnostics.</a:t>
              </a:r>
            </a:p>
            <a:p>
              <a:pPr algn="l" marL="377824" indent="-188912" lvl="1">
                <a:lnSpc>
                  <a:spcPts val="2099"/>
                </a:lnSpc>
                <a:buFont typeface="Arial"/>
                <a:buChar char="•"/>
              </a:pP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Prompt: Router&gt;</a:t>
              </a:r>
            </a:p>
            <a:p>
              <a:pPr algn="l">
                <a:lnSpc>
                  <a:spcPts val="209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77252" y="6912293"/>
            <a:ext cx="5103495" cy="2154555"/>
            <a:chOff x="0" y="0"/>
            <a:chExt cx="6804660" cy="28727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04660" cy="2872740"/>
            </a:xfrm>
            <a:custGeom>
              <a:avLst/>
              <a:gdLst/>
              <a:ahLst/>
              <a:cxnLst/>
              <a:rect r="r" b="b" t="t" l="l"/>
              <a:pathLst>
                <a:path h="2872740" w="680466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637909" y="0"/>
                  </a:lnTo>
                  <a:cubicBezTo>
                    <a:pt x="6729984" y="0"/>
                    <a:pt x="6804660" y="74676"/>
                    <a:pt x="6804660" y="166751"/>
                  </a:cubicBezTo>
                  <a:lnTo>
                    <a:pt x="6804660" y="2705989"/>
                  </a:lnTo>
                  <a:cubicBezTo>
                    <a:pt x="6804660" y="2798064"/>
                    <a:pt x="6729984" y="2872740"/>
                    <a:pt x="6637909" y="2872740"/>
                  </a:cubicBezTo>
                  <a:lnTo>
                    <a:pt x="166751" y="2872740"/>
                  </a:lnTo>
                  <a:cubicBezTo>
                    <a:pt x="74676" y="2872740"/>
                    <a:pt x="0" y="2798064"/>
                    <a:pt x="0" y="2705989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891540" y="6926580"/>
            <a:ext cx="123444" cy="2125980"/>
            <a:chOff x="0" y="0"/>
            <a:chExt cx="164592" cy="2834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00649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03020" y="7146036"/>
            <a:ext cx="4389120" cy="820703"/>
            <a:chOff x="0" y="0"/>
            <a:chExt cx="5852160" cy="10942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52160" cy="1094271"/>
            </a:xfrm>
            <a:custGeom>
              <a:avLst/>
              <a:gdLst/>
              <a:ahLst/>
              <a:cxnLst/>
              <a:rect r="r" b="b" t="t" l="l"/>
              <a:pathLst>
                <a:path h="1094271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94271"/>
                  </a:lnTo>
                  <a:lnTo>
                    <a:pt x="0" y="10942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424" r="0" b="-4598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5852160" cy="1151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b="true" sz="23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Privileged EX</a:t>
              </a:r>
              <a:r>
                <a:rPr lang="en-US" b="true" sz="23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 Mode (Enable Mode)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03020" y="7804404"/>
            <a:ext cx="4389120" cy="1114974"/>
            <a:chOff x="0" y="0"/>
            <a:chExt cx="5852160" cy="148663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852160" cy="1486632"/>
            </a:xfrm>
            <a:custGeom>
              <a:avLst/>
              <a:gdLst/>
              <a:ahLst/>
              <a:cxnLst/>
              <a:rect r="r" b="b" t="t" l="l"/>
              <a:pathLst>
                <a:path h="148663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486632"/>
                  </a:lnTo>
                  <a:lnTo>
                    <a:pt x="0" y="14866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496" r="0" b="-2590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852160" cy="1524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77824" indent="-188912" lvl="1">
                <a:lnSpc>
                  <a:spcPts val="2099"/>
                </a:lnSpc>
                <a:buFont typeface="Arial"/>
                <a:buChar char="•"/>
              </a:pP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Descri</a:t>
              </a: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ption: Provides full diagnostic (show/debug) and management access.</a:t>
              </a:r>
            </a:p>
            <a:p>
              <a:pPr algn="l" marL="377824" indent="-188912" lvl="1">
                <a:lnSpc>
                  <a:spcPts val="2099"/>
                </a:lnSpc>
                <a:buFont typeface="Arial"/>
                <a:buChar char="•"/>
              </a:pP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Prompt: Router#</a:t>
              </a:r>
            </a:p>
            <a:p>
              <a:pPr algn="l">
                <a:lnSpc>
                  <a:spcPts val="209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30112" y="2660333"/>
            <a:ext cx="5076063" cy="2154555"/>
            <a:chOff x="0" y="0"/>
            <a:chExt cx="6768084" cy="28727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768084" cy="2872740"/>
            </a:xfrm>
            <a:custGeom>
              <a:avLst/>
              <a:gdLst/>
              <a:ahLst/>
              <a:cxnLst/>
              <a:rect r="r" b="b" t="t" l="l"/>
              <a:pathLst>
                <a:path h="2872740" w="676808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601333" y="0"/>
                  </a:lnTo>
                  <a:cubicBezTo>
                    <a:pt x="6693408" y="0"/>
                    <a:pt x="6768084" y="74676"/>
                    <a:pt x="6768084" y="166751"/>
                  </a:cubicBezTo>
                  <a:lnTo>
                    <a:pt x="6768084" y="2705989"/>
                  </a:lnTo>
                  <a:cubicBezTo>
                    <a:pt x="6768084" y="2798064"/>
                    <a:pt x="6693408" y="2872740"/>
                    <a:pt x="6601333" y="2872740"/>
                  </a:cubicBezTo>
                  <a:lnTo>
                    <a:pt x="166751" y="2872740"/>
                  </a:lnTo>
                  <a:cubicBezTo>
                    <a:pt x="74676" y="2872740"/>
                    <a:pt x="0" y="2798064"/>
                    <a:pt x="0" y="2705989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2344400" y="2674620"/>
            <a:ext cx="123444" cy="2125980"/>
            <a:chOff x="0" y="0"/>
            <a:chExt cx="164592" cy="2834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755880" y="2894076"/>
            <a:ext cx="4361688" cy="685800"/>
            <a:chOff x="0" y="0"/>
            <a:chExt cx="5815584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815584" cy="914400"/>
            </a:xfrm>
            <a:custGeom>
              <a:avLst/>
              <a:gdLst/>
              <a:ahLst/>
              <a:cxnLst/>
              <a:rect r="r" b="b" t="t" l="l"/>
              <a:pathLst>
                <a:path h="914400" w="5815584">
                  <a:moveTo>
                    <a:pt x="0" y="0"/>
                  </a:moveTo>
                  <a:lnTo>
                    <a:pt x="5815584" y="0"/>
                  </a:lnTo>
                  <a:lnTo>
                    <a:pt x="581558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924" r="0" b="-7392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5815584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b="true" sz="23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Global</a:t>
              </a:r>
              <a:r>
                <a:rPr lang="en-US" b="true" sz="23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Configuration Mode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755880" y="3552444"/>
            <a:ext cx="4361688" cy="1114974"/>
            <a:chOff x="0" y="0"/>
            <a:chExt cx="5815584" cy="148663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815584" cy="1486632"/>
            </a:xfrm>
            <a:custGeom>
              <a:avLst/>
              <a:gdLst/>
              <a:ahLst/>
              <a:cxnLst/>
              <a:rect r="r" b="b" t="t" l="l"/>
              <a:pathLst>
                <a:path h="1486632" w="5815584">
                  <a:moveTo>
                    <a:pt x="0" y="0"/>
                  </a:moveTo>
                  <a:lnTo>
                    <a:pt x="5815584" y="0"/>
                  </a:lnTo>
                  <a:lnTo>
                    <a:pt x="5815584" y="1486632"/>
                  </a:lnTo>
                  <a:lnTo>
                    <a:pt x="0" y="14866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017" r="0" b="-2543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815584" cy="1524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77824" indent="-188912" lvl="1">
                <a:lnSpc>
                  <a:spcPts val="2099"/>
                </a:lnSpc>
                <a:buFont typeface="Arial"/>
                <a:buChar char="•"/>
              </a:pP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</a:t>
              </a: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ription: Used to modify global system-wide settings.</a:t>
              </a:r>
            </a:p>
            <a:p>
              <a:pPr algn="l" marL="377824" indent="-188912" lvl="1">
                <a:lnSpc>
                  <a:spcPts val="2099"/>
                </a:lnSpc>
                <a:buFont typeface="Arial"/>
                <a:buChar char="•"/>
              </a:pP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Prompt: Router(config)#</a:t>
              </a:r>
            </a:p>
            <a:p>
              <a:pPr algn="l">
                <a:lnSpc>
                  <a:spcPts val="209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330112" y="6912293"/>
            <a:ext cx="5076063" cy="2154555"/>
            <a:chOff x="0" y="0"/>
            <a:chExt cx="6768084" cy="28727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768084" cy="2872740"/>
            </a:xfrm>
            <a:custGeom>
              <a:avLst/>
              <a:gdLst/>
              <a:ahLst/>
              <a:cxnLst/>
              <a:rect r="r" b="b" t="t" l="l"/>
              <a:pathLst>
                <a:path h="2872740" w="676808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601333" y="0"/>
                  </a:lnTo>
                  <a:cubicBezTo>
                    <a:pt x="6693408" y="0"/>
                    <a:pt x="6768084" y="74676"/>
                    <a:pt x="6768084" y="166751"/>
                  </a:cubicBezTo>
                  <a:lnTo>
                    <a:pt x="6768084" y="2705989"/>
                  </a:lnTo>
                  <a:cubicBezTo>
                    <a:pt x="6768084" y="2798064"/>
                    <a:pt x="6693408" y="2872740"/>
                    <a:pt x="6601333" y="2872740"/>
                  </a:cubicBezTo>
                  <a:lnTo>
                    <a:pt x="166751" y="2872740"/>
                  </a:lnTo>
                  <a:cubicBezTo>
                    <a:pt x="74676" y="2872740"/>
                    <a:pt x="0" y="2798064"/>
                    <a:pt x="0" y="2705989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2344400" y="6926580"/>
            <a:ext cx="123444" cy="2125980"/>
            <a:chOff x="0" y="0"/>
            <a:chExt cx="164592" cy="2834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00649E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755880" y="7146036"/>
            <a:ext cx="4361688" cy="820703"/>
            <a:chOff x="0" y="0"/>
            <a:chExt cx="5815584" cy="10942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15584" cy="1094271"/>
            </a:xfrm>
            <a:custGeom>
              <a:avLst/>
              <a:gdLst/>
              <a:ahLst/>
              <a:cxnLst/>
              <a:rect r="r" b="b" t="t" l="l"/>
              <a:pathLst>
                <a:path h="1094271" w="5815584">
                  <a:moveTo>
                    <a:pt x="0" y="0"/>
                  </a:moveTo>
                  <a:lnTo>
                    <a:pt x="5815584" y="0"/>
                  </a:lnTo>
                  <a:lnTo>
                    <a:pt x="5815584" y="1094271"/>
                  </a:lnTo>
                  <a:lnTo>
                    <a:pt x="0" y="10942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773" r="0" b="-4533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5815584" cy="1151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b="true" sz="23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Specific</a:t>
              </a:r>
              <a:r>
                <a:rPr lang="en-US" b="true" sz="23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Configuration Modes (Submodes)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755880" y="7804404"/>
            <a:ext cx="4361688" cy="1372149"/>
            <a:chOff x="0" y="0"/>
            <a:chExt cx="5815584" cy="182953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815584" cy="1829532"/>
            </a:xfrm>
            <a:custGeom>
              <a:avLst/>
              <a:gdLst/>
              <a:ahLst/>
              <a:cxnLst/>
              <a:rect r="r" b="b" t="t" l="l"/>
              <a:pathLst>
                <a:path h="1829532" w="5815584">
                  <a:moveTo>
                    <a:pt x="0" y="0"/>
                  </a:moveTo>
                  <a:lnTo>
                    <a:pt x="5815584" y="0"/>
                  </a:lnTo>
                  <a:lnTo>
                    <a:pt x="5815584" y="1829532"/>
                  </a:lnTo>
                  <a:lnTo>
                    <a:pt x="0" y="18295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53" r="0" b="-192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5815584" cy="1867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77824" indent="-188912" lvl="1">
                <a:lnSpc>
                  <a:spcPts val="2099"/>
                </a:lnSpc>
                <a:buFont typeface="Arial"/>
                <a:buChar char="•"/>
              </a:pP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Descri</a:t>
              </a: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ption: Submodes used to configure specific interfaces, lines, or protocols.</a:t>
              </a:r>
            </a:p>
            <a:p>
              <a:pPr algn="l" marL="377824" indent="-188912" lvl="1">
                <a:lnSpc>
                  <a:spcPts val="2099"/>
                </a:lnSpc>
                <a:buFont typeface="Arial"/>
                <a:buChar char="•"/>
              </a:pPr>
              <a:r>
                <a:rPr lang="en-US" sz="1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Prompts: Router(config-if)#, Router(config-line)#, Router(config-router)#</a:t>
              </a:r>
            </a:p>
            <a:p>
              <a:pPr algn="l">
                <a:lnSpc>
                  <a:spcPts val="2099"/>
                </a:lnSpc>
              </a:pPr>
            </a:p>
          </p:txBody>
        </p:sp>
      </p:grpSp>
      <p:sp>
        <p:nvSpPr>
          <p:cNvPr name="AutoShape 88" id="88"/>
          <p:cNvSpPr/>
          <p:nvPr/>
        </p:nvSpPr>
        <p:spPr>
          <a:xfrm rot="10750200">
            <a:off x="5954458" y="5276583"/>
            <a:ext cx="1738493" cy="0"/>
          </a:xfrm>
          <a:prstGeom prst="line">
            <a:avLst/>
          </a:prstGeom>
          <a:ln cap="rnd" w="9525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rot="-5344740">
            <a:off x="5183610" y="4504372"/>
            <a:ext cx="1567063" cy="0"/>
          </a:xfrm>
          <a:prstGeom prst="line">
            <a:avLst/>
          </a:prstGeom>
          <a:ln cap="rnd" w="9525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rot="2796180">
            <a:off x="5949134" y="3733533"/>
            <a:ext cx="34661" cy="0"/>
          </a:xfrm>
          <a:prstGeom prst="line">
            <a:avLst/>
          </a:prstGeom>
          <a:ln cap="rnd" w="9525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rot="10750200">
            <a:off x="5954458" y="5276583"/>
            <a:ext cx="1738493" cy="0"/>
          </a:xfrm>
          <a:prstGeom prst="line">
            <a:avLst/>
          </a:prstGeom>
          <a:ln cap="rnd" w="9525">
            <a:solidFill>
              <a:srgbClr val="0064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rot="5368320">
            <a:off x="4600727" y="6630353"/>
            <a:ext cx="2732837" cy="0"/>
          </a:xfrm>
          <a:prstGeom prst="line">
            <a:avLst/>
          </a:prstGeom>
          <a:ln cap="rnd" w="9525">
            <a:solidFill>
              <a:srgbClr val="0064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rot="2796180">
            <a:off x="5949134" y="7985493"/>
            <a:ext cx="34661" cy="0"/>
          </a:xfrm>
          <a:prstGeom prst="line">
            <a:avLst/>
          </a:prstGeom>
          <a:ln cap="rnd" w="9525">
            <a:solidFill>
              <a:srgbClr val="0064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 rot="102240">
            <a:off x="10549223" y="5276583"/>
            <a:ext cx="847144" cy="0"/>
          </a:xfrm>
          <a:prstGeom prst="line">
            <a:avLst/>
          </a:prstGeom>
          <a:ln cap="rnd" w="9525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rot="-5344740">
            <a:off x="10601430" y="4504372"/>
            <a:ext cx="1567063" cy="0"/>
          </a:xfrm>
          <a:prstGeom prst="line">
            <a:avLst/>
          </a:prstGeom>
          <a:ln cap="rnd" w="9525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rot="87960">
            <a:off x="11372212" y="3733533"/>
            <a:ext cx="984256" cy="0"/>
          </a:xfrm>
          <a:prstGeom prst="line">
            <a:avLst/>
          </a:prstGeom>
          <a:ln cap="rnd" w="9525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rot="102240">
            <a:off x="10549223" y="5276583"/>
            <a:ext cx="847144" cy="0"/>
          </a:xfrm>
          <a:prstGeom prst="line">
            <a:avLst/>
          </a:prstGeom>
          <a:ln cap="rnd" w="9525">
            <a:solidFill>
              <a:srgbClr val="0064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rot="5368320">
            <a:off x="10018547" y="6630353"/>
            <a:ext cx="2732837" cy="0"/>
          </a:xfrm>
          <a:prstGeom prst="line">
            <a:avLst/>
          </a:prstGeom>
          <a:ln cap="rnd" w="9525">
            <a:solidFill>
              <a:srgbClr val="0064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 rot="87960">
            <a:off x="11372212" y="7985493"/>
            <a:ext cx="984256" cy="0"/>
          </a:xfrm>
          <a:prstGeom prst="line">
            <a:avLst/>
          </a:prstGeom>
          <a:ln cap="rnd" w="9525">
            <a:solidFill>
              <a:srgbClr val="0064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0" id="100"/>
          <p:cNvGrpSpPr/>
          <p:nvPr/>
        </p:nvGrpSpPr>
        <p:grpSpPr>
          <a:xfrm rot="0">
            <a:off x="5897880" y="3669030"/>
            <a:ext cx="137160" cy="137160"/>
            <a:chOff x="0" y="0"/>
            <a:chExt cx="182880" cy="1828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897880" y="7920990"/>
            <a:ext cx="137160" cy="137160"/>
            <a:chOff x="0" y="0"/>
            <a:chExt cx="182880" cy="1828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275820" y="3669030"/>
            <a:ext cx="137160" cy="137160"/>
            <a:chOff x="0" y="0"/>
            <a:chExt cx="182880" cy="1828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275820" y="7920990"/>
            <a:ext cx="137160" cy="137160"/>
            <a:chOff x="0" y="0"/>
            <a:chExt cx="182880" cy="1828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82880" cy="182880"/>
            </a:xfrm>
            <a:custGeom>
              <a:avLst/>
              <a:gdLst/>
              <a:ahLst/>
              <a:cxnLst/>
              <a:rect r="r" b="b" t="t" l="l"/>
              <a:pathLst>
                <a:path h="182880" w="1828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cubicBezTo>
                    <a:pt x="141986" y="0"/>
                    <a:pt x="182880" y="40894"/>
                    <a:pt x="182880" y="91440"/>
                  </a:cubicBezTo>
                  <a:cubicBezTo>
                    <a:pt x="182880" y="141986"/>
                    <a:pt x="141986" y="182880"/>
                    <a:pt x="91440" y="182880"/>
                  </a:cubicBezTo>
                  <a:cubicBezTo>
                    <a:pt x="40894" y="182880"/>
                    <a:pt x="0" y="141986"/>
                    <a:pt x="0" y="91440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sp>
        <p:nvSpPr>
          <p:cNvPr name="AutoShape 108" id="108"/>
          <p:cNvSpPr/>
          <p:nvPr/>
        </p:nvSpPr>
        <p:spPr>
          <a:xfrm rot="2880">
            <a:off x="678656" y="9706166"/>
            <a:ext cx="169302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9" id="109"/>
          <p:cNvGrpSpPr/>
          <p:nvPr/>
        </p:nvGrpSpPr>
        <p:grpSpPr>
          <a:xfrm rot="0">
            <a:off x="14721383" y="9765792"/>
            <a:ext cx="2880360" cy="411480"/>
            <a:chOff x="0" y="0"/>
            <a:chExt cx="3840480" cy="5486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840480" cy="548640"/>
            </a:xfrm>
            <a:custGeom>
              <a:avLst/>
              <a:gdLst/>
              <a:ahLst/>
              <a:cxnLst/>
              <a:rect r="r" b="b" t="t" l="l"/>
              <a:pathLst>
                <a:path h="5486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38404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F2A73D"/>
                  </a:solidFill>
                  <a:latin typeface="Consolas"/>
                  <a:ea typeface="Consolas"/>
                  <a:cs typeface="Consolas"/>
                  <a:sym typeface="Consolas"/>
                </a:rPr>
                <a:t>MODULE 01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7955280" y="2249424"/>
            <a:ext cx="2400300" cy="2400300"/>
            <a:chOff x="0" y="0"/>
            <a:chExt cx="3200400" cy="3200400"/>
          </a:xfrm>
        </p:grpSpPr>
        <p:sp>
          <p:nvSpPr>
            <p:cNvPr name="Freeform 113" id="113" descr="/home/claude/assets/chibi_senku_spring.png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380">
            <a:off x="1595609" y="6173638"/>
            <a:ext cx="223753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557176" y="6129709"/>
            <a:ext cx="96012" cy="96012"/>
            <a:chOff x="0" y="0"/>
            <a:chExt cx="128016" cy="1280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775567" y="3911308"/>
            <a:ext cx="96012" cy="96012"/>
            <a:chOff x="0" y="0"/>
            <a:chExt cx="128016" cy="1280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7" id="7"/>
          <p:cNvSpPr/>
          <p:nvPr/>
        </p:nvSpPr>
        <p:spPr>
          <a:xfrm rot="63120">
            <a:off x="12802791" y="6982416"/>
            <a:ext cx="111191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3857075" y="6938486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739983" y="694256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</a:blip>
            <a:stretch>
              <a:fillRect l="-6" t="0" r="-6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299209" y="6432966"/>
            <a:ext cx="96012" cy="96012"/>
            <a:chOff x="0" y="0"/>
            <a:chExt cx="128016" cy="1280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261069" y="3757717"/>
            <a:ext cx="96012" cy="96012"/>
            <a:chOff x="0" y="0"/>
            <a:chExt cx="128016" cy="128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0120" y="754380"/>
            <a:ext cx="192024" cy="192024"/>
            <a:chOff x="0" y="0"/>
            <a:chExt cx="256032" cy="256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1168" y="0"/>
                  </a:lnTo>
                  <a:cubicBezTo>
                    <a:pt x="231521" y="0"/>
                    <a:pt x="256032" y="24511"/>
                    <a:pt x="256032" y="54864"/>
                  </a:cubicBezTo>
                  <a:lnTo>
                    <a:pt x="256032" y="201168"/>
                  </a:lnTo>
                  <a:cubicBezTo>
                    <a:pt x="256032" y="231521"/>
                    <a:pt x="231521" y="256032"/>
                    <a:pt x="201168" y="256032"/>
                  </a:cubicBezTo>
                  <a:lnTo>
                    <a:pt x="54864" y="256032"/>
                  </a:lnTo>
                  <a:cubicBezTo>
                    <a:pt x="24511" y="256032"/>
                    <a:pt x="0" y="231521"/>
                    <a:pt x="0" y="201168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16736" y="672084"/>
            <a:ext cx="6858000" cy="384048"/>
            <a:chOff x="0" y="0"/>
            <a:chExt cx="91440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2A73D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MODULE 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47759" y="2578608"/>
            <a:ext cx="192024" cy="192024"/>
            <a:chOff x="0" y="0"/>
            <a:chExt cx="256032" cy="256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FFFA"/>
            </a:solidFill>
          </p:spPr>
        </p:sp>
      </p:grpSp>
      <p:sp>
        <p:nvSpPr>
          <p:cNvPr name="AutoShape 22" id="22"/>
          <p:cNvSpPr/>
          <p:nvPr/>
        </p:nvSpPr>
        <p:spPr>
          <a:xfrm rot="10779840">
            <a:off x="4857236" y="2670543"/>
            <a:ext cx="4298480" cy="0"/>
          </a:xfrm>
          <a:prstGeom prst="line">
            <a:avLst/>
          </a:prstGeom>
          <a:ln cap="rnd" w="9525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5248860">
            <a:off x="4583363" y="2944178"/>
            <a:ext cx="573005" cy="0"/>
          </a:xfrm>
          <a:prstGeom prst="line">
            <a:avLst/>
          </a:prstGeom>
          <a:ln cap="rnd" w="9525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20160">
            <a:off x="9131827" y="2670543"/>
            <a:ext cx="4294365" cy="0"/>
          </a:xfrm>
          <a:prstGeom prst="line">
            <a:avLst/>
          </a:prstGeom>
          <a:ln cap="rnd" w="9525">
            <a:solidFill>
              <a:srgbClr val="0064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5248860">
            <a:off x="13128431" y="2944178"/>
            <a:ext cx="573005" cy="0"/>
          </a:xfrm>
          <a:prstGeom prst="line">
            <a:avLst/>
          </a:prstGeom>
          <a:ln cap="rnd" w="9525">
            <a:solidFill>
              <a:srgbClr val="0064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14412" y="3208972"/>
            <a:ext cx="7709535" cy="878967"/>
            <a:chOff x="0" y="0"/>
            <a:chExt cx="10279380" cy="11719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79380" cy="1171956"/>
            </a:xfrm>
            <a:custGeom>
              <a:avLst/>
              <a:gdLst/>
              <a:ahLst/>
              <a:cxnLst/>
              <a:rect r="r" b="b" t="t" l="l"/>
              <a:pathLst>
                <a:path h="1171956" w="10279380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10128123" y="0"/>
                  </a:lnTo>
                  <a:cubicBezTo>
                    <a:pt x="10211689" y="0"/>
                    <a:pt x="10279380" y="67691"/>
                    <a:pt x="10279380" y="151257"/>
                  </a:cubicBezTo>
                  <a:lnTo>
                    <a:pt x="10279380" y="1020699"/>
                  </a:lnTo>
                  <a:cubicBezTo>
                    <a:pt x="10279380" y="1104265"/>
                    <a:pt x="10211689" y="1171956"/>
                    <a:pt x="10128123" y="1171956"/>
                  </a:cubicBezTo>
                  <a:lnTo>
                    <a:pt x="151257" y="1171956"/>
                  </a:lnTo>
                  <a:cubicBezTo>
                    <a:pt x="67691" y="1171956"/>
                    <a:pt x="0" y="1104265"/>
                    <a:pt x="0" y="1020699"/>
                  </a:cubicBezTo>
                  <a:close/>
                </a:path>
              </a:pathLst>
            </a:custGeom>
            <a:solidFill>
              <a:srgbClr val="F2A73D"/>
            </a:solidFill>
            <a:ln w="28575" cap="sq">
              <a:solidFill>
                <a:srgbClr val="F2FFF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28700" y="3223260"/>
            <a:ext cx="7680960" cy="850392"/>
            <a:chOff x="0" y="0"/>
            <a:chExt cx="10241280" cy="11338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993" r="0" b="-12599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24128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Static Route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02238" y="4402264"/>
            <a:ext cx="7709535" cy="1022303"/>
            <a:chOff x="0" y="0"/>
            <a:chExt cx="10279380" cy="13630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79380" cy="1363070"/>
            </a:xfrm>
            <a:custGeom>
              <a:avLst/>
              <a:gdLst/>
              <a:ahLst/>
              <a:cxnLst/>
              <a:rect r="r" b="b" t="t" l="l"/>
              <a:pathLst>
                <a:path h="1363070" w="10279380">
                  <a:moveTo>
                    <a:pt x="0" y="109046"/>
                  </a:moveTo>
                  <a:cubicBezTo>
                    <a:pt x="0" y="48867"/>
                    <a:pt x="66929" y="0"/>
                    <a:pt x="149352" y="0"/>
                  </a:cubicBezTo>
                  <a:lnTo>
                    <a:pt x="10130028" y="0"/>
                  </a:lnTo>
                  <a:cubicBezTo>
                    <a:pt x="10212451" y="0"/>
                    <a:pt x="10279380" y="48867"/>
                    <a:pt x="10279380" y="109046"/>
                  </a:cubicBezTo>
                  <a:lnTo>
                    <a:pt x="10279380" y="1254025"/>
                  </a:lnTo>
                  <a:cubicBezTo>
                    <a:pt x="10279380" y="1314204"/>
                    <a:pt x="10212451" y="1363070"/>
                    <a:pt x="10130028" y="1363070"/>
                  </a:cubicBezTo>
                  <a:lnTo>
                    <a:pt x="149352" y="1363070"/>
                  </a:lnTo>
                  <a:cubicBezTo>
                    <a:pt x="66929" y="1363070"/>
                    <a:pt x="0" y="1314204"/>
                    <a:pt x="0" y="1254025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400061" y="4227616"/>
            <a:ext cx="6995160" cy="1371600"/>
            <a:chOff x="0" y="0"/>
            <a:chExt cx="9326880" cy="1828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932688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>
                  <a:solidFill>
                    <a:srgbClr val="F2FF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</a:t>
              </a:r>
              <a:r>
                <a:rPr lang="en-US" sz="2349">
                  <a:solidFill>
                    <a:srgbClr val="F2FF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(configured by the administrator).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02238" y="5641834"/>
            <a:ext cx="7709535" cy="1060749"/>
            <a:chOff x="0" y="0"/>
            <a:chExt cx="10279380" cy="14143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79380" cy="1414332"/>
            </a:xfrm>
            <a:custGeom>
              <a:avLst/>
              <a:gdLst/>
              <a:ahLst/>
              <a:cxnLst/>
              <a:rect r="r" b="b" t="t" l="l"/>
              <a:pathLst>
                <a:path h="1414332" w="10279380">
                  <a:moveTo>
                    <a:pt x="0" y="113147"/>
                  </a:moveTo>
                  <a:cubicBezTo>
                    <a:pt x="0" y="50704"/>
                    <a:pt x="66929" y="0"/>
                    <a:pt x="149352" y="0"/>
                  </a:cubicBezTo>
                  <a:lnTo>
                    <a:pt x="10130028" y="0"/>
                  </a:lnTo>
                  <a:cubicBezTo>
                    <a:pt x="10212451" y="0"/>
                    <a:pt x="10279380" y="50704"/>
                    <a:pt x="10279380" y="113147"/>
                  </a:cubicBezTo>
                  <a:lnTo>
                    <a:pt x="10279380" y="1301185"/>
                  </a:lnTo>
                  <a:cubicBezTo>
                    <a:pt x="10279380" y="1363627"/>
                    <a:pt x="10212451" y="1414332"/>
                    <a:pt x="10130028" y="1414332"/>
                  </a:cubicBezTo>
                  <a:lnTo>
                    <a:pt x="149352" y="1414332"/>
                  </a:lnTo>
                  <a:cubicBezTo>
                    <a:pt x="66929" y="1414332"/>
                    <a:pt x="0" y="1363627"/>
                    <a:pt x="0" y="1301185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00061" y="5481821"/>
            <a:ext cx="6995160" cy="1371600"/>
            <a:chOff x="0" y="0"/>
            <a:chExt cx="932688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3268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2FF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</a:t>
              </a:r>
              <a:r>
                <a:rPr lang="en-US" sz="1950">
                  <a:solidFill>
                    <a:srgbClr val="F2FF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 CPU, RAM, and bandwidth.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59480" y="3208972"/>
            <a:ext cx="7709535" cy="878967"/>
            <a:chOff x="0" y="0"/>
            <a:chExt cx="10279380" cy="11719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79380" cy="1171956"/>
            </a:xfrm>
            <a:custGeom>
              <a:avLst/>
              <a:gdLst/>
              <a:ahLst/>
              <a:cxnLst/>
              <a:rect r="r" b="b" t="t" l="l"/>
              <a:pathLst>
                <a:path h="1171956" w="10279380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10128123" y="0"/>
                  </a:lnTo>
                  <a:cubicBezTo>
                    <a:pt x="10211689" y="0"/>
                    <a:pt x="10279380" y="67691"/>
                    <a:pt x="10279380" y="151257"/>
                  </a:cubicBezTo>
                  <a:lnTo>
                    <a:pt x="10279380" y="1020699"/>
                  </a:lnTo>
                  <a:cubicBezTo>
                    <a:pt x="10279380" y="1104265"/>
                    <a:pt x="10211689" y="1171956"/>
                    <a:pt x="10128123" y="1171956"/>
                  </a:cubicBezTo>
                  <a:lnTo>
                    <a:pt x="151257" y="1171956"/>
                  </a:lnTo>
                  <a:cubicBezTo>
                    <a:pt x="67691" y="1171956"/>
                    <a:pt x="0" y="1104265"/>
                    <a:pt x="0" y="1020699"/>
                  </a:cubicBezTo>
                  <a:close/>
                </a:path>
              </a:pathLst>
            </a:custGeom>
            <a:solidFill>
              <a:srgbClr val="00649E"/>
            </a:solidFill>
            <a:ln w="28575" cap="sq">
              <a:solidFill>
                <a:srgbClr val="F2FFF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573768" y="3223260"/>
            <a:ext cx="7680960" cy="850392"/>
            <a:chOff x="0" y="0"/>
            <a:chExt cx="10241280" cy="11338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412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5993" r="0" b="-12599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24128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Dynamic Route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573768" y="4402264"/>
            <a:ext cx="7709535" cy="1049735"/>
            <a:chOff x="0" y="0"/>
            <a:chExt cx="10279380" cy="139964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79380" cy="1399646"/>
            </a:xfrm>
            <a:custGeom>
              <a:avLst/>
              <a:gdLst/>
              <a:ahLst/>
              <a:cxnLst/>
              <a:rect r="r" b="b" t="t" l="l"/>
              <a:pathLst>
                <a:path h="1399646" w="10279380">
                  <a:moveTo>
                    <a:pt x="0" y="111972"/>
                  </a:moveTo>
                  <a:cubicBezTo>
                    <a:pt x="0" y="50178"/>
                    <a:pt x="66929" y="0"/>
                    <a:pt x="149352" y="0"/>
                  </a:cubicBezTo>
                  <a:lnTo>
                    <a:pt x="10130028" y="0"/>
                  </a:lnTo>
                  <a:cubicBezTo>
                    <a:pt x="10212451" y="0"/>
                    <a:pt x="10279380" y="50178"/>
                    <a:pt x="10279380" y="111972"/>
                  </a:cubicBezTo>
                  <a:lnTo>
                    <a:pt x="10279380" y="1287675"/>
                  </a:lnTo>
                  <a:cubicBezTo>
                    <a:pt x="10279380" y="1349469"/>
                    <a:pt x="10212451" y="1399646"/>
                    <a:pt x="10130028" y="1399646"/>
                  </a:cubicBezTo>
                  <a:lnTo>
                    <a:pt x="149352" y="1399646"/>
                  </a:lnTo>
                  <a:cubicBezTo>
                    <a:pt x="66929" y="1399646"/>
                    <a:pt x="0" y="1349469"/>
                    <a:pt x="0" y="1287675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930955" y="4250246"/>
            <a:ext cx="6995160" cy="1371600"/>
            <a:chOff x="0" y="0"/>
            <a:chExt cx="9326880" cy="1828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932688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>
                  <a:solidFill>
                    <a:srgbClr val="F2FF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</a:t>
              </a:r>
              <a:r>
                <a:rPr lang="en-US" sz="2349">
                  <a:solidFill>
                    <a:srgbClr val="F2FF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 automatically via protocols.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52" id="52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AutoShape 53" id="53"/>
          <p:cNvSpPr/>
          <p:nvPr/>
        </p:nvSpPr>
        <p:spPr>
          <a:xfrm rot="2880">
            <a:off x="678656" y="9706166"/>
            <a:ext cx="169302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5748722" y="7804651"/>
            <a:ext cx="2101806" cy="2029054"/>
            <a:chOff x="0" y="0"/>
            <a:chExt cx="2802407" cy="270540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802382" cy="2705354"/>
            </a:xfrm>
            <a:custGeom>
              <a:avLst/>
              <a:gdLst/>
              <a:ahLst/>
              <a:cxnLst/>
              <a:rect r="r" b="b" t="t" l="l"/>
              <a:pathLst>
                <a:path h="2705354" w="2802382">
                  <a:moveTo>
                    <a:pt x="0" y="0"/>
                  </a:moveTo>
                  <a:lnTo>
                    <a:pt x="2802382" y="0"/>
                  </a:lnTo>
                  <a:lnTo>
                    <a:pt x="2802382" y="2705354"/>
                  </a:lnTo>
                  <a:lnTo>
                    <a:pt x="0" y="2705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587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57" id="57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8030536" y="1349693"/>
            <a:ext cx="2202656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Routing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573768" y="5652848"/>
            <a:ext cx="7709535" cy="1049735"/>
            <a:chOff x="0" y="0"/>
            <a:chExt cx="10279380" cy="139964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79380" cy="1399646"/>
            </a:xfrm>
            <a:custGeom>
              <a:avLst/>
              <a:gdLst/>
              <a:ahLst/>
              <a:cxnLst/>
              <a:rect r="r" b="b" t="t" l="l"/>
              <a:pathLst>
                <a:path h="1399646" w="10279380">
                  <a:moveTo>
                    <a:pt x="0" y="111972"/>
                  </a:moveTo>
                  <a:cubicBezTo>
                    <a:pt x="0" y="50178"/>
                    <a:pt x="66929" y="0"/>
                    <a:pt x="149352" y="0"/>
                  </a:cubicBezTo>
                  <a:lnTo>
                    <a:pt x="10130028" y="0"/>
                  </a:lnTo>
                  <a:cubicBezTo>
                    <a:pt x="10212451" y="0"/>
                    <a:pt x="10279380" y="50178"/>
                    <a:pt x="10279380" y="111972"/>
                  </a:cubicBezTo>
                  <a:lnTo>
                    <a:pt x="10279380" y="1287675"/>
                  </a:lnTo>
                  <a:cubicBezTo>
                    <a:pt x="10279380" y="1349469"/>
                    <a:pt x="10212451" y="1399646"/>
                    <a:pt x="10130028" y="1399646"/>
                  </a:cubicBezTo>
                  <a:lnTo>
                    <a:pt x="149352" y="1399646"/>
                  </a:lnTo>
                  <a:cubicBezTo>
                    <a:pt x="66929" y="1399646"/>
                    <a:pt x="0" y="1349469"/>
                    <a:pt x="0" y="1287675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sp>
        <p:nvSpPr>
          <p:cNvPr name="TextBox 63" id="63"/>
          <p:cNvSpPr txBox="true"/>
          <p:nvPr/>
        </p:nvSpPr>
        <p:spPr>
          <a:xfrm rot="0">
            <a:off x="8437551" y="5938846"/>
            <a:ext cx="836207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  <a:spcBef>
                <a:spcPct val="0"/>
              </a:spcBef>
            </a:pPr>
            <a:r>
              <a:rPr lang="en-US" sz="234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Consumes processing power and bandwidth.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152144" y="6853421"/>
            <a:ext cx="7709535" cy="1060749"/>
            <a:chOff x="0" y="0"/>
            <a:chExt cx="10279380" cy="141433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79380" cy="1414332"/>
            </a:xfrm>
            <a:custGeom>
              <a:avLst/>
              <a:gdLst/>
              <a:ahLst/>
              <a:cxnLst/>
              <a:rect r="r" b="b" t="t" l="l"/>
              <a:pathLst>
                <a:path h="1414332" w="10279380">
                  <a:moveTo>
                    <a:pt x="0" y="113147"/>
                  </a:moveTo>
                  <a:cubicBezTo>
                    <a:pt x="0" y="50704"/>
                    <a:pt x="66929" y="0"/>
                    <a:pt x="149352" y="0"/>
                  </a:cubicBezTo>
                  <a:lnTo>
                    <a:pt x="10130028" y="0"/>
                  </a:lnTo>
                  <a:cubicBezTo>
                    <a:pt x="10212451" y="0"/>
                    <a:pt x="10279380" y="50704"/>
                    <a:pt x="10279380" y="113147"/>
                  </a:cubicBezTo>
                  <a:lnTo>
                    <a:pt x="10279380" y="1301185"/>
                  </a:lnTo>
                  <a:cubicBezTo>
                    <a:pt x="10279380" y="1363627"/>
                    <a:pt x="10212451" y="1414332"/>
                    <a:pt x="10130028" y="1414332"/>
                  </a:cubicBezTo>
                  <a:lnTo>
                    <a:pt x="149352" y="1414332"/>
                  </a:lnTo>
                  <a:cubicBezTo>
                    <a:pt x="66929" y="1414332"/>
                    <a:pt x="0" y="1363627"/>
                    <a:pt x="0" y="1301185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F2A73D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-836676" y="7150433"/>
            <a:ext cx="770953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Small or simple networks.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573768" y="6853421"/>
            <a:ext cx="7709535" cy="1049735"/>
            <a:chOff x="0" y="0"/>
            <a:chExt cx="10279380" cy="139964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279380" cy="1399646"/>
            </a:xfrm>
            <a:custGeom>
              <a:avLst/>
              <a:gdLst/>
              <a:ahLst/>
              <a:cxnLst/>
              <a:rect r="r" b="b" t="t" l="l"/>
              <a:pathLst>
                <a:path h="1399646" w="10279380">
                  <a:moveTo>
                    <a:pt x="0" y="111972"/>
                  </a:moveTo>
                  <a:cubicBezTo>
                    <a:pt x="0" y="50178"/>
                    <a:pt x="66929" y="0"/>
                    <a:pt x="149352" y="0"/>
                  </a:cubicBezTo>
                  <a:lnTo>
                    <a:pt x="10130028" y="0"/>
                  </a:lnTo>
                  <a:cubicBezTo>
                    <a:pt x="10212451" y="0"/>
                    <a:pt x="10279380" y="50178"/>
                    <a:pt x="10279380" y="111972"/>
                  </a:cubicBezTo>
                  <a:lnTo>
                    <a:pt x="10279380" y="1287675"/>
                  </a:lnTo>
                  <a:cubicBezTo>
                    <a:pt x="10279380" y="1349469"/>
                    <a:pt x="10212451" y="1399646"/>
                    <a:pt x="10130028" y="1399646"/>
                  </a:cubicBezTo>
                  <a:lnTo>
                    <a:pt x="149352" y="1399646"/>
                  </a:lnTo>
                  <a:cubicBezTo>
                    <a:pt x="66929" y="1399646"/>
                    <a:pt x="0" y="1349469"/>
                    <a:pt x="0" y="1287675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sp>
        <p:nvSpPr>
          <p:cNvPr name="TextBox 69" id="69"/>
          <p:cNvSpPr txBox="true"/>
          <p:nvPr/>
        </p:nvSpPr>
        <p:spPr>
          <a:xfrm rot="0">
            <a:off x="9930955" y="7139273"/>
            <a:ext cx="443888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Medium to large, complex networks.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152144" y="8055556"/>
            <a:ext cx="7709535" cy="1060749"/>
            <a:chOff x="0" y="0"/>
            <a:chExt cx="10279380" cy="141433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279380" cy="1414332"/>
            </a:xfrm>
            <a:custGeom>
              <a:avLst/>
              <a:gdLst/>
              <a:ahLst/>
              <a:cxnLst/>
              <a:rect r="r" b="b" t="t" l="l"/>
              <a:pathLst>
                <a:path h="1414332" w="10279380">
                  <a:moveTo>
                    <a:pt x="0" y="113147"/>
                  </a:moveTo>
                  <a:cubicBezTo>
                    <a:pt x="0" y="50704"/>
                    <a:pt x="66929" y="0"/>
                    <a:pt x="149352" y="0"/>
                  </a:cubicBezTo>
                  <a:lnTo>
                    <a:pt x="10130028" y="0"/>
                  </a:lnTo>
                  <a:cubicBezTo>
                    <a:pt x="10212451" y="0"/>
                    <a:pt x="10279380" y="50704"/>
                    <a:pt x="10279380" y="113147"/>
                  </a:cubicBezTo>
                  <a:lnTo>
                    <a:pt x="10279380" y="1301185"/>
                  </a:lnTo>
                  <a:cubicBezTo>
                    <a:pt x="10279380" y="1363627"/>
                    <a:pt x="10212451" y="1414332"/>
                    <a:pt x="10130028" y="1414332"/>
                  </a:cubicBezTo>
                  <a:lnTo>
                    <a:pt x="149352" y="1414332"/>
                  </a:lnTo>
                  <a:cubicBezTo>
                    <a:pt x="66929" y="1414332"/>
                    <a:pt x="0" y="1363627"/>
                    <a:pt x="0" y="1301185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F2A73D"/>
              </a:solidFill>
              <a:prstDash val="solid"/>
              <a:miter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16812" y="8352568"/>
            <a:ext cx="770953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rerouting required on link failure.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9573768" y="8055556"/>
            <a:ext cx="7709535" cy="1049735"/>
            <a:chOff x="0" y="0"/>
            <a:chExt cx="10279380" cy="139964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279380" cy="1399646"/>
            </a:xfrm>
            <a:custGeom>
              <a:avLst/>
              <a:gdLst/>
              <a:ahLst/>
              <a:cxnLst/>
              <a:rect r="r" b="b" t="t" l="l"/>
              <a:pathLst>
                <a:path h="1399646" w="10279380">
                  <a:moveTo>
                    <a:pt x="0" y="111972"/>
                  </a:moveTo>
                  <a:cubicBezTo>
                    <a:pt x="0" y="50178"/>
                    <a:pt x="66929" y="0"/>
                    <a:pt x="149352" y="0"/>
                  </a:cubicBezTo>
                  <a:lnTo>
                    <a:pt x="10130028" y="0"/>
                  </a:lnTo>
                  <a:cubicBezTo>
                    <a:pt x="10212451" y="0"/>
                    <a:pt x="10279380" y="50178"/>
                    <a:pt x="10279380" y="111972"/>
                  </a:cubicBezTo>
                  <a:lnTo>
                    <a:pt x="10279380" y="1287675"/>
                  </a:lnTo>
                  <a:cubicBezTo>
                    <a:pt x="10279380" y="1349469"/>
                    <a:pt x="10212451" y="1399646"/>
                    <a:pt x="10130028" y="1399646"/>
                  </a:cubicBezTo>
                  <a:lnTo>
                    <a:pt x="149352" y="1399646"/>
                  </a:lnTo>
                  <a:cubicBezTo>
                    <a:pt x="66929" y="1399646"/>
                    <a:pt x="0" y="1349469"/>
                    <a:pt x="0" y="1287675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sp>
        <p:nvSpPr>
          <p:cNvPr name="TextBox 75" id="75"/>
          <p:cNvSpPr txBox="true"/>
          <p:nvPr/>
        </p:nvSpPr>
        <p:spPr>
          <a:xfrm rot="0">
            <a:off x="9919604" y="8341306"/>
            <a:ext cx="492359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  <a:spcBef>
                <a:spcPct val="0"/>
              </a:spcBef>
            </a:pPr>
            <a:r>
              <a:rPr lang="en-US" sz="23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Automatic failover and instant rerouting.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2836" y="198120"/>
            <a:ext cx="2202656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2A73D"/>
                </a:solidFill>
                <a:latin typeface="Cambria Bold"/>
                <a:ea typeface="Cambria Bold"/>
                <a:cs typeface="Cambria Bold"/>
                <a:sym typeface="Cambria Bold"/>
              </a:rPr>
              <a:t>Routing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3353" y="1373516"/>
            <a:ext cx="439947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297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Administrative Distance (AD)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337051"/>
            <a:ext cx="634906" cy="634906"/>
            <a:chOff x="0" y="0"/>
            <a:chExt cx="1170432" cy="11704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77714" y="2152932"/>
            <a:ext cx="11210243" cy="3266070"/>
            <a:chOff x="0" y="0"/>
            <a:chExt cx="2952492" cy="8601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52492" cy="860199"/>
            </a:xfrm>
            <a:custGeom>
              <a:avLst/>
              <a:gdLst/>
              <a:ahLst/>
              <a:cxnLst/>
              <a:rect r="r" b="b" t="t" l="l"/>
              <a:pathLst>
                <a:path h="860199" w="2952492">
                  <a:moveTo>
                    <a:pt x="11740" y="0"/>
                  </a:moveTo>
                  <a:lnTo>
                    <a:pt x="2940752" y="0"/>
                  </a:lnTo>
                  <a:cubicBezTo>
                    <a:pt x="2947236" y="0"/>
                    <a:pt x="2952492" y="5256"/>
                    <a:pt x="2952492" y="11740"/>
                  </a:cubicBezTo>
                  <a:lnTo>
                    <a:pt x="2952492" y="848459"/>
                  </a:lnTo>
                  <a:cubicBezTo>
                    <a:pt x="2952492" y="854943"/>
                    <a:pt x="2947236" y="860199"/>
                    <a:pt x="2940752" y="860199"/>
                  </a:cubicBezTo>
                  <a:lnTo>
                    <a:pt x="11740" y="860199"/>
                  </a:lnTo>
                  <a:cubicBezTo>
                    <a:pt x="5256" y="860199"/>
                    <a:pt x="0" y="854943"/>
                    <a:pt x="0" y="848459"/>
                  </a:cubicBezTo>
                  <a:lnTo>
                    <a:pt x="0" y="11740"/>
                  </a:lnTo>
                  <a:cubicBezTo>
                    <a:pt x="0" y="5256"/>
                    <a:pt x="5256" y="0"/>
                    <a:pt x="11740" y="0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952492" cy="917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88011" y="2290992"/>
            <a:ext cx="9569411" cy="374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b="true" sz="274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Definition:</a:t>
            </a:r>
            <a:r>
              <a:rPr lang="en-US" sz="27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 numerical value (0 to 255) used by routers to measure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sz="27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trustworthiness of a routing source.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b="true" sz="274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Rule:</a:t>
            </a:r>
            <a:r>
              <a:rPr lang="en-US" sz="27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The lower the AD value, the more trusted the route.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b="true" sz="274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Common AD Values: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sz="27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Directly Connected: 0                         EIGRP: 90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sz="27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Static Route: 1                                      OSPF: 110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sz="27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RIP: 120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sz="27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</a:t>
            </a:r>
          </a:p>
          <a:p>
            <a:pPr algn="l">
              <a:lnSpc>
                <a:spcPts val="329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4082942" y="6081942"/>
            <a:ext cx="3176358" cy="3176358"/>
            <a:chOff x="0" y="0"/>
            <a:chExt cx="3200400" cy="3200400"/>
          </a:xfrm>
        </p:grpSpPr>
        <p:sp>
          <p:nvSpPr>
            <p:cNvPr name="Freeform 11" id="11" descr="/home/claude/assets/chibi_senku_spring.png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16586" y="5569767"/>
            <a:ext cx="387405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297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Autonomous System (AS)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57275" y="5533302"/>
            <a:ext cx="634906" cy="634906"/>
            <a:chOff x="0" y="0"/>
            <a:chExt cx="1170432" cy="1170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03353" y="6284142"/>
            <a:ext cx="11184604" cy="3488372"/>
            <a:chOff x="0" y="0"/>
            <a:chExt cx="2945739" cy="9187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45739" cy="918748"/>
            </a:xfrm>
            <a:custGeom>
              <a:avLst/>
              <a:gdLst/>
              <a:ahLst/>
              <a:cxnLst/>
              <a:rect r="r" b="b" t="t" l="l"/>
              <a:pathLst>
                <a:path h="918748" w="2945739">
                  <a:moveTo>
                    <a:pt x="11767" y="0"/>
                  </a:moveTo>
                  <a:lnTo>
                    <a:pt x="2933972" y="0"/>
                  </a:lnTo>
                  <a:cubicBezTo>
                    <a:pt x="2940471" y="0"/>
                    <a:pt x="2945739" y="5268"/>
                    <a:pt x="2945739" y="11767"/>
                  </a:cubicBezTo>
                  <a:lnTo>
                    <a:pt x="2945739" y="906981"/>
                  </a:lnTo>
                  <a:cubicBezTo>
                    <a:pt x="2945739" y="913480"/>
                    <a:pt x="2940471" y="918748"/>
                    <a:pt x="2933972" y="918748"/>
                  </a:cubicBezTo>
                  <a:lnTo>
                    <a:pt x="11767" y="918748"/>
                  </a:lnTo>
                  <a:cubicBezTo>
                    <a:pt x="5268" y="918748"/>
                    <a:pt x="0" y="913480"/>
                    <a:pt x="0" y="906981"/>
                  </a:cubicBezTo>
                  <a:lnTo>
                    <a:pt x="0" y="11767"/>
                  </a:lnTo>
                  <a:cubicBezTo>
                    <a:pt x="0" y="5268"/>
                    <a:pt x="5268" y="0"/>
                    <a:pt x="11767" y="0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945739" cy="975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93719" indent="-296860" lvl="1">
                <a:lnSpc>
                  <a:spcPts val="3299"/>
                </a:lnSpc>
                <a:buFont typeface="Arial"/>
                <a:buChar char="•"/>
              </a:pPr>
              <a:r>
                <a:rPr lang="en-US" sz="2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Definition: A collection of networks under a single administrative domain (e.g., a company, university, or ISP).</a:t>
              </a:r>
            </a:p>
            <a:p>
              <a:pPr algn="l" marL="593719" indent="-296860" lvl="1">
                <a:lnSpc>
                  <a:spcPts val="3299"/>
                </a:lnSpc>
                <a:buFont typeface="Arial"/>
                <a:buChar char="•"/>
              </a:pPr>
              <a:r>
                <a:rPr lang="en-US" sz="2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Protocol Classification:</a:t>
              </a:r>
            </a:p>
            <a:p>
              <a:pPr algn="l" marL="1187438" indent="-395813" lvl="2">
                <a:lnSpc>
                  <a:spcPts val="3299"/>
                </a:lnSpc>
                <a:buFont typeface="Arial"/>
                <a:buChar char="⚬"/>
              </a:pPr>
              <a:r>
                <a:rPr lang="en-US" sz="2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IGP (Interior Gateway Protocols): Used within an AS (OSPF, EIGRP, RIP).</a:t>
              </a:r>
            </a:p>
            <a:p>
              <a:pPr algn="l" marL="1187438" indent="-395813" lvl="2">
                <a:lnSpc>
                  <a:spcPts val="3299"/>
                </a:lnSpc>
                <a:buFont typeface="Arial"/>
                <a:buChar char="⚬"/>
              </a:pPr>
              <a:r>
                <a:rPr lang="en-US" sz="27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EGP (Exterior Gateway Protocols): Used between different AS across the Internet (BGP).</a:t>
              </a:r>
            </a:p>
            <a:p>
              <a:pPr algn="l">
                <a:lnSpc>
                  <a:spcPts val="329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3" id="3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5" id="5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rot="4479540">
            <a:off x="20650" y="10254548"/>
            <a:ext cx="7719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9915480">
            <a:off x="-10849" y="10282923"/>
            <a:ext cx="8024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554" y="10183606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48006" y="10238994"/>
            <a:ext cx="96012" cy="96012"/>
            <a:chOff x="0" y="0"/>
            <a:chExt cx="128016" cy="12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00602" y="7718222"/>
            <a:ext cx="96012" cy="96012"/>
            <a:chOff x="0" y="0"/>
            <a:chExt cx="128016" cy="128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754380"/>
            <a:ext cx="192024" cy="192024"/>
            <a:chOff x="0" y="0"/>
            <a:chExt cx="256032" cy="256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1168" y="0"/>
                  </a:lnTo>
                  <a:cubicBezTo>
                    <a:pt x="231521" y="0"/>
                    <a:pt x="256032" y="24511"/>
                    <a:pt x="256032" y="54864"/>
                  </a:cubicBezTo>
                  <a:lnTo>
                    <a:pt x="256032" y="201168"/>
                  </a:lnTo>
                  <a:cubicBezTo>
                    <a:pt x="256032" y="231521"/>
                    <a:pt x="231521" y="256032"/>
                    <a:pt x="201168" y="256032"/>
                  </a:cubicBezTo>
                  <a:lnTo>
                    <a:pt x="54864" y="256032"/>
                  </a:lnTo>
                  <a:cubicBezTo>
                    <a:pt x="24511" y="256032"/>
                    <a:pt x="0" y="231521"/>
                    <a:pt x="0" y="201168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739983" y="694256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</a:blip>
            <a:stretch>
              <a:fillRect l="-6" t="0" r="-6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16736" y="672084"/>
            <a:ext cx="6858000" cy="384048"/>
            <a:chOff x="0" y="0"/>
            <a:chExt cx="91440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2A73D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FIELD LOG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44802" y="8983980"/>
            <a:ext cx="123444" cy="178308"/>
            <a:chOff x="0" y="0"/>
            <a:chExt cx="164592" cy="2377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AutoShape 22" id="22"/>
          <p:cNvSpPr/>
          <p:nvPr/>
        </p:nvSpPr>
        <p:spPr>
          <a:xfrm rot="2880">
            <a:off x="678656" y="9706166"/>
            <a:ext cx="169302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4721383" y="9765792"/>
            <a:ext cx="2880360" cy="411480"/>
            <a:chOff x="0" y="0"/>
            <a:chExt cx="384048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40480" cy="548640"/>
            </a:xfrm>
            <a:custGeom>
              <a:avLst/>
              <a:gdLst/>
              <a:ahLst/>
              <a:cxnLst/>
              <a:rect r="r" b="b" t="t" l="l"/>
              <a:pathLst>
                <a:path h="5486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8404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F2A73D"/>
                  </a:solidFill>
                  <a:latin typeface="Consolas"/>
                  <a:ea typeface="Consolas"/>
                  <a:cs typeface="Consolas"/>
                  <a:sym typeface="Consolas"/>
                </a:rPr>
                <a:t>GALLERY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86625" y="2342832"/>
            <a:ext cx="9114750" cy="6288485"/>
            <a:chOff x="0" y="0"/>
            <a:chExt cx="9801798" cy="67624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01798" cy="6762496"/>
            </a:xfrm>
            <a:custGeom>
              <a:avLst/>
              <a:gdLst/>
              <a:ahLst/>
              <a:cxnLst/>
              <a:rect r="r" b="b" t="t" l="l"/>
              <a:pathLst>
                <a:path h="6762496" w="9801798">
                  <a:moveTo>
                    <a:pt x="0" y="147447"/>
                  </a:moveTo>
                  <a:cubicBezTo>
                    <a:pt x="0" y="66040"/>
                    <a:pt x="94444" y="0"/>
                    <a:pt x="210864" y="0"/>
                  </a:cubicBezTo>
                  <a:lnTo>
                    <a:pt x="9590935" y="0"/>
                  </a:lnTo>
                  <a:cubicBezTo>
                    <a:pt x="9707354" y="0"/>
                    <a:pt x="9801798" y="66040"/>
                    <a:pt x="9801798" y="147447"/>
                  </a:cubicBezTo>
                  <a:lnTo>
                    <a:pt x="9801798" y="6615049"/>
                  </a:lnTo>
                  <a:cubicBezTo>
                    <a:pt x="9801798" y="6696456"/>
                    <a:pt x="9707354" y="6762496"/>
                    <a:pt x="9590935" y="6762496"/>
                  </a:cubicBezTo>
                  <a:lnTo>
                    <a:pt x="210864" y="6762496"/>
                  </a:lnTo>
                  <a:cubicBezTo>
                    <a:pt x="94444" y="6762496"/>
                    <a:pt x="0" y="6696456"/>
                    <a:pt x="0" y="6615049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74967" y="7551706"/>
            <a:ext cx="1545250" cy="2159222"/>
            <a:chOff x="0" y="0"/>
            <a:chExt cx="2060334" cy="28789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60321" cy="2878963"/>
            </a:xfrm>
            <a:custGeom>
              <a:avLst/>
              <a:gdLst/>
              <a:ahLst/>
              <a:cxnLst/>
              <a:rect r="r" b="b" t="t" l="l"/>
              <a:pathLst>
                <a:path h="2878963" w="2060321">
                  <a:moveTo>
                    <a:pt x="0" y="0"/>
                  </a:moveTo>
                  <a:lnTo>
                    <a:pt x="2060321" y="0"/>
                  </a:lnTo>
                  <a:lnTo>
                    <a:pt x="2060321" y="2878963"/>
                  </a:lnTo>
                  <a:lnTo>
                    <a:pt x="0" y="2878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1954" t="0" r="-13538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sp>
        <p:nvSpPr>
          <p:cNvPr name="AutoShape 32" id="32"/>
          <p:cNvSpPr/>
          <p:nvPr/>
        </p:nvSpPr>
        <p:spPr>
          <a:xfrm>
            <a:off x="12778431" y="4929139"/>
            <a:ext cx="1662111" cy="20424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4383017" y="4890659"/>
            <a:ext cx="96012" cy="96012"/>
            <a:chOff x="0" y="0"/>
            <a:chExt cx="128016" cy="1280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133715" y="8109547"/>
            <a:ext cx="96012" cy="96012"/>
            <a:chOff x="0" y="0"/>
            <a:chExt cx="128016" cy="1280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897975" y="4561332"/>
            <a:ext cx="2918460" cy="1409700"/>
            <a:chOff x="0" y="0"/>
            <a:chExt cx="3891280" cy="187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91280" cy="1879600"/>
            </a:xfrm>
            <a:custGeom>
              <a:avLst/>
              <a:gdLst/>
              <a:ahLst/>
              <a:cxnLst/>
              <a:rect r="r" b="b" t="t" l="l"/>
              <a:pathLst>
                <a:path h="1879600" w="38912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3703320" y="0"/>
                  </a:lnTo>
                  <a:cubicBezTo>
                    <a:pt x="3807079" y="0"/>
                    <a:pt x="3891280" y="84201"/>
                    <a:pt x="3891280" y="187960"/>
                  </a:cubicBezTo>
                  <a:lnTo>
                    <a:pt x="3891280" y="1691640"/>
                  </a:lnTo>
                  <a:cubicBezTo>
                    <a:pt x="3891280" y="1795399"/>
                    <a:pt x="3807079" y="1879600"/>
                    <a:pt x="3703320" y="1879600"/>
                  </a:cubicBezTo>
                  <a:lnTo>
                    <a:pt x="187960" y="1879600"/>
                  </a:lnTo>
                  <a:cubicBezTo>
                    <a:pt x="84201" y="1879600"/>
                    <a:pt x="0" y="1795399"/>
                    <a:pt x="0" y="1691640"/>
                  </a:cubicBezTo>
                  <a:close/>
                </a:path>
              </a:pathLst>
            </a:custGeom>
            <a:solidFill>
              <a:srgbClr val="F2A73D"/>
            </a:solidFill>
            <a:ln w="38100" cap="sq">
              <a:solidFill>
                <a:srgbClr val="F2FFFA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2897975" y="4599432"/>
            <a:ext cx="2880360" cy="1371600"/>
            <a:chOff x="0" y="0"/>
            <a:chExt cx="384048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40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38404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39"/>
                </a:lnSpc>
              </a:pPr>
              <a:r>
                <a:rPr lang="en-US" sz="2449" b="true">
                  <a:solidFill>
                    <a:srgbClr val="00142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Dynamic Route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281612" y="1190625"/>
            <a:ext cx="5103495" cy="2154555"/>
            <a:chOff x="0" y="0"/>
            <a:chExt cx="6804660" cy="28727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04660" cy="2872740"/>
            </a:xfrm>
            <a:custGeom>
              <a:avLst/>
              <a:gdLst/>
              <a:ahLst/>
              <a:cxnLst/>
              <a:rect r="r" b="b" t="t" l="l"/>
              <a:pathLst>
                <a:path h="2872740" w="680466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637909" y="0"/>
                  </a:lnTo>
                  <a:cubicBezTo>
                    <a:pt x="6729984" y="0"/>
                    <a:pt x="6804660" y="74676"/>
                    <a:pt x="6804660" y="166751"/>
                  </a:cubicBezTo>
                  <a:lnTo>
                    <a:pt x="6804660" y="2705989"/>
                  </a:lnTo>
                  <a:cubicBezTo>
                    <a:pt x="6804660" y="2798064"/>
                    <a:pt x="6729984" y="2872740"/>
                    <a:pt x="6637909" y="2872740"/>
                  </a:cubicBezTo>
                  <a:lnTo>
                    <a:pt x="166751" y="2872740"/>
                  </a:lnTo>
                  <a:cubicBezTo>
                    <a:pt x="74676" y="2872740"/>
                    <a:pt x="0" y="2798064"/>
                    <a:pt x="0" y="2705989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291709" y="1233297"/>
            <a:ext cx="123444" cy="2125980"/>
            <a:chOff x="0" y="0"/>
            <a:chExt cx="164592" cy="2834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538597" y="1359419"/>
            <a:ext cx="4389120" cy="685800"/>
            <a:chOff x="0" y="0"/>
            <a:chExt cx="585216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58521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</a:t>
              </a:r>
              <a:r>
                <a:rPr lang="en-US" b="true" sz="25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erior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460492" y="1979127"/>
            <a:ext cx="4389120" cy="1500903"/>
            <a:chOff x="0" y="0"/>
            <a:chExt cx="5852160" cy="200120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52160" cy="2001205"/>
            </a:xfrm>
            <a:custGeom>
              <a:avLst/>
              <a:gdLst/>
              <a:ahLst/>
              <a:cxnLst/>
              <a:rect r="r" b="b" t="t" l="l"/>
              <a:pathLst>
                <a:path h="200120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001205"/>
                  </a:lnTo>
                  <a:lnTo>
                    <a:pt x="0" y="20012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26" r="0" b="646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5852160" cy="204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99414" indent="-199707" lvl="1">
                <a:lnSpc>
                  <a:spcPts val="2219"/>
                </a:lnSpc>
                <a:buFont typeface="Arial"/>
                <a:buChar char="•"/>
              </a:pPr>
              <a:r>
                <a:rPr lang="en-US" sz="18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</a:t>
              </a:r>
              <a:r>
                <a:rPr lang="en-US" sz="18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sed</a:t>
              </a:r>
              <a:r>
                <a:rPr lang="en-US" sz="18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between different Autonomous Systems (AS).</a:t>
              </a:r>
            </a:p>
            <a:p>
              <a:pPr algn="l" marL="399414" indent="-199707" lvl="1">
                <a:lnSpc>
                  <a:spcPts val="2219"/>
                </a:lnSpc>
                <a:buFont typeface="Arial"/>
                <a:buChar char="•"/>
              </a:pPr>
              <a:r>
                <a:rPr lang="en-US" sz="18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</a:t>
              </a:r>
              <a:r>
                <a:rPr lang="en-US" sz="18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mple: BGP (Border Gateway Protocol)</a:t>
              </a:r>
            </a:p>
            <a:p>
              <a:pPr algn="l">
                <a:lnSpc>
                  <a:spcPts val="2459"/>
                </a:lnSpc>
              </a:pPr>
            </a:p>
            <a:p>
              <a:pPr algn="l">
                <a:lnSpc>
                  <a:spcPts val="221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676413" y="1748733"/>
            <a:ext cx="5103495" cy="2154555"/>
            <a:chOff x="0" y="0"/>
            <a:chExt cx="6804660" cy="28727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04660" cy="2872740"/>
            </a:xfrm>
            <a:custGeom>
              <a:avLst/>
              <a:gdLst/>
              <a:ahLst/>
              <a:cxnLst/>
              <a:rect r="r" b="b" t="t" l="l"/>
              <a:pathLst>
                <a:path h="2872740" w="680466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637909" y="0"/>
                  </a:lnTo>
                  <a:cubicBezTo>
                    <a:pt x="6729984" y="0"/>
                    <a:pt x="6804660" y="74676"/>
                    <a:pt x="6804660" y="166751"/>
                  </a:cubicBezTo>
                  <a:lnTo>
                    <a:pt x="6804660" y="2705989"/>
                  </a:lnTo>
                  <a:cubicBezTo>
                    <a:pt x="6804660" y="2798064"/>
                    <a:pt x="6729984" y="2872740"/>
                    <a:pt x="6637909" y="2872740"/>
                  </a:cubicBezTo>
                  <a:lnTo>
                    <a:pt x="166751" y="2872740"/>
                  </a:lnTo>
                  <a:cubicBezTo>
                    <a:pt x="74676" y="2872740"/>
                    <a:pt x="0" y="2798064"/>
                    <a:pt x="0" y="2705989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5438938" y="7228332"/>
            <a:ext cx="5076063" cy="2154555"/>
            <a:chOff x="0" y="0"/>
            <a:chExt cx="6768084" cy="28727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768084" cy="2872740"/>
            </a:xfrm>
            <a:custGeom>
              <a:avLst/>
              <a:gdLst/>
              <a:ahLst/>
              <a:cxnLst/>
              <a:rect r="r" b="b" t="t" l="l"/>
              <a:pathLst>
                <a:path h="2872740" w="676808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601333" y="0"/>
                  </a:lnTo>
                  <a:cubicBezTo>
                    <a:pt x="6693408" y="0"/>
                    <a:pt x="6768084" y="74676"/>
                    <a:pt x="6768084" y="166751"/>
                  </a:cubicBezTo>
                  <a:lnTo>
                    <a:pt x="6768084" y="2705989"/>
                  </a:lnTo>
                  <a:cubicBezTo>
                    <a:pt x="6768084" y="2798064"/>
                    <a:pt x="6693408" y="2872740"/>
                    <a:pt x="6601333" y="2872740"/>
                  </a:cubicBezTo>
                  <a:lnTo>
                    <a:pt x="166751" y="2872740"/>
                  </a:lnTo>
                  <a:cubicBezTo>
                    <a:pt x="74676" y="2872740"/>
                    <a:pt x="0" y="2798064"/>
                    <a:pt x="0" y="2705989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5415153" y="7242620"/>
            <a:ext cx="123444" cy="2125980"/>
            <a:chOff x="0" y="0"/>
            <a:chExt cx="164592" cy="2834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658612" y="7366325"/>
            <a:ext cx="4361688" cy="685800"/>
            <a:chOff x="0" y="0"/>
            <a:chExt cx="5815584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15584" cy="914400"/>
            </a:xfrm>
            <a:custGeom>
              <a:avLst/>
              <a:gdLst/>
              <a:ahLst/>
              <a:cxnLst/>
              <a:rect r="r" b="b" t="t" l="l"/>
              <a:pathLst>
                <a:path h="914400" w="5815584">
                  <a:moveTo>
                    <a:pt x="0" y="0"/>
                  </a:moveTo>
                  <a:lnTo>
                    <a:pt x="5815584" y="0"/>
                  </a:lnTo>
                  <a:lnTo>
                    <a:pt x="581558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924" r="0" b="-7392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5815584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  <a:r>
                <a:rPr lang="en-US" b="true" sz="23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nterior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739983" y="7709225"/>
            <a:ext cx="4361688" cy="1097280"/>
            <a:chOff x="0" y="0"/>
            <a:chExt cx="5815584" cy="1463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815584" cy="1463040"/>
            </a:xfrm>
            <a:custGeom>
              <a:avLst/>
              <a:gdLst/>
              <a:ahLst/>
              <a:cxnLst/>
              <a:rect r="r" b="b" t="t" l="l"/>
              <a:pathLst>
                <a:path h="1463040" w="5815584">
                  <a:moveTo>
                    <a:pt x="0" y="0"/>
                  </a:moveTo>
                  <a:lnTo>
                    <a:pt x="5815584" y="0"/>
                  </a:lnTo>
                  <a:lnTo>
                    <a:pt x="581558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453" r="0" b="-2745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81558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64182" indent="-232091" lvl="1">
                <a:lnSpc>
                  <a:spcPts val="2579"/>
                </a:lnSpc>
                <a:buFont typeface="Arial"/>
                <a:buChar char="•"/>
              </a:pPr>
              <a:r>
                <a:rPr lang="en-US" sz="21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Used within a single Autonomous System (AS).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703845" y="6631948"/>
            <a:ext cx="5076063" cy="2154555"/>
            <a:chOff x="0" y="0"/>
            <a:chExt cx="6768084" cy="28727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768084" cy="2872740"/>
            </a:xfrm>
            <a:custGeom>
              <a:avLst/>
              <a:gdLst/>
              <a:ahLst/>
              <a:cxnLst/>
              <a:rect r="r" b="b" t="t" l="l"/>
              <a:pathLst>
                <a:path h="2872740" w="6768084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601333" y="0"/>
                  </a:lnTo>
                  <a:cubicBezTo>
                    <a:pt x="6693408" y="0"/>
                    <a:pt x="6768084" y="74676"/>
                    <a:pt x="6768084" y="166751"/>
                  </a:cubicBezTo>
                  <a:lnTo>
                    <a:pt x="6768084" y="2705989"/>
                  </a:lnTo>
                  <a:cubicBezTo>
                    <a:pt x="6768084" y="2798064"/>
                    <a:pt x="6693408" y="2872740"/>
                    <a:pt x="6601333" y="2872740"/>
                  </a:cubicBezTo>
                  <a:lnTo>
                    <a:pt x="166751" y="2872740"/>
                  </a:lnTo>
                  <a:cubicBezTo>
                    <a:pt x="74676" y="2872740"/>
                    <a:pt x="0" y="2798064"/>
                    <a:pt x="0" y="2705989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1694320" y="6680525"/>
            <a:ext cx="123444" cy="2125980"/>
            <a:chOff x="0" y="0"/>
            <a:chExt cx="164592" cy="2834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00649E"/>
            </a:solidFill>
          </p:spPr>
        </p:sp>
      </p:grpSp>
      <p:sp>
        <p:nvSpPr>
          <p:cNvPr name="AutoShape 68" id="68"/>
          <p:cNvSpPr/>
          <p:nvPr/>
        </p:nvSpPr>
        <p:spPr>
          <a:xfrm>
            <a:off x="6106958" y="3878103"/>
            <a:ext cx="23814" cy="25185"/>
          </a:xfrm>
          <a:prstGeom prst="line">
            <a:avLst/>
          </a:prstGeom>
          <a:ln cap="rnd" w="9525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>
            <a:off x="6106958" y="8130063"/>
            <a:ext cx="23814" cy="25185"/>
          </a:xfrm>
          <a:prstGeom prst="line">
            <a:avLst/>
          </a:prstGeom>
          <a:ln cap="rnd" w="9525">
            <a:solidFill>
              <a:srgbClr val="0064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0" id="70"/>
          <p:cNvGrpSpPr/>
          <p:nvPr/>
        </p:nvGrpSpPr>
        <p:grpSpPr>
          <a:xfrm rot="0">
            <a:off x="11676413" y="4207955"/>
            <a:ext cx="5103495" cy="2154555"/>
            <a:chOff x="0" y="0"/>
            <a:chExt cx="6804660" cy="28727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04660" cy="2872740"/>
            </a:xfrm>
            <a:custGeom>
              <a:avLst/>
              <a:gdLst/>
              <a:ahLst/>
              <a:cxnLst/>
              <a:rect r="r" b="b" t="t" l="l"/>
              <a:pathLst>
                <a:path h="2872740" w="6804660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6637909" y="0"/>
                  </a:lnTo>
                  <a:cubicBezTo>
                    <a:pt x="6729984" y="0"/>
                    <a:pt x="6804660" y="74676"/>
                    <a:pt x="6804660" y="166751"/>
                  </a:cubicBezTo>
                  <a:lnTo>
                    <a:pt x="6804660" y="2705989"/>
                  </a:lnTo>
                  <a:cubicBezTo>
                    <a:pt x="6804660" y="2798064"/>
                    <a:pt x="6729984" y="2872740"/>
                    <a:pt x="6637909" y="2872740"/>
                  </a:cubicBezTo>
                  <a:lnTo>
                    <a:pt x="166751" y="2872740"/>
                  </a:lnTo>
                  <a:cubicBezTo>
                    <a:pt x="74676" y="2872740"/>
                    <a:pt x="0" y="2798064"/>
                    <a:pt x="0" y="2705989"/>
                  </a:cubicBezTo>
                  <a:close/>
                </a:path>
              </a:pathLst>
            </a:custGeom>
            <a:solidFill>
              <a:srgbClr val="00202F"/>
            </a:solidFill>
            <a:ln w="28575" cap="sq">
              <a:solidFill>
                <a:srgbClr val="00649E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694320" y="4203192"/>
            <a:ext cx="123444" cy="2125980"/>
            <a:chOff x="0" y="0"/>
            <a:chExt cx="164592" cy="2834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00649E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694320" y="1743837"/>
            <a:ext cx="123444" cy="2125980"/>
            <a:chOff x="0" y="0"/>
            <a:chExt cx="164592" cy="2834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64592" cy="2834640"/>
            </a:xfrm>
            <a:custGeom>
              <a:avLst/>
              <a:gdLst/>
              <a:ahLst/>
              <a:cxnLst/>
              <a:rect r="r" b="b" t="t" l="l"/>
              <a:pathLst>
                <a:path h="283464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00649E"/>
            </a:solidFill>
          </p:spPr>
        </p:sp>
      </p:grpSp>
      <p:sp>
        <p:nvSpPr>
          <p:cNvPr name="Freeform 76" id="76"/>
          <p:cNvSpPr/>
          <p:nvPr/>
        </p:nvSpPr>
        <p:spPr>
          <a:xfrm>
            <a:off x="10828937" y="5143500"/>
            <a:ext cx="809376" cy="1488448"/>
          </a:xfrm>
          <a:custGeom>
            <a:avLst/>
            <a:gdLst/>
            <a:ahLst/>
            <a:cxnLst/>
            <a:rect r="r" b="b" t="t" l="l"/>
            <a:pathLst>
              <a:path h="1488448" w="809376">
                <a:moveTo>
                  <a:pt x="40568" y="1488448"/>
                </a:moveTo>
                <a:lnTo>
                  <a:pt x="20284" y="1488448"/>
                </a:lnTo>
                <a:cubicBezTo>
                  <a:pt x="14904" y="1488448"/>
                  <a:pt x="9746" y="1486311"/>
                  <a:pt x="5941" y="1482507"/>
                </a:cubicBezTo>
                <a:cubicBezTo>
                  <a:pt x="2138" y="1478703"/>
                  <a:pt x="0" y="1473544"/>
                  <a:pt x="0" y="1468165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809377" y="0"/>
                </a:lnTo>
              </a:path>
            </a:pathLst>
          </a:custGeom>
          <a:ln cap="flat" w="38100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7" id="77"/>
          <p:cNvSpPr/>
          <p:nvPr/>
        </p:nvSpPr>
        <p:spPr>
          <a:xfrm>
            <a:off x="10772497" y="2932899"/>
            <a:ext cx="841564" cy="5277651"/>
          </a:xfrm>
          <a:custGeom>
            <a:avLst/>
            <a:gdLst/>
            <a:ahLst/>
            <a:cxnLst/>
            <a:rect r="r" b="b" t="t" l="l"/>
            <a:pathLst>
              <a:path h="5277651" w="841564">
                <a:moveTo>
                  <a:pt x="0" y="5277651"/>
                </a:moveTo>
                <a:lnTo>
                  <a:pt x="28220" y="5277651"/>
                </a:lnTo>
                <a:cubicBezTo>
                  <a:pt x="43806" y="5277651"/>
                  <a:pt x="56440" y="5265016"/>
                  <a:pt x="56440" y="5249431"/>
                </a:cubicBezTo>
                <a:lnTo>
                  <a:pt x="56440" y="228600"/>
                </a:lnTo>
                <a:cubicBezTo>
                  <a:pt x="56440" y="102348"/>
                  <a:pt x="158788" y="0"/>
                  <a:pt x="285040" y="0"/>
                </a:cubicBezTo>
                <a:lnTo>
                  <a:pt x="841565" y="0"/>
                </a:lnTo>
              </a:path>
            </a:pathLst>
          </a:custGeom>
          <a:ln cap="flat" w="38100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8" id="78"/>
          <p:cNvSpPr/>
          <p:nvPr/>
        </p:nvSpPr>
        <p:spPr>
          <a:xfrm>
            <a:off x="10828937" y="6329172"/>
            <a:ext cx="847476" cy="1222489"/>
          </a:xfrm>
          <a:custGeom>
            <a:avLst/>
            <a:gdLst/>
            <a:ahLst/>
            <a:cxnLst/>
            <a:rect r="r" b="b" t="t" l="l"/>
            <a:pathLst>
              <a:path h="1222489" w="847476">
                <a:moveTo>
                  <a:pt x="40568" y="0"/>
                </a:moveTo>
                <a:lnTo>
                  <a:pt x="20284" y="0"/>
                </a:lnTo>
                <a:cubicBezTo>
                  <a:pt x="14904" y="0"/>
                  <a:pt x="9746" y="2137"/>
                  <a:pt x="5941" y="5941"/>
                </a:cubicBezTo>
                <a:cubicBezTo>
                  <a:pt x="2138" y="9745"/>
                  <a:pt x="0" y="14904"/>
                  <a:pt x="0" y="20284"/>
                </a:cubicBezTo>
                <a:lnTo>
                  <a:pt x="0" y="993890"/>
                </a:lnTo>
                <a:cubicBezTo>
                  <a:pt x="0" y="1120142"/>
                  <a:pt x="102348" y="1222490"/>
                  <a:pt x="228600" y="1222490"/>
                </a:cubicBezTo>
                <a:lnTo>
                  <a:pt x="847477" y="1222490"/>
                </a:lnTo>
              </a:path>
            </a:pathLst>
          </a:custGeom>
          <a:ln cap="flat" w="38100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9" id="79"/>
          <p:cNvGrpSpPr/>
          <p:nvPr/>
        </p:nvGrpSpPr>
        <p:grpSpPr>
          <a:xfrm rot="0">
            <a:off x="12047317" y="1845755"/>
            <a:ext cx="4389120" cy="685800"/>
            <a:chOff x="0" y="0"/>
            <a:chExt cx="5852160" cy="914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58521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Distanc</a:t>
              </a:r>
              <a:r>
                <a:rPr lang="en-US" b="true" sz="25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 Vector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980469" y="4300871"/>
            <a:ext cx="4389120" cy="685800"/>
            <a:chOff x="0" y="0"/>
            <a:chExt cx="5852160" cy="914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58521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Link-Stat</a:t>
              </a:r>
              <a:r>
                <a:rPr lang="en-US" b="true" sz="25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083589" y="6755987"/>
            <a:ext cx="4389120" cy="685800"/>
            <a:chOff x="0" y="0"/>
            <a:chExt cx="5852160" cy="9144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58521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Hyb</a:t>
              </a:r>
              <a:r>
                <a:rPr lang="en-US" b="true" sz="254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rid 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980469" y="2430826"/>
            <a:ext cx="4389120" cy="1744962"/>
            <a:chOff x="0" y="0"/>
            <a:chExt cx="5852160" cy="23266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852160" cy="2326616"/>
            </a:xfrm>
            <a:custGeom>
              <a:avLst/>
              <a:gdLst/>
              <a:ahLst/>
              <a:cxnLst/>
              <a:rect r="r" b="b" t="t" l="l"/>
              <a:pathLst>
                <a:path h="23266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26616"/>
                  </a:lnTo>
                  <a:lnTo>
                    <a:pt x="0" y="2326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569" r="0" b="1954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5852160" cy="23837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7361" indent="-253681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23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etric: Hop Count</a:t>
              </a:r>
            </a:p>
            <a:p>
              <a:pPr algn="l" marL="507361" indent="-253681" lvl="1">
                <a:lnSpc>
                  <a:spcPts val="2819"/>
                </a:lnSpc>
                <a:buFont typeface="Arial"/>
                <a:buChar char="•"/>
              </a:pPr>
              <a:r>
                <a:rPr lang="en-US" sz="23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</a:t>
              </a:r>
              <a:r>
                <a:rPr lang="en-US" sz="23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mples: RIP, RIPv2</a:t>
              </a:r>
            </a:p>
            <a:p>
              <a:pPr algn="l">
                <a:lnSpc>
                  <a:spcPts val="3539"/>
                </a:lnSpc>
              </a:pPr>
            </a:p>
            <a:p>
              <a:pPr algn="l">
                <a:lnSpc>
                  <a:spcPts val="2819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772443" y="7286435"/>
            <a:ext cx="4389120" cy="1500903"/>
            <a:chOff x="0" y="0"/>
            <a:chExt cx="5852160" cy="200120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852160" cy="2001205"/>
            </a:xfrm>
            <a:custGeom>
              <a:avLst/>
              <a:gdLst/>
              <a:ahLst/>
              <a:cxnLst/>
              <a:rect r="r" b="b" t="t" l="l"/>
              <a:pathLst>
                <a:path h="200120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001205"/>
                  </a:lnTo>
                  <a:lnTo>
                    <a:pt x="0" y="20012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26" r="0" b="646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5852160" cy="204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99414" indent="-199707" lvl="1">
                <a:lnSpc>
                  <a:spcPts val="2219"/>
                </a:lnSpc>
                <a:buFont typeface="Arial"/>
                <a:buChar char="•"/>
              </a:pPr>
              <a:r>
                <a:rPr lang="en-US" sz="18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18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etric: Composite Metric (Bandwidth + Delay)</a:t>
              </a:r>
            </a:p>
            <a:p>
              <a:pPr algn="l" marL="399414" indent="-199707" lvl="1">
                <a:lnSpc>
                  <a:spcPts val="2219"/>
                </a:lnSpc>
                <a:buFont typeface="Arial"/>
                <a:buChar char="•"/>
              </a:pPr>
              <a:r>
                <a:rPr lang="en-US" sz="18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</a:t>
              </a:r>
              <a:r>
                <a:rPr lang="en-US" sz="18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mples: EIGRP</a:t>
              </a:r>
            </a:p>
            <a:p>
              <a:pPr algn="l">
                <a:lnSpc>
                  <a:spcPts val="2459"/>
                </a:lnSpc>
              </a:pPr>
            </a:p>
            <a:p>
              <a:pPr algn="l">
                <a:lnSpc>
                  <a:spcPts val="2219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083589" y="4653416"/>
            <a:ext cx="4389120" cy="1500903"/>
            <a:chOff x="0" y="0"/>
            <a:chExt cx="5852160" cy="200120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852160" cy="2001205"/>
            </a:xfrm>
            <a:custGeom>
              <a:avLst/>
              <a:gdLst/>
              <a:ahLst/>
              <a:cxnLst/>
              <a:rect r="r" b="b" t="t" l="l"/>
              <a:pathLst>
                <a:path h="200120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001205"/>
                  </a:lnTo>
                  <a:lnTo>
                    <a:pt x="0" y="20012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26" r="0" b="646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5852160" cy="203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</a:p>
            <a:p>
              <a:pPr algn="l" marL="464182" indent="-232091" lvl="1">
                <a:lnSpc>
                  <a:spcPts val="2579"/>
                </a:lnSpc>
                <a:buFont typeface="Arial"/>
                <a:buChar char="•"/>
              </a:pPr>
              <a:r>
                <a:rPr lang="en-US" sz="21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Metric: Bandwidth &amp; Speed </a:t>
              </a:r>
            </a:p>
            <a:p>
              <a:pPr algn="l" marL="464182" indent="-232091" lvl="1">
                <a:lnSpc>
                  <a:spcPts val="2579"/>
                </a:lnSpc>
                <a:buFont typeface="Arial"/>
                <a:buChar char="•"/>
              </a:pPr>
              <a:r>
                <a:rPr lang="en-US" sz="21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</a:t>
              </a:r>
              <a:r>
                <a:rPr lang="en-US" sz="21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mples: OSPF</a:t>
              </a:r>
            </a:p>
            <a:p>
              <a:pPr algn="l">
                <a:lnSpc>
                  <a:spcPts val="257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3" id="3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5" id="5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rot="4479540">
            <a:off x="20650" y="10254548"/>
            <a:ext cx="7719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9915480">
            <a:off x="-10849" y="10282923"/>
            <a:ext cx="8024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554" y="10183606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48006" y="10238994"/>
            <a:ext cx="96012" cy="96012"/>
            <a:chOff x="0" y="0"/>
            <a:chExt cx="128016" cy="12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00602" y="7718222"/>
            <a:ext cx="96012" cy="96012"/>
            <a:chOff x="0" y="0"/>
            <a:chExt cx="128016" cy="128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754380"/>
            <a:ext cx="192024" cy="192024"/>
            <a:chOff x="0" y="0"/>
            <a:chExt cx="256032" cy="256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1168" y="0"/>
                  </a:lnTo>
                  <a:cubicBezTo>
                    <a:pt x="231521" y="0"/>
                    <a:pt x="256032" y="24511"/>
                    <a:pt x="256032" y="54864"/>
                  </a:cubicBezTo>
                  <a:lnTo>
                    <a:pt x="256032" y="201168"/>
                  </a:lnTo>
                  <a:cubicBezTo>
                    <a:pt x="256032" y="231521"/>
                    <a:pt x="231521" y="256032"/>
                    <a:pt x="201168" y="256032"/>
                  </a:cubicBezTo>
                  <a:lnTo>
                    <a:pt x="54864" y="256032"/>
                  </a:lnTo>
                  <a:cubicBezTo>
                    <a:pt x="24511" y="256032"/>
                    <a:pt x="0" y="231521"/>
                    <a:pt x="0" y="201168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739983" y="694256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</a:blip>
            <a:stretch>
              <a:fillRect l="-6" t="0" r="-6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16736" y="672084"/>
            <a:ext cx="6858000" cy="384048"/>
            <a:chOff x="0" y="0"/>
            <a:chExt cx="91440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2A73D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FIELD LOG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44802" y="8983980"/>
            <a:ext cx="123444" cy="178308"/>
            <a:chOff x="0" y="0"/>
            <a:chExt cx="164592" cy="2377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AutoShape 22" id="22"/>
          <p:cNvSpPr/>
          <p:nvPr/>
        </p:nvSpPr>
        <p:spPr>
          <a:xfrm rot="2880">
            <a:off x="678656" y="9706166"/>
            <a:ext cx="169302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4721383" y="9765792"/>
            <a:ext cx="2880360" cy="411480"/>
            <a:chOff x="0" y="0"/>
            <a:chExt cx="384048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40480" cy="548640"/>
            </a:xfrm>
            <a:custGeom>
              <a:avLst/>
              <a:gdLst/>
              <a:ahLst/>
              <a:cxnLst/>
              <a:rect r="r" b="b" t="t" l="l"/>
              <a:pathLst>
                <a:path h="5486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8404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F2A73D"/>
                  </a:solidFill>
                  <a:latin typeface="Consolas"/>
                  <a:ea typeface="Consolas"/>
                  <a:cs typeface="Consolas"/>
                  <a:sym typeface="Consolas"/>
                </a:rPr>
                <a:t>GALLERY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18224" y="3312033"/>
            <a:ext cx="5140452" cy="5071872"/>
            <a:chOff x="0" y="0"/>
            <a:chExt cx="6853936" cy="67624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53936" cy="6762496"/>
            </a:xfrm>
            <a:custGeom>
              <a:avLst/>
              <a:gdLst/>
              <a:ahLst/>
              <a:cxnLst/>
              <a:rect r="r" b="b" t="t" l="l"/>
              <a:pathLst>
                <a:path h="6762496" w="6853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06489" y="0"/>
                  </a:lnTo>
                  <a:cubicBezTo>
                    <a:pt x="6787896" y="0"/>
                    <a:pt x="6853936" y="66040"/>
                    <a:pt x="6853936" y="147447"/>
                  </a:cubicBezTo>
                  <a:lnTo>
                    <a:pt x="6853936" y="6615049"/>
                  </a:lnTo>
                  <a:cubicBezTo>
                    <a:pt x="6853936" y="6696456"/>
                    <a:pt x="6787896" y="6762496"/>
                    <a:pt x="6706489" y="6762496"/>
                  </a:cubicBezTo>
                  <a:lnTo>
                    <a:pt x="147447" y="6762496"/>
                  </a:lnTo>
                  <a:cubicBezTo>
                    <a:pt x="66040" y="6762496"/>
                    <a:pt x="0" y="6696456"/>
                    <a:pt x="0" y="6615049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577349" y="3312033"/>
            <a:ext cx="5140452" cy="5071872"/>
            <a:chOff x="0" y="0"/>
            <a:chExt cx="6853936" cy="67624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53936" cy="6762496"/>
            </a:xfrm>
            <a:custGeom>
              <a:avLst/>
              <a:gdLst/>
              <a:ahLst/>
              <a:cxnLst/>
              <a:rect r="r" b="b" t="t" l="l"/>
              <a:pathLst>
                <a:path h="6762496" w="6853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06489" y="0"/>
                  </a:lnTo>
                  <a:cubicBezTo>
                    <a:pt x="6787896" y="0"/>
                    <a:pt x="6853936" y="66040"/>
                    <a:pt x="6853936" y="147447"/>
                  </a:cubicBezTo>
                  <a:lnTo>
                    <a:pt x="6853936" y="6615049"/>
                  </a:lnTo>
                  <a:cubicBezTo>
                    <a:pt x="6853936" y="6696456"/>
                    <a:pt x="6787896" y="6762496"/>
                    <a:pt x="6706489" y="6762496"/>
                  </a:cubicBezTo>
                  <a:lnTo>
                    <a:pt x="147447" y="6762496"/>
                  </a:lnTo>
                  <a:cubicBezTo>
                    <a:pt x="66040" y="6762496"/>
                    <a:pt x="0" y="6696456"/>
                    <a:pt x="0" y="6615049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29324" y="3312033"/>
            <a:ext cx="5140452" cy="5071872"/>
            <a:chOff x="0" y="0"/>
            <a:chExt cx="6853936" cy="67624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53936" cy="6762496"/>
            </a:xfrm>
            <a:custGeom>
              <a:avLst/>
              <a:gdLst/>
              <a:ahLst/>
              <a:cxnLst/>
              <a:rect r="r" b="b" t="t" l="l"/>
              <a:pathLst>
                <a:path h="6762496" w="6853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06489" y="0"/>
                  </a:lnTo>
                  <a:cubicBezTo>
                    <a:pt x="6787896" y="0"/>
                    <a:pt x="6853936" y="66040"/>
                    <a:pt x="6853936" y="147447"/>
                  </a:cubicBezTo>
                  <a:lnTo>
                    <a:pt x="6853936" y="6615049"/>
                  </a:lnTo>
                  <a:cubicBezTo>
                    <a:pt x="6853936" y="6696456"/>
                    <a:pt x="6787896" y="6762496"/>
                    <a:pt x="6706489" y="6762496"/>
                  </a:cubicBezTo>
                  <a:lnTo>
                    <a:pt x="147447" y="6762496"/>
                  </a:lnTo>
                  <a:cubicBezTo>
                    <a:pt x="66040" y="6762496"/>
                    <a:pt x="0" y="6696456"/>
                    <a:pt x="0" y="6615049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501735" y="2763393"/>
            <a:ext cx="4023781" cy="548640"/>
            <a:chOff x="0" y="0"/>
            <a:chExt cx="5365041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5042" cy="731520"/>
            </a:xfrm>
            <a:custGeom>
              <a:avLst/>
              <a:gdLst/>
              <a:ahLst/>
              <a:cxnLst/>
              <a:rect r="r" b="b" t="t" l="l"/>
              <a:pathLst>
                <a:path h="731520" w="5365042">
                  <a:moveTo>
                    <a:pt x="0" y="0"/>
                  </a:moveTo>
                  <a:lnTo>
                    <a:pt x="5365042" y="0"/>
                  </a:lnTo>
                  <a:lnTo>
                    <a:pt x="536504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2790" r="-90889" b="-22279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5365041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9FD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RIP &amp;RIPv2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74967" y="7551706"/>
            <a:ext cx="1545250" cy="2159222"/>
            <a:chOff x="0" y="0"/>
            <a:chExt cx="2060334" cy="28789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60321" cy="2878963"/>
            </a:xfrm>
            <a:custGeom>
              <a:avLst/>
              <a:gdLst/>
              <a:ahLst/>
              <a:cxnLst/>
              <a:rect r="r" b="b" t="t" l="l"/>
              <a:pathLst>
                <a:path h="2878963" w="2060321">
                  <a:moveTo>
                    <a:pt x="0" y="0"/>
                  </a:moveTo>
                  <a:lnTo>
                    <a:pt x="2060321" y="0"/>
                  </a:lnTo>
                  <a:lnTo>
                    <a:pt x="2060321" y="2878963"/>
                  </a:lnTo>
                  <a:lnTo>
                    <a:pt x="0" y="2878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1954" t="0" r="-13538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135685" y="2763393"/>
            <a:ext cx="4023781" cy="548640"/>
            <a:chOff x="0" y="0"/>
            <a:chExt cx="5365041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65042" cy="731520"/>
            </a:xfrm>
            <a:custGeom>
              <a:avLst/>
              <a:gdLst/>
              <a:ahLst/>
              <a:cxnLst/>
              <a:rect r="r" b="b" t="t" l="l"/>
              <a:pathLst>
                <a:path h="731520" w="5365042">
                  <a:moveTo>
                    <a:pt x="0" y="0"/>
                  </a:moveTo>
                  <a:lnTo>
                    <a:pt x="5365042" y="0"/>
                  </a:lnTo>
                  <a:lnTo>
                    <a:pt x="536504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2790" r="-90889" b="-22279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5365041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9FD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EIGRP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841656" y="2763393"/>
            <a:ext cx="4023781" cy="548640"/>
            <a:chOff x="0" y="0"/>
            <a:chExt cx="5365041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65042" cy="731520"/>
            </a:xfrm>
            <a:custGeom>
              <a:avLst/>
              <a:gdLst/>
              <a:ahLst/>
              <a:cxnLst/>
              <a:rect r="r" b="b" t="t" l="l"/>
              <a:pathLst>
                <a:path h="731520" w="5365042">
                  <a:moveTo>
                    <a:pt x="0" y="0"/>
                  </a:moveTo>
                  <a:lnTo>
                    <a:pt x="5365042" y="0"/>
                  </a:lnTo>
                  <a:lnTo>
                    <a:pt x="536504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2790" r="-90889" b="-22279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5365041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9FD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OSPF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7001462" y="1157097"/>
            <a:ext cx="4978361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Routing protocols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8067" y="3734324"/>
            <a:ext cx="4380814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Administrative Distance (AD): 120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Subnetting (VLSM) Support: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RIPv1: No (Classful)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RIPv2: Yes (Classless)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Multicast IP: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RIPv1: Broadcast (255.255.255.255)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RIPv2: 224.0.0.9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Update Interval: Periodic every 30 seconds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688608" y="3734324"/>
            <a:ext cx="4470858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Administrative Distance (AD): 90 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Subnetting (VLSM) Support: Yes (Classless)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Multicast IP: 224.0.0.10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Update Interval: Triggered / Partial updates (Only when topology changes)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293139" y="3734324"/>
            <a:ext cx="5134609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Administrative Distance (AD): 110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Subnetting (VLSM) Support: Yes (Classless)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Multicast IP: 224.0.0.5 (All Routers) / 224.0.0.6 (DR/BDR)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Update Interval: Triggered / Partial updates (Refreshed every 30 minutes)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3" id="3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5" id="5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rot="4479540">
            <a:off x="20650" y="10254548"/>
            <a:ext cx="7719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9915480">
            <a:off x="-10849" y="10282923"/>
            <a:ext cx="8024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554" y="10183606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48006" y="10238994"/>
            <a:ext cx="96012" cy="96012"/>
            <a:chOff x="0" y="0"/>
            <a:chExt cx="128016" cy="128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00602" y="7718222"/>
            <a:ext cx="96012" cy="96012"/>
            <a:chOff x="0" y="0"/>
            <a:chExt cx="128016" cy="128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754380"/>
            <a:ext cx="192024" cy="192024"/>
            <a:chOff x="0" y="0"/>
            <a:chExt cx="256032" cy="256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1168" y="0"/>
                  </a:lnTo>
                  <a:cubicBezTo>
                    <a:pt x="231521" y="0"/>
                    <a:pt x="256032" y="24511"/>
                    <a:pt x="256032" y="54864"/>
                  </a:cubicBezTo>
                  <a:lnTo>
                    <a:pt x="256032" y="201168"/>
                  </a:lnTo>
                  <a:cubicBezTo>
                    <a:pt x="256032" y="231521"/>
                    <a:pt x="231521" y="256032"/>
                    <a:pt x="201168" y="256032"/>
                  </a:cubicBezTo>
                  <a:lnTo>
                    <a:pt x="54864" y="256032"/>
                  </a:lnTo>
                  <a:cubicBezTo>
                    <a:pt x="24511" y="256032"/>
                    <a:pt x="0" y="231521"/>
                    <a:pt x="0" y="201168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739983" y="694256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</a:blip>
            <a:stretch>
              <a:fillRect l="-6" t="0" r="-6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16736" y="672084"/>
            <a:ext cx="6858000" cy="384048"/>
            <a:chOff x="0" y="0"/>
            <a:chExt cx="91440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512064"/>
            </a:xfrm>
            <a:custGeom>
              <a:avLst/>
              <a:gdLst/>
              <a:ahLst/>
              <a:cxnLst/>
              <a:rect r="r" b="b" t="t" l="l"/>
              <a:pathLst>
                <a:path h="512064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2A73D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FIELD LOG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44802" y="8983980"/>
            <a:ext cx="123444" cy="178308"/>
            <a:chOff x="0" y="0"/>
            <a:chExt cx="164592" cy="2377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AutoShape 22" id="22"/>
          <p:cNvSpPr/>
          <p:nvPr/>
        </p:nvSpPr>
        <p:spPr>
          <a:xfrm rot="2880">
            <a:off x="678656" y="9706166"/>
            <a:ext cx="169302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4721383" y="9765792"/>
            <a:ext cx="2880360" cy="411480"/>
            <a:chOff x="0" y="0"/>
            <a:chExt cx="384048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40480" cy="548640"/>
            </a:xfrm>
            <a:custGeom>
              <a:avLst/>
              <a:gdLst/>
              <a:ahLst/>
              <a:cxnLst/>
              <a:rect r="r" b="b" t="t" l="l"/>
              <a:pathLst>
                <a:path h="5486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8404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F2A73D"/>
                  </a:solidFill>
                  <a:latin typeface="Consolas"/>
                  <a:ea typeface="Consolas"/>
                  <a:cs typeface="Consolas"/>
                  <a:sym typeface="Consolas"/>
                </a:rPr>
                <a:t>GALLERY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18224" y="3312033"/>
            <a:ext cx="5140452" cy="5071872"/>
            <a:chOff x="0" y="0"/>
            <a:chExt cx="6853936" cy="67624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53936" cy="6762496"/>
            </a:xfrm>
            <a:custGeom>
              <a:avLst/>
              <a:gdLst/>
              <a:ahLst/>
              <a:cxnLst/>
              <a:rect r="r" b="b" t="t" l="l"/>
              <a:pathLst>
                <a:path h="6762496" w="6853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06489" y="0"/>
                  </a:lnTo>
                  <a:cubicBezTo>
                    <a:pt x="6787896" y="0"/>
                    <a:pt x="6853936" y="66040"/>
                    <a:pt x="6853936" y="147447"/>
                  </a:cubicBezTo>
                  <a:lnTo>
                    <a:pt x="6853936" y="6615049"/>
                  </a:lnTo>
                  <a:cubicBezTo>
                    <a:pt x="6853936" y="6696456"/>
                    <a:pt x="6787896" y="6762496"/>
                    <a:pt x="6706489" y="6762496"/>
                  </a:cubicBezTo>
                  <a:lnTo>
                    <a:pt x="147447" y="6762496"/>
                  </a:lnTo>
                  <a:cubicBezTo>
                    <a:pt x="66040" y="6762496"/>
                    <a:pt x="0" y="6696456"/>
                    <a:pt x="0" y="6615049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577349" y="3312033"/>
            <a:ext cx="5140452" cy="5071872"/>
            <a:chOff x="0" y="0"/>
            <a:chExt cx="6853936" cy="67624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53936" cy="6762496"/>
            </a:xfrm>
            <a:custGeom>
              <a:avLst/>
              <a:gdLst/>
              <a:ahLst/>
              <a:cxnLst/>
              <a:rect r="r" b="b" t="t" l="l"/>
              <a:pathLst>
                <a:path h="6762496" w="6853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06489" y="0"/>
                  </a:lnTo>
                  <a:cubicBezTo>
                    <a:pt x="6787896" y="0"/>
                    <a:pt x="6853936" y="66040"/>
                    <a:pt x="6853936" y="147447"/>
                  </a:cubicBezTo>
                  <a:lnTo>
                    <a:pt x="6853936" y="6615049"/>
                  </a:lnTo>
                  <a:cubicBezTo>
                    <a:pt x="6853936" y="6696456"/>
                    <a:pt x="6787896" y="6762496"/>
                    <a:pt x="6706489" y="6762496"/>
                  </a:cubicBezTo>
                  <a:lnTo>
                    <a:pt x="147447" y="6762496"/>
                  </a:lnTo>
                  <a:cubicBezTo>
                    <a:pt x="66040" y="6762496"/>
                    <a:pt x="0" y="6696456"/>
                    <a:pt x="0" y="6615049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29324" y="3312033"/>
            <a:ext cx="5140452" cy="5071872"/>
            <a:chOff x="0" y="0"/>
            <a:chExt cx="6853936" cy="67624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53936" cy="6762496"/>
            </a:xfrm>
            <a:custGeom>
              <a:avLst/>
              <a:gdLst/>
              <a:ahLst/>
              <a:cxnLst/>
              <a:rect r="r" b="b" t="t" l="l"/>
              <a:pathLst>
                <a:path h="6762496" w="6853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06489" y="0"/>
                  </a:lnTo>
                  <a:cubicBezTo>
                    <a:pt x="6787896" y="0"/>
                    <a:pt x="6853936" y="66040"/>
                    <a:pt x="6853936" y="147447"/>
                  </a:cubicBezTo>
                  <a:lnTo>
                    <a:pt x="6853936" y="6615049"/>
                  </a:lnTo>
                  <a:cubicBezTo>
                    <a:pt x="6853936" y="6696456"/>
                    <a:pt x="6787896" y="6762496"/>
                    <a:pt x="6706489" y="6762496"/>
                  </a:cubicBezTo>
                  <a:lnTo>
                    <a:pt x="147447" y="6762496"/>
                  </a:lnTo>
                  <a:cubicBezTo>
                    <a:pt x="66040" y="6762496"/>
                    <a:pt x="0" y="6696456"/>
                    <a:pt x="0" y="6615049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501735" y="2744343"/>
            <a:ext cx="4023781" cy="842218"/>
            <a:chOff x="0" y="0"/>
            <a:chExt cx="5365041" cy="11229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5042" cy="1122957"/>
            </a:xfrm>
            <a:custGeom>
              <a:avLst/>
              <a:gdLst/>
              <a:ahLst/>
              <a:cxnLst/>
              <a:rect r="r" b="b" t="t" l="l"/>
              <a:pathLst>
                <a:path h="1122957" w="5365042">
                  <a:moveTo>
                    <a:pt x="0" y="0"/>
                  </a:moveTo>
                  <a:lnTo>
                    <a:pt x="5365042" y="0"/>
                  </a:lnTo>
                  <a:lnTo>
                    <a:pt x="5365042" y="1122957"/>
                  </a:lnTo>
                  <a:lnTo>
                    <a:pt x="0" y="11229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5130" r="-90889" b="-11027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5365041" cy="118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9FD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OSPF Process &amp; LSA</a:t>
              </a:r>
            </a:p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74967" y="7551706"/>
            <a:ext cx="1545250" cy="2159222"/>
            <a:chOff x="0" y="0"/>
            <a:chExt cx="2060334" cy="28789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60321" cy="2878963"/>
            </a:xfrm>
            <a:custGeom>
              <a:avLst/>
              <a:gdLst/>
              <a:ahLst/>
              <a:cxnLst/>
              <a:rect r="r" b="b" t="t" l="l"/>
              <a:pathLst>
                <a:path h="2878963" w="2060321">
                  <a:moveTo>
                    <a:pt x="0" y="0"/>
                  </a:moveTo>
                  <a:lnTo>
                    <a:pt x="2060321" y="0"/>
                  </a:lnTo>
                  <a:lnTo>
                    <a:pt x="2060321" y="2878963"/>
                  </a:lnTo>
                  <a:lnTo>
                    <a:pt x="0" y="2878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1954" t="0" r="-13538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135685" y="2744343"/>
            <a:ext cx="4023781" cy="842218"/>
            <a:chOff x="0" y="0"/>
            <a:chExt cx="5365041" cy="11229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65042" cy="1122957"/>
            </a:xfrm>
            <a:custGeom>
              <a:avLst/>
              <a:gdLst/>
              <a:ahLst/>
              <a:cxnLst/>
              <a:rect r="r" b="b" t="t" l="l"/>
              <a:pathLst>
                <a:path h="1122957" w="5365042">
                  <a:moveTo>
                    <a:pt x="0" y="0"/>
                  </a:moveTo>
                  <a:lnTo>
                    <a:pt x="5365042" y="0"/>
                  </a:lnTo>
                  <a:lnTo>
                    <a:pt x="5365042" y="1122957"/>
                  </a:lnTo>
                  <a:lnTo>
                    <a:pt x="0" y="11229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5130" r="-90889" b="-11027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5365041" cy="118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9FD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 &amp; BDR Election</a:t>
              </a:r>
            </a:p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841656" y="2744343"/>
            <a:ext cx="4023781" cy="842218"/>
            <a:chOff x="0" y="0"/>
            <a:chExt cx="5365041" cy="112295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65042" cy="1122957"/>
            </a:xfrm>
            <a:custGeom>
              <a:avLst/>
              <a:gdLst/>
              <a:ahLst/>
              <a:cxnLst/>
              <a:rect r="r" b="b" t="t" l="l"/>
              <a:pathLst>
                <a:path h="1122957" w="5365042">
                  <a:moveTo>
                    <a:pt x="0" y="0"/>
                  </a:moveTo>
                  <a:lnTo>
                    <a:pt x="5365042" y="0"/>
                  </a:lnTo>
                  <a:lnTo>
                    <a:pt x="5365042" y="1122957"/>
                  </a:lnTo>
                  <a:lnTo>
                    <a:pt x="0" y="112295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5130" r="-90889" b="-11027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5365041" cy="11801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9FD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Router ID Selection</a:t>
              </a:r>
            </a:p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4944062" y="1157097"/>
            <a:ext cx="9093161" cy="167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OSPF Operation &amp; Core Concepts</a:t>
            </a:r>
          </a:p>
          <a:p>
            <a:pPr algn="ctr">
              <a:lnSpc>
                <a:spcPts val="6719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338067" y="3734324"/>
            <a:ext cx="4380814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LSA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Rou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ters exchange link-state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advertisements to share link status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and network topology.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LSDB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All LSAs combine into a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shared  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topology map.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SPF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ijkstra’s algorithm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runs on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the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LSDB to find the shortest path.</a:t>
            </a:r>
          </a:p>
          <a:p>
            <a:pPr algn="l">
              <a:lnSpc>
                <a:spcPts val="2579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6688608" y="3734324"/>
            <a:ext cx="4470858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Pu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rpose: Reduce routing-update traffic on multi-access broadcast networks.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 · Interface priority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Highest wins; default 1. Priority 0 is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ineligible for DR or BDR.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 · Router ID</a:t>
            </a:r>
          </a:p>
          <a:p>
            <a:pPr algn="l">
              <a:lnSpc>
                <a:spcPts val="2579"/>
              </a:lnSpc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Highest wins when priorities tie.</a:t>
            </a:r>
          </a:p>
          <a:p>
            <a:pPr algn="l">
              <a:lnSpc>
                <a:spcPts val="2579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12293139" y="3734324"/>
            <a:ext cx="4814569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</a:t>
            </a: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nual: Configured with the router-id command.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Loopback: Highest IP on an active loopback interface.</a:t>
            </a:r>
          </a:p>
          <a:p>
            <a:pPr algn="l" marL="464182" indent="-232091" lvl="1">
              <a:lnSpc>
                <a:spcPts val="2579"/>
              </a:lnSpc>
              <a:buFont typeface="Arial"/>
              <a:buChar char="•"/>
            </a:pPr>
            <a:r>
              <a:rPr lang="en-US" sz="21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Physical: Highest IP on an active physical interface.</a:t>
            </a:r>
          </a:p>
          <a:p>
            <a:pPr algn="l">
              <a:lnSpc>
                <a:spcPts val="257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3486150" cy="3000375"/>
          </a:xfrm>
          <a:custGeom>
            <a:avLst/>
            <a:gdLst/>
            <a:ahLst/>
            <a:cxnLst/>
            <a:rect r="r" b="b" t="t" l="l"/>
            <a:pathLst>
              <a:path h="3000375" w="3486150">
                <a:moveTo>
                  <a:pt x="0" y="0"/>
                </a:moveTo>
                <a:lnTo>
                  <a:pt x="3486150" y="0"/>
                </a:lnTo>
                <a:lnTo>
                  <a:pt x="34861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96925" y="7286625"/>
            <a:ext cx="4791075" cy="3000375"/>
          </a:xfrm>
          <a:custGeom>
            <a:avLst/>
            <a:gdLst/>
            <a:ahLst/>
            <a:cxnLst/>
            <a:rect r="r" b="b" t="t" l="l"/>
            <a:pathLst>
              <a:path h="3000375" w="4791075">
                <a:moveTo>
                  <a:pt x="0" y="0"/>
                </a:moveTo>
                <a:lnTo>
                  <a:pt x="4791075" y="0"/>
                </a:lnTo>
                <a:lnTo>
                  <a:pt x="47910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63817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5024" y="771525"/>
            <a:ext cx="149961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b="true" sz="1617" spc="404">
                <a:solidFill>
                  <a:srgbClr val="FFA800"/>
                </a:solidFill>
                <a:latin typeface="Roboto Bold"/>
                <a:ea typeface="Roboto Bold"/>
                <a:cs typeface="Roboto Bold"/>
                <a:sym typeface="Roboto Bold"/>
              </a:rPr>
              <a:t>FIELD LOG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764000" y="428625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11696" y="1363980"/>
            <a:ext cx="557784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6"/>
              </a:lnSpc>
            </a:pPr>
            <a:r>
              <a:rPr lang="en-US" sz="4171" b="true">
                <a:solidFill>
                  <a:srgbClr val="FFFFFF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ACCESS-Control List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35424" y="2607183"/>
            <a:ext cx="19202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>
                <a:solidFill>
                  <a:srgbClr val="78B9FF"/>
                </a:solidFill>
                <a:latin typeface="Roboto"/>
                <a:ea typeface="Roboto"/>
                <a:cs typeface="Roboto"/>
                <a:sym typeface="Roboto"/>
              </a:rPr>
              <a:t>Standard ACL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952625" y="3000375"/>
            <a:ext cx="6981825" cy="5791200"/>
          </a:xfrm>
          <a:custGeom>
            <a:avLst/>
            <a:gdLst/>
            <a:ahLst/>
            <a:cxnLst/>
            <a:rect r="r" b="b" t="t" l="l"/>
            <a:pathLst>
              <a:path h="5791200" w="6981825">
                <a:moveTo>
                  <a:pt x="0" y="0"/>
                </a:moveTo>
                <a:lnTo>
                  <a:pt x="6981825" y="0"/>
                </a:lnTo>
                <a:lnTo>
                  <a:pt x="698182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96896" y="3742182"/>
            <a:ext cx="5779008" cy="353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088" indent="-256044" lvl="1">
              <a:lnSpc>
                <a:spcPts val="2846"/>
              </a:lnSpc>
              <a:buFont typeface="Arial"/>
              <a:buChar char="•"/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Number Range: 1 – 99</a:t>
            </a:r>
          </a:p>
          <a:p>
            <a:pPr algn="l" marL="512088" indent="-256044" lvl="1">
              <a:lnSpc>
                <a:spcPts val="2846"/>
              </a:lnSpc>
              <a:buFont typeface="Arial"/>
              <a:buChar char="•"/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Filtering Basis: Filters traffic based ONLY on Source IP Address.</a:t>
            </a:r>
          </a:p>
          <a:p>
            <a:pPr algn="l" marL="512088" indent="-256044" lvl="1">
              <a:lnSpc>
                <a:spcPts val="2846"/>
              </a:lnSpc>
              <a:buFont typeface="Arial"/>
              <a:buChar char="•"/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Control Action: Permits or Denies the entire packet/traffic (cannot filter specific protocols or port numbers).</a:t>
            </a:r>
          </a:p>
          <a:p>
            <a:pPr algn="l" marL="512088" indent="-256044" lvl="1">
              <a:lnSpc>
                <a:spcPts val="2846"/>
              </a:lnSpc>
              <a:buFont typeface="Arial"/>
              <a:buChar char="•"/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Placement Strategy: Placed as CLOSE TO DESTINATION as possible.</a:t>
            </a:r>
          </a:p>
          <a:p>
            <a:pPr algn="l" marL="512088" indent="-256044" lvl="1">
              <a:lnSpc>
                <a:spcPts val="2846"/>
              </a:lnSpc>
              <a:buFont typeface="Arial"/>
              <a:buChar char="•"/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Types &amp; Naming: Available as both Numbered ACL and NamedACL.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34672" y="2555748"/>
            <a:ext cx="19202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>
                <a:solidFill>
                  <a:srgbClr val="78B9FF"/>
                </a:solidFill>
                <a:latin typeface="Roboto"/>
                <a:ea typeface="Roboto"/>
                <a:cs typeface="Roboto"/>
                <a:sym typeface="Roboto"/>
              </a:rPr>
              <a:t>Extended ACL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791700" y="3000375"/>
            <a:ext cx="6762750" cy="5791200"/>
          </a:xfrm>
          <a:custGeom>
            <a:avLst/>
            <a:gdLst/>
            <a:ahLst/>
            <a:cxnLst/>
            <a:rect r="r" b="b" t="t" l="l"/>
            <a:pathLst>
              <a:path h="5791200" w="6762750">
                <a:moveTo>
                  <a:pt x="0" y="0"/>
                </a:moveTo>
                <a:lnTo>
                  <a:pt x="6762750" y="0"/>
                </a:lnTo>
                <a:lnTo>
                  <a:pt x="676275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369296" y="3689413"/>
            <a:ext cx="5779008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088" indent="-256044" lvl="1">
              <a:lnSpc>
                <a:spcPts val="2846"/>
              </a:lnSpc>
              <a:buFont typeface="Arial"/>
              <a:buChar char="•"/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Number Range: 100 – 199</a:t>
            </a:r>
          </a:p>
          <a:p>
            <a:pPr algn="l" marL="512088" indent="-256044" lvl="1">
              <a:lnSpc>
                <a:spcPts val="2846"/>
              </a:lnSpc>
              <a:buFont typeface="Arial"/>
              <a:buChar char="•"/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Filtering Basis: Filters based on Source IP, Destination IP, Protocol (TCP/UDP), and Port Numbers.</a:t>
            </a:r>
          </a:p>
          <a:p>
            <a:pPr algn="l" marL="512088" indent="-256044" lvl="1">
              <a:lnSpc>
                <a:spcPts val="2846"/>
              </a:lnSpc>
              <a:buFont typeface="Arial"/>
              <a:buChar char="•"/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Control Action: Granular control (can block specific services like HTTP/Port 80, SSL/Port 22, etc.).</a:t>
            </a:r>
          </a:p>
          <a:p>
            <a:pPr algn="l" marL="512088" indent="-256044" lvl="1">
              <a:lnSpc>
                <a:spcPts val="2846"/>
              </a:lnSpc>
              <a:buFont typeface="Arial"/>
              <a:buChar char="•"/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Placement Strategy: Placed as CLOSE TO SOURCE as possible.</a:t>
            </a:r>
          </a:p>
          <a:p>
            <a:pPr algn="l" marL="512088" indent="-256044" lvl="1">
              <a:lnSpc>
                <a:spcPts val="2846"/>
              </a:lnSpc>
              <a:buFont typeface="Arial"/>
              <a:buChar char="•"/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Types &amp; Naming: Available as both Numbered ACL and NamedACL.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7700" y="7496175"/>
            <a:ext cx="1314450" cy="2362200"/>
          </a:xfrm>
          <a:custGeom>
            <a:avLst/>
            <a:gdLst/>
            <a:ahLst/>
            <a:cxnLst/>
            <a:rect r="r" b="b" t="t" l="l"/>
            <a:pathLst>
              <a:path h="2362200" w="1314450">
                <a:moveTo>
                  <a:pt x="0" y="0"/>
                </a:moveTo>
                <a:lnTo>
                  <a:pt x="1314450" y="0"/>
                </a:lnTo>
                <a:lnTo>
                  <a:pt x="1314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934688" y="9846755"/>
            <a:ext cx="694944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0"/>
              </a:lnSpc>
            </a:pPr>
            <a:r>
              <a:rPr lang="en-US" b="true" sz="1092" spc="109">
                <a:solidFill>
                  <a:srgbClr val="FFA800"/>
                </a:solidFill>
                <a:latin typeface="Roboto Bold"/>
                <a:ea typeface="Roboto Bold"/>
                <a:cs typeface="Roboto Bold"/>
                <a:sym typeface="Roboto Bold"/>
              </a:rPr>
              <a:t>GALLERY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6182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6324" y="648233"/>
            <a:ext cx="17615525" cy="32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b="true" sz="1576" spc="172">
                <a:solidFill>
                  <a:srgbClr val="F2A73D"/>
                </a:solidFill>
                <a:latin typeface="Inter Bold"/>
                <a:ea typeface="Inter Bold"/>
                <a:cs typeface="Inter Bold"/>
                <a:sym typeface="Inter Bold"/>
              </a:rPr>
              <a:t>FIELD LOG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6324" y="1081335"/>
            <a:ext cx="16929202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0"/>
              </a:lnSpc>
            </a:pPr>
            <a:r>
              <a:rPr lang="en-US" b="true" sz="3602" spc="-54">
                <a:solidFill>
                  <a:srgbClr val="EAF7FF"/>
                </a:solidFill>
                <a:latin typeface="Arimo Bold"/>
                <a:ea typeface="Arimo Bold"/>
                <a:cs typeface="Arimo Bold"/>
                <a:sym typeface="Arimo Bold"/>
              </a:rPr>
              <a:t>Spanning Tree Protocol &amp; Port Security Essentials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86324" y="1846316"/>
            <a:ext cx="5338039" cy="6987883"/>
            <a:chOff x="0" y="0"/>
            <a:chExt cx="7117385" cy="93171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7334" cy="9317228"/>
            </a:xfrm>
            <a:custGeom>
              <a:avLst/>
              <a:gdLst/>
              <a:ahLst/>
              <a:cxnLst/>
              <a:rect r="r" b="b" t="t" l="l"/>
              <a:pathLst>
                <a:path h="9317228" w="7117334">
                  <a:moveTo>
                    <a:pt x="152400" y="0"/>
                  </a:moveTo>
                  <a:lnTo>
                    <a:pt x="6964934" y="0"/>
                  </a:lnTo>
                  <a:cubicBezTo>
                    <a:pt x="7049102" y="0"/>
                    <a:pt x="7117334" y="68232"/>
                    <a:pt x="7117334" y="152400"/>
                  </a:cubicBezTo>
                  <a:lnTo>
                    <a:pt x="7117334" y="9164828"/>
                  </a:lnTo>
                  <a:cubicBezTo>
                    <a:pt x="7117334" y="9205247"/>
                    <a:pt x="7101277" y="9244011"/>
                    <a:pt x="7072697" y="9272591"/>
                  </a:cubicBezTo>
                  <a:cubicBezTo>
                    <a:pt x="7044117" y="9301172"/>
                    <a:pt x="7005353" y="9317228"/>
                    <a:pt x="6964934" y="9317228"/>
                  </a:cubicBezTo>
                  <a:lnTo>
                    <a:pt x="152400" y="9317228"/>
                  </a:lnTo>
                  <a:cubicBezTo>
                    <a:pt x="68232" y="9317228"/>
                    <a:pt x="0" y="9248997"/>
                    <a:pt x="0" y="9164828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9481" y="2208533"/>
            <a:ext cx="4651715" cy="74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b="true" sz="2702" spc="-4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Spanning Tree Protocol (STP)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9481" y="3272609"/>
            <a:ext cx="1534839" cy="28594"/>
            <a:chOff x="0" y="0"/>
            <a:chExt cx="2046453" cy="381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6478" cy="38100"/>
            </a:xfrm>
            <a:custGeom>
              <a:avLst/>
              <a:gdLst/>
              <a:ahLst/>
              <a:cxnLst/>
              <a:rect r="r" b="b" t="t" l="l"/>
              <a:pathLst>
                <a:path h="38100" w="204647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027428" y="0"/>
                  </a:lnTo>
                  <a:cubicBezTo>
                    <a:pt x="2037969" y="0"/>
                    <a:pt x="2046478" y="8509"/>
                    <a:pt x="2046478" y="19050"/>
                  </a:cubicBezTo>
                  <a:cubicBezTo>
                    <a:pt x="2046478" y="29591"/>
                    <a:pt x="2037969" y="38100"/>
                    <a:pt x="202742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9481" y="3453765"/>
            <a:ext cx="4651715" cy="482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563" indent="-185782" lvl="1">
              <a:lnSpc>
                <a:spcPts val="2978"/>
              </a:lnSpc>
              <a:buFont typeface="Arial"/>
              <a:buChar char="•"/>
            </a:pP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Purpose: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Prevents Layer 2 switching loops in redundant network topologies by blocking redundant paths dynamically.</a:t>
            </a:r>
          </a:p>
          <a:p>
            <a:pPr algn="l" marL="371563" indent="-185782" lvl="1">
              <a:lnSpc>
                <a:spcPts val="2978"/>
              </a:lnSpc>
              <a:buFont typeface="Arial"/>
              <a:buChar char="•"/>
            </a:pP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Root Switch Election: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              </a:t>
            </a:r>
          </a:p>
          <a:p>
            <a:pPr algn="l" marL="788432" indent="-262811" lvl="2">
              <a:lnSpc>
                <a:spcPts val="2978"/>
              </a:lnSpc>
              <a:buFont typeface="Arial"/>
              <a:buChar char="⚬"/>
            </a:pP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Switch with the </a:t>
            </a: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Lowest Bridge ID (BID)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becomes Root.</a:t>
            </a:r>
          </a:p>
          <a:p>
            <a:pPr algn="l" marL="788432" indent="-262811" lvl="2">
              <a:lnSpc>
                <a:spcPts val="2978"/>
              </a:lnSpc>
              <a:buFont typeface="Arial"/>
              <a:buChar char="⚬"/>
            </a:pPr>
            <a:r>
              <a:rPr lang="en-US" sz="2051" i="true" spc="20">
                <a:solidFill>
                  <a:srgbClr val="EAF7FF"/>
                </a:solidFill>
                <a:latin typeface="Inter Italics"/>
                <a:ea typeface="Inter Italics"/>
                <a:cs typeface="Inter Italics"/>
                <a:sym typeface="Inter Italics"/>
              </a:rPr>
              <a:t>Bridge ID = Priority + MAC Address.</a:t>
            </a:r>
          </a:p>
          <a:p>
            <a:pPr algn="l" marL="371563" indent="-185782" lvl="1">
              <a:lnSpc>
                <a:spcPts val="2978"/>
              </a:lnSpc>
              <a:buFont typeface="Arial"/>
              <a:buChar char="•"/>
            </a:pP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Root Port (RP) Selection: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              </a:t>
            </a:r>
          </a:p>
          <a:p>
            <a:pPr algn="l" marL="788432" indent="-262811" lvl="2">
              <a:lnSpc>
                <a:spcPts val="2978"/>
              </a:lnSpc>
              <a:buFont typeface="Arial"/>
              <a:buChar char="⚬"/>
            </a:pP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Chosen on non-root switches based on the </a:t>
            </a: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Lowest Path Cost to the Root Switch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81905" y="1846316"/>
            <a:ext cx="5338039" cy="6987883"/>
            <a:chOff x="0" y="0"/>
            <a:chExt cx="7117385" cy="93171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17334" cy="9317228"/>
            </a:xfrm>
            <a:custGeom>
              <a:avLst/>
              <a:gdLst/>
              <a:ahLst/>
              <a:cxnLst/>
              <a:rect r="r" b="b" t="t" l="l"/>
              <a:pathLst>
                <a:path h="9317228" w="7117334">
                  <a:moveTo>
                    <a:pt x="152400" y="0"/>
                  </a:moveTo>
                  <a:lnTo>
                    <a:pt x="6964934" y="0"/>
                  </a:lnTo>
                  <a:cubicBezTo>
                    <a:pt x="7049102" y="0"/>
                    <a:pt x="7117334" y="68232"/>
                    <a:pt x="7117334" y="152400"/>
                  </a:cubicBezTo>
                  <a:lnTo>
                    <a:pt x="7117334" y="9164828"/>
                  </a:lnTo>
                  <a:cubicBezTo>
                    <a:pt x="7117334" y="9205247"/>
                    <a:pt x="7101277" y="9244011"/>
                    <a:pt x="7072697" y="9272591"/>
                  </a:cubicBezTo>
                  <a:cubicBezTo>
                    <a:pt x="7044117" y="9301172"/>
                    <a:pt x="7005353" y="9317228"/>
                    <a:pt x="6964934" y="9317228"/>
                  </a:cubicBezTo>
                  <a:lnTo>
                    <a:pt x="152400" y="9317228"/>
                  </a:lnTo>
                  <a:cubicBezTo>
                    <a:pt x="68232" y="9317228"/>
                    <a:pt x="0" y="9248997"/>
                    <a:pt x="0" y="9164828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825063" y="2208533"/>
            <a:ext cx="2095381" cy="39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b="true" sz="2702" spc="-4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STP PortFast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25063" y="3199384"/>
            <a:ext cx="1534839" cy="28594"/>
            <a:chOff x="0" y="0"/>
            <a:chExt cx="2046453" cy="381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6478" cy="38100"/>
            </a:xfrm>
            <a:custGeom>
              <a:avLst/>
              <a:gdLst/>
              <a:ahLst/>
              <a:cxnLst/>
              <a:rect r="r" b="b" t="t" l="l"/>
              <a:pathLst>
                <a:path h="38100" w="204647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027428" y="0"/>
                  </a:lnTo>
                  <a:cubicBezTo>
                    <a:pt x="2037969" y="0"/>
                    <a:pt x="2046478" y="8509"/>
                    <a:pt x="2046478" y="19050"/>
                  </a:cubicBezTo>
                  <a:cubicBezTo>
                    <a:pt x="2046478" y="29591"/>
                    <a:pt x="2037969" y="38100"/>
                    <a:pt x="202742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818143" y="3459851"/>
            <a:ext cx="4651715" cy="444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563" indent="-185782" lvl="1">
              <a:lnSpc>
                <a:spcPts val="2978"/>
              </a:lnSpc>
              <a:buFont typeface="Arial"/>
              <a:buChar char="•"/>
            </a:pP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Purpose: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Accelerates edge port convergence for end-user devices (PCs, Printers, Servers).</a:t>
            </a:r>
          </a:p>
          <a:p>
            <a:pPr algn="l" marL="371563" indent="-185782" lvl="1">
              <a:lnSpc>
                <a:spcPts val="2978"/>
              </a:lnSpc>
              <a:buFont typeface="Arial"/>
              <a:buChar char="•"/>
            </a:pP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              </a:t>
            </a:r>
          </a:p>
          <a:p>
            <a:pPr algn="l" marL="788432" indent="-262811" lvl="2">
              <a:lnSpc>
                <a:spcPts val="2978"/>
              </a:lnSpc>
              <a:buFont typeface="Arial"/>
              <a:buChar char="⚬"/>
            </a:pP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Bypasses Listening and Learning states.</a:t>
            </a:r>
          </a:p>
          <a:p>
            <a:pPr algn="l" marL="788432" indent="-262811" lvl="2">
              <a:lnSpc>
                <a:spcPts val="2978"/>
              </a:lnSpc>
              <a:buFont typeface="Arial"/>
              <a:buChar char="⚬"/>
            </a:pP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Immediately places access ports into the Forwarding state upon connection.</a:t>
            </a:r>
          </a:p>
          <a:p>
            <a:pPr algn="l" marL="371563" indent="-185782" lvl="1">
              <a:lnSpc>
                <a:spcPts val="2978"/>
              </a:lnSpc>
              <a:buFont typeface="Arial"/>
              <a:buChar char="•"/>
            </a:pP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Key Advantage: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Reduces network downtime and DHCP lookup delays.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277487" y="1846316"/>
            <a:ext cx="5338039" cy="6987883"/>
            <a:chOff x="0" y="0"/>
            <a:chExt cx="7117385" cy="93171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17334" cy="9317228"/>
            </a:xfrm>
            <a:custGeom>
              <a:avLst/>
              <a:gdLst/>
              <a:ahLst/>
              <a:cxnLst/>
              <a:rect r="r" b="b" t="t" l="l"/>
              <a:pathLst>
                <a:path h="9317228" w="7117334">
                  <a:moveTo>
                    <a:pt x="152400" y="0"/>
                  </a:moveTo>
                  <a:lnTo>
                    <a:pt x="6964934" y="0"/>
                  </a:lnTo>
                  <a:cubicBezTo>
                    <a:pt x="7049102" y="0"/>
                    <a:pt x="7117334" y="68232"/>
                    <a:pt x="7117334" y="152400"/>
                  </a:cubicBezTo>
                  <a:lnTo>
                    <a:pt x="7117334" y="9164828"/>
                  </a:lnTo>
                  <a:cubicBezTo>
                    <a:pt x="7117334" y="9205247"/>
                    <a:pt x="7101277" y="9244011"/>
                    <a:pt x="7072697" y="9272591"/>
                  </a:cubicBezTo>
                  <a:cubicBezTo>
                    <a:pt x="7044117" y="9301172"/>
                    <a:pt x="7005353" y="9317228"/>
                    <a:pt x="6964934" y="9317228"/>
                  </a:cubicBezTo>
                  <a:lnTo>
                    <a:pt x="152400" y="9317228"/>
                  </a:lnTo>
                  <a:cubicBezTo>
                    <a:pt x="68232" y="9317228"/>
                    <a:pt x="0" y="9248997"/>
                    <a:pt x="0" y="9164828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620644" y="2208533"/>
            <a:ext cx="4651715" cy="36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b="true" sz="2702" spc="-4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Port Security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679023" y="3170790"/>
            <a:ext cx="1534839" cy="28594"/>
            <a:chOff x="0" y="0"/>
            <a:chExt cx="2046453" cy="381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46478" cy="38100"/>
            </a:xfrm>
            <a:custGeom>
              <a:avLst/>
              <a:gdLst/>
              <a:ahLst/>
              <a:cxnLst/>
              <a:rect r="r" b="b" t="t" l="l"/>
              <a:pathLst>
                <a:path h="38100" w="204647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027428" y="0"/>
                  </a:lnTo>
                  <a:cubicBezTo>
                    <a:pt x="2037969" y="0"/>
                    <a:pt x="2046478" y="8509"/>
                    <a:pt x="2046478" y="19050"/>
                  </a:cubicBezTo>
                  <a:cubicBezTo>
                    <a:pt x="2046478" y="29591"/>
                    <a:pt x="2037969" y="38100"/>
                    <a:pt x="202742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F2A73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679023" y="3459851"/>
            <a:ext cx="4651715" cy="444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563" indent="-185782" lvl="1">
              <a:lnSpc>
                <a:spcPts val="2978"/>
              </a:lnSpc>
              <a:buFont typeface="Arial"/>
              <a:buChar char="•"/>
            </a:pP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Purpose: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Protects Layer 2 switch ports against unauthorized device connections.</a:t>
            </a:r>
          </a:p>
          <a:p>
            <a:pPr algn="l" marL="371563" indent="-185782" lvl="1">
              <a:lnSpc>
                <a:spcPts val="2978"/>
              </a:lnSpc>
              <a:buFont typeface="Arial"/>
              <a:buChar char="•"/>
            </a:pP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Functionality: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Restricts access based on MAC addresses (Static, Dynamic, or Sticky).</a:t>
            </a:r>
          </a:p>
          <a:p>
            <a:pPr algn="l" marL="371563" indent="-185782" lvl="1">
              <a:lnSpc>
                <a:spcPts val="2978"/>
              </a:lnSpc>
              <a:buFont typeface="Arial"/>
              <a:buChar char="•"/>
            </a:pP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Violation Actions: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              </a:t>
            </a:r>
          </a:p>
          <a:p>
            <a:pPr algn="l" marL="788432" indent="-262811" lvl="2">
              <a:lnSpc>
                <a:spcPts val="2978"/>
              </a:lnSpc>
              <a:buFont typeface="Arial"/>
              <a:buChar char="⚬"/>
            </a:pP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Shutdown: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Disables port completely upon violation.</a:t>
            </a:r>
          </a:p>
          <a:p>
            <a:pPr algn="l" marL="788432" indent="-262811" lvl="2">
              <a:lnSpc>
                <a:spcPts val="2978"/>
              </a:lnSpc>
              <a:buFont typeface="Arial"/>
              <a:buChar char="⚬"/>
            </a:pPr>
            <a:r>
              <a:rPr lang="en-US" b="true" sz="2051" spc="20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Restrict / Protect:</a:t>
            </a:r>
            <a:r>
              <a:rPr lang="en-US" sz="2051" spc="20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Drops unauthorized traffic and logs alerts.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6415375" y="7886700"/>
            <a:ext cx="2400300" cy="2400300"/>
            <a:chOff x="0" y="0"/>
            <a:chExt cx="3200400" cy="3200400"/>
          </a:xfrm>
        </p:grpSpPr>
        <p:sp>
          <p:nvSpPr>
            <p:cNvPr name="Freeform 27" id="27" descr="/home/claude/assets/chibi_senku_spring.png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6783050" y="338299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6182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6324" y="648233"/>
            <a:ext cx="17615525" cy="32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b="true" sz="1576" spc="172">
                <a:solidFill>
                  <a:srgbClr val="F4BC4A"/>
                </a:solidFill>
                <a:latin typeface="Inter Bold"/>
                <a:ea typeface="Inter Bold"/>
                <a:cs typeface="Inter Bold"/>
                <a:sym typeface="Inter Bold"/>
              </a:rPr>
              <a:t>FIELD LOG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6324" y="1081335"/>
            <a:ext cx="16929202" cy="5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0"/>
              </a:lnSpc>
            </a:pPr>
            <a:r>
              <a:rPr lang="en-US" b="true" sz="3602" spc="-54">
                <a:solidFill>
                  <a:srgbClr val="EAF7FF"/>
                </a:solidFill>
                <a:latin typeface="Arimo Bold"/>
                <a:ea typeface="Arimo Bold"/>
                <a:cs typeface="Arimo Bold"/>
                <a:sym typeface="Arimo Bold"/>
              </a:rPr>
              <a:t>EtherChannel &amp; DHCP Security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86324" y="1846316"/>
            <a:ext cx="8235829" cy="7142397"/>
            <a:chOff x="0" y="0"/>
            <a:chExt cx="10981106" cy="95231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81055" cy="9523222"/>
            </a:xfrm>
            <a:custGeom>
              <a:avLst/>
              <a:gdLst/>
              <a:ahLst/>
              <a:cxnLst/>
              <a:rect r="r" b="b" t="t" l="l"/>
              <a:pathLst>
                <a:path h="9523222" w="10981055">
                  <a:moveTo>
                    <a:pt x="152400" y="0"/>
                  </a:moveTo>
                  <a:lnTo>
                    <a:pt x="10828655" y="0"/>
                  </a:lnTo>
                  <a:cubicBezTo>
                    <a:pt x="10912824" y="0"/>
                    <a:pt x="10981055" y="68232"/>
                    <a:pt x="10981055" y="152400"/>
                  </a:cubicBezTo>
                  <a:lnTo>
                    <a:pt x="10981055" y="9370822"/>
                  </a:lnTo>
                  <a:cubicBezTo>
                    <a:pt x="10981055" y="9411241"/>
                    <a:pt x="10964999" y="9450005"/>
                    <a:pt x="10936418" y="9478585"/>
                  </a:cubicBezTo>
                  <a:cubicBezTo>
                    <a:pt x="10907838" y="9507165"/>
                    <a:pt x="10869075" y="9523222"/>
                    <a:pt x="10828655" y="9523222"/>
                  </a:cubicBezTo>
                  <a:lnTo>
                    <a:pt x="152400" y="9523222"/>
                  </a:lnTo>
                  <a:cubicBezTo>
                    <a:pt x="111981" y="9523222"/>
                    <a:pt x="73217" y="9507165"/>
                    <a:pt x="44637" y="9478585"/>
                  </a:cubicBezTo>
                  <a:cubicBezTo>
                    <a:pt x="16056" y="9450005"/>
                    <a:pt x="0" y="9411241"/>
                    <a:pt x="0" y="9370822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9481" y="2208533"/>
            <a:ext cx="2271832" cy="39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b="true" sz="2702" spc="-4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EtherChannel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9481" y="2888332"/>
            <a:ext cx="2491330" cy="28594"/>
            <a:chOff x="0" y="0"/>
            <a:chExt cx="3321774" cy="381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21812" cy="38100"/>
            </a:xfrm>
            <a:custGeom>
              <a:avLst/>
              <a:gdLst/>
              <a:ahLst/>
              <a:cxnLst/>
              <a:rect r="r" b="b" t="t" l="l"/>
              <a:pathLst>
                <a:path h="38100" w="332181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3302762" y="0"/>
                  </a:lnTo>
                  <a:cubicBezTo>
                    <a:pt x="3313303" y="0"/>
                    <a:pt x="3321812" y="8509"/>
                    <a:pt x="3321812" y="19050"/>
                  </a:cubicBezTo>
                  <a:cubicBezTo>
                    <a:pt x="3321812" y="29591"/>
                    <a:pt x="3313303" y="38100"/>
                    <a:pt x="330276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F4BC4A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3031032"/>
            <a:ext cx="6955145" cy="4706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5896" indent="-212948" lvl="1">
              <a:lnSpc>
                <a:spcPts val="3414"/>
              </a:lnSpc>
              <a:buFont typeface="Arial"/>
              <a:buChar char="•"/>
            </a:pPr>
            <a:r>
              <a:rPr lang="en-US" b="true" sz="2351" spc="23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Definition:</a:t>
            </a:r>
            <a:r>
              <a:rPr lang="en-US" sz="2351" spc="23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Link-aggregation technology that combines multiple physical Ethernet links into a single logical high-speed link.</a:t>
            </a:r>
          </a:p>
          <a:p>
            <a:pPr algn="l" marL="425896" indent="-212948" lvl="1">
              <a:lnSpc>
                <a:spcPts val="3414"/>
              </a:lnSpc>
              <a:buFont typeface="Arial"/>
              <a:buChar char="•"/>
            </a:pPr>
            <a:r>
              <a:rPr lang="en-US" b="true" sz="2351" spc="23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Core Purpose:</a:t>
            </a:r>
            <a:r>
              <a:rPr lang="en-US" sz="2351" spc="23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              </a:t>
            </a:r>
          </a:p>
          <a:p>
            <a:pPr algn="l" marL="903724" indent="-301241" lvl="2">
              <a:lnSpc>
                <a:spcPts val="3414"/>
              </a:lnSpc>
              <a:buFont typeface="Arial"/>
              <a:buChar char="⚬"/>
            </a:pPr>
            <a:r>
              <a:rPr lang="en-US" sz="2351" spc="23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Increases total bandwidth and provides link redundancy.</a:t>
            </a:r>
          </a:p>
          <a:p>
            <a:pPr algn="l" marL="903724" indent="-301241" lvl="2">
              <a:lnSpc>
                <a:spcPts val="3414"/>
              </a:lnSpc>
              <a:buFont typeface="Arial"/>
              <a:buChar char="⚬"/>
            </a:pPr>
            <a:r>
              <a:rPr lang="en-US" sz="2351" spc="23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Load-balances traffic across physical links.</a:t>
            </a:r>
          </a:p>
          <a:p>
            <a:pPr algn="l" marL="425896" indent="-212948" lvl="1">
              <a:lnSpc>
                <a:spcPts val="3414"/>
              </a:lnSpc>
              <a:buFont typeface="Arial"/>
              <a:buChar char="•"/>
            </a:pPr>
            <a:r>
              <a:rPr lang="en-US" b="true" sz="2351" spc="23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Key Advantage:</a:t>
            </a:r>
            <a:r>
              <a:rPr lang="en-US" sz="2351" spc="23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Prevents STP topology recalculations when an individual physical link in the bundle fails.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79696" y="1846316"/>
            <a:ext cx="8235829" cy="7142397"/>
            <a:chOff x="0" y="0"/>
            <a:chExt cx="10981106" cy="95231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81055" cy="9523222"/>
            </a:xfrm>
            <a:custGeom>
              <a:avLst/>
              <a:gdLst/>
              <a:ahLst/>
              <a:cxnLst/>
              <a:rect r="r" b="b" t="t" l="l"/>
              <a:pathLst>
                <a:path h="9523222" w="10981055">
                  <a:moveTo>
                    <a:pt x="152400" y="0"/>
                  </a:moveTo>
                  <a:lnTo>
                    <a:pt x="10828655" y="0"/>
                  </a:lnTo>
                  <a:cubicBezTo>
                    <a:pt x="10912824" y="0"/>
                    <a:pt x="10981055" y="68232"/>
                    <a:pt x="10981055" y="152400"/>
                  </a:cubicBezTo>
                  <a:lnTo>
                    <a:pt x="10981055" y="9370822"/>
                  </a:lnTo>
                  <a:cubicBezTo>
                    <a:pt x="10981055" y="9411241"/>
                    <a:pt x="10964999" y="9450005"/>
                    <a:pt x="10936418" y="9478585"/>
                  </a:cubicBezTo>
                  <a:cubicBezTo>
                    <a:pt x="10907838" y="9507165"/>
                    <a:pt x="10869075" y="9523222"/>
                    <a:pt x="10828655" y="9523222"/>
                  </a:cubicBezTo>
                  <a:lnTo>
                    <a:pt x="152400" y="9523222"/>
                  </a:lnTo>
                  <a:cubicBezTo>
                    <a:pt x="111981" y="9523222"/>
                    <a:pt x="73217" y="9507165"/>
                    <a:pt x="44637" y="9478585"/>
                  </a:cubicBezTo>
                  <a:cubicBezTo>
                    <a:pt x="16056" y="9450005"/>
                    <a:pt x="0" y="9411241"/>
                    <a:pt x="0" y="9370822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722853" y="2208533"/>
            <a:ext cx="7549505" cy="36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b="true" sz="2702" spc="-4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DHCP Security (Attack &amp; Solution)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22853" y="2888332"/>
            <a:ext cx="2491330" cy="28594"/>
            <a:chOff x="0" y="0"/>
            <a:chExt cx="3321774" cy="381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21812" cy="38100"/>
            </a:xfrm>
            <a:custGeom>
              <a:avLst/>
              <a:gdLst/>
              <a:ahLst/>
              <a:cxnLst/>
              <a:rect r="r" b="b" t="t" l="l"/>
              <a:pathLst>
                <a:path h="38100" w="332181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3302762" y="0"/>
                  </a:lnTo>
                  <a:cubicBezTo>
                    <a:pt x="3313303" y="0"/>
                    <a:pt x="3321812" y="8509"/>
                    <a:pt x="3321812" y="19050"/>
                  </a:cubicBezTo>
                  <a:cubicBezTo>
                    <a:pt x="3321812" y="29591"/>
                    <a:pt x="3313303" y="38100"/>
                    <a:pt x="330276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F4BC4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22853" y="3069488"/>
            <a:ext cx="7029717" cy="571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785" indent="-203893" lvl="1">
              <a:lnSpc>
                <a:spcPts val="3269"/>
              </a:lnSpc>
              <a:buFont typeface="Arial"/>
              <a:buChar char="•"/>
            </a:pPr>
            <a:r>
              <a:rPr lang="en-US" b="true" sz="2251" spc="22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The Threat — DHCP Spoofing:</a:t>
            </a:r>
            <a:r>
              <a:rPr lang="en-US" sz="2251" spc="22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              </a:t>
            </a:r>
          </a:p>
          <a:p>
            <a:pPr algn="l" marL="865293" indent="-288431" lvl="2">
              <a:lnSpc>
                <a:spcPts val="3269"/>
              </a:lnSpc>
              <a:buFont typeface="Arial"/>
              <a:buChar char="⚬"/>
            </a:pPr>
            <a:r>
              <a:rPr lang="en-US" sz="2251" spc="22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A rogue (unauthorized) DHCP server responds to client requests with malicious IP settings, redirecting traffic (Man-in-the-Middle attack).</a:t>
            </a:r>
          </a:p>
          <a:p>
            <a:pPr algn="l" marL="407785" indent="-203893" lvl="1">
              <a:lnSpc>
                <a:spcPts val="3269"/>
              </a:lnSpc>
              <a:buFont typeface="Arial"/>
              <a:buChar char="•"/>
            </a:pPr>
            <a:r>
              <a:rPr lang="en-US" b="true" sz="2251" spc="22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The Solution — DHCP Snooping:</a:t>
            </a:r>
            <a:r>
              <a:rPr lang="en-US" sz="2251" spc="22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              </a:t>
            </a:r>
          </a:p>
          <a:p>
            <a:pPr algn="l" marL="865293" indent="-288431" lvl="2">
              <a:lnSpc>
                <a:spcPts val="3269"/>
              </a:lnSpc>
              <a:buFont typeface="Arial"/>
              <a:buChar char="⚬"/>
            </a:pPr>
            <a:r>
              <a:rPr lang="en-US" sz="2251" spc="22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Layer 2 security mechanism that filters untrusted DHCP messages.</a:t>
            </a:r>
          </a:p>
          <a:p>
            <a:pPr algn="l" marL="865293" indent="-288431" lvl="2">
              <a:lnSpc>
                <a:spcPts val="3269"/>
              </a:lnSpc>
              <a:buFont typeface="Arial"/>
              <a:buChar char="⚬"/>
            </a:pPr>
            <a:r>
              <a:rPr lang="en-US" sz="2251" spc="22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Designates switch ports as </a:t>
            </a:r>
            <a:r>
              <a:rPr lang="en-US" b="true" sz="2251" spc="22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Trusted</a:t>
            </a:r>
            <a:r>
              <a:rPr lang="en-US" sz="2251" spc="22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(legitimate DHCP server) or </a:t>
            </a:r>
            <a:r>
              <a:rPr lang="en-US" b="true" sz="2251" spc="22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Untrusted</a:t>
            </a:r>
            <a:r>
              <a:rPr lang="en-US" sz="2251" spc="22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(end-user ports).</a:t>
            </a:r>
          </a:p>
          <a:p>
            <a:pPr algn="l" marL="865293" indent="-288431" lvl="2">
              <a:lnSpc>
                <a:spcPts val="3269"/>
              </a:lnSpc>
              <a:buFont typeface="Arial"/>
              <a:buChar char="⚬"/>
            </a:pPr>
            <a:r>
              <a:rPr lang="en-US" sz="2251" spc="22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Builds a </a:t>
            </a:r>
            <a:r>
              <a:rPr lang="en-US" b="true" sz="2251" spc="22">
                <a:solidFill>
                  <a:srgbClr val="EAF7FF"/>
                </a:solidFill>
                <a:latin typeface="Inter Bold"/>
                <a:ea typeface="Inter Bold"/>
                <a:cs typeface="Inter Bold"/>
                <a:sym typeface="Inter Bold"/>
              </a:rPr>
              <a:t>Binding Database</a:t>
            </a:r>
            <a:r>
              <a:rPr lang="en-US" sz="2251" spc="22">
                <a:solidFill>
                  <a:srgbClr val="EAF7FF"/>
                </a:solidFill>
                <a:latin typeface="Inter"/>
                <a:ea typeface="Inter"/>
                <a:cs typeface="Inter"/>
                <a:sym typeface="Inter"/>
              </a:rPr>
              <a:t> to validate network hosts and block malicious responses.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6935450" y="490699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02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38724" y="2419316"/>
            <a:ext cx="4041658" cy="57198"/>
            <a:chOff x="0" y="0"/>
            <a:chExt cx="5388877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8864" cy="76200"/>
            </a:xfrm>
            <a:custGeom>
              <a:avLst/>
              <a:gdLst/>
              <a:ahLst/>
              <a:cxnLst/>
              <a:rect r="r" b="b" t="t" l="l"/>
              <a:pathLst>
                <a:path h="76200" w="5388864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5350764" y="0"/>
                  </a:lnTo>
                  <a:cubicBezTo>
                    <a:pt x="5371846" y="0"/>
                    <a:pt x="5388864" y="17018"/>
                    <a:pt x="5388864" y="38100"/>
                  </a:cubicBezTo>
                  <a:cubicBezTo>
                    <a:pt x="5388864" y="59182"/>
                    <a:pt x="5371846" y="76200"/>
                    <a:pt x="5350764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00649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38724" y="1500759"/>
            <a:ext cx="16166630" cy="55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4"/>
              </a:lnSpc>
            </a:pPr>
            <a:r>
              <a:rPr lang="en-US" sz="335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Recap &amp; Summary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38724" y="3407550"/>
            <a:ext cx="5083797" cy="5042364"/>
            <a:chOff x="0" y="0"/>
            <a:chExt cx="6778396" cy="67231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8371" cy="6723126"/>
            </a:xfrm>
            <a:custGeom>
              <a:avLst/>
              <a:gdLst/>
              <a:ahLst/>
              <a:cxnLst/>
              <a:rect r="r" b="b" t="t" l="l"/>
              <a:pathLst>
                <a:path h="6723126" w="6778371">
                  <a:moveTo>
                    <a:pt x="0" y="0"/>
                  </a:moveTo>
                  <a:lnTo>
                    <a:pt x="6778371" y="0"/>
                  </a:lnTo>
                  <a:lnTo>
                    <a:pt x="6778371" y="6723126"/>
                  </a:lnTo>
                  <a:lnTo>
                    <a:pt x="0" y="6723126"/>
                  </a:lnTo>
                  <a:close/>
                </a:path>
              </a:pathLst>
            </a:custGeom>
            <a:solidFill>
              <a:srgbClr val="00649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81886" y="3530176"/>
            <a:ext cx="4397473" cy="95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Router Basics &amp; Routing Protocols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886" y="4817376"/>
            <a:ext cx="4397473" cy="159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Router Operations &amp; Initial Setup Configuration.</a:t>
            </a:r>
          </a:p>
          <a:p>
            <a:pPr algn="l">
              <a:lnSpc>
                <a:spcPts val="3188"/>
              </a:lnSpc>
            </a:pPr>
            <a:r>
              <a:rPr lang="en-US" b="true" sz="22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Routing Protocols Covered:</a:t>
            </a:r>
          </a:p>
          <a:p>
            <a:pPr algn="l">
              <a:lnSpc>
                <a:spcPts val="3188"/>
              </a:lnSpc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RIPv2, EIGRP, and OSPF.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94507" y="3407550"/>
            <a:ext cx="5083797" cy="5042364"/>
            <a:chOff x="0" y="0"/>
            <a:chExt cx="6778396" cy="67231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78371" cy="6723126"/>
            </a:xfrm>
            <a:custGeom>
              <a:avLst/>
              <a:gdLst/>
              <a:ahLst/>
              <a:cxnLst/>
              <a:rect r="r" b="b" t="t" l="l"/>
              <a:pathLst>
                <a:path h="6723126" w="6778371">
                  <a:moveTo>
                    <a:pt x="0" y="0"/>
                  </a:moveTo>
                  <a:lnTo>
                    <a:pt x="6778371" y="0"/>
                  </a:lnTo>
                  <a:lnTo>
                    <a:pt x="6778371" y="6723126"/>
                  </a:lnTo>
                  <a:lnTo>
                    <a:pt x="0" y="6723126"/>
                  </a:lnTo>
                  <a:close/>
                </a:path>
              </a:pathLst>
            </a:custGeom>
            <a:solidFill>
              <a:srgbClr val="00649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723302" y="3575506"/>
            <a:ext cx="4397473" cy="95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Traffic Control &amp; Security (ACLs)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22995" y="4817376"/>
            <a:ext cx="4397473" cy="159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Access Control Lists: Standard vs. Extended ACLs.</a:t>
            </a:r>
          </a:p>
          <a:p>
            <a:pPr algn="l" marL="407830" indent="-203915" lvl="1">
              <a:lnSpc>
                <a:spcPts val="3188"/>
              </a:lnSpc>
              <a:buFont typeface="Arial"/>
              <a:buChar char="•"/>
            </a:pP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Configuration using Numbered and Named ACLs.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264104" y="3378975"/>
            <a:ext cx="5083797" cy="5042364"/>
            <a:chOff x="0" y="0"/>
            <a:chExt cx="6778396" cy="67231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8371" cy="6723126"/>
            </a:xfrm>
            <a:custGeom>
              <a:avLst/>
              <a:gdLst/>
              <a:ahLst/>
              <a:cxnLst/>
              <a:rect r="r" b="b" t="t" l="l"/>
              <a:pathLst>
                <a:path h="6723126" w="6778371">
                  <a:moveTo>
                    <a:pt x="0" y="0"/>
                  </a:moveTo>
                  <a:lnTo>
                    <a:pt x="6778371" y="0"/>
                  </a:lnTo>
                  <a:lnTo>
                    <a:pt x="6778371" y="6723126"/>
                  </a:lnTo>
                  <a:lnTo>
                    <a:pt x="0" y="6723126"/>
                  </a:lnTo>
                  <a:close/>
                </a:path>
              </a:pathLst>
            </a:custGeom>
            <a:solidFill>
              <a:srgbClr val="00649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607266" y="3575506"/>
            <a:ext cx="4397473" cy="48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5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Switch Security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07881" y="4817376"/>
            <a:ext cx="4397473" cy="279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b="true" sz="22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Loop Prevention:</a:t>
            </a: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STP &amp; STP PortFast.</a:t>
            </a:r>
          </a:p>
          <a:p>
            <a:pPr algn="l">
              <a:lnSpc>
                <a:spcPts val="3188"/>
              </a:lnSpc>
            </a:pPr>
            <a:r>
              <a:rPr lang="en-US" b="true" sz="22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Switch Hardening:</a:t>
            </a: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Port Security &amp; DHCP Snooping against DHCP Spoofing.</a:t>
            </a:r>
          </a:p>
          <a:p>
            <a:pPr algn="l">
              <a:lnSpc>
                <a:spcPts val="3188"/>
              </a:lnSpc>
            </a:pPr>
            <a:r>
              <a:rPr lang="en-US" b="true" sz="225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Performance:</a:t>
            </a:r>
            <a:r>
              <a:rPr lang="en-US" sz="2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EtherChannel for Link Aggregation.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8724" y="800633"/>
            <a:ext cx="17615525" cy="328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b="true" sz="1576" spc="172">
                <a:solidFill>
                  <a:srgbClr val="F4BC4A"/>
                </a:solidFill>
                <a:latin typeface="Inter Bold"/>
                <a:ea typeface="Inter Bold"/>
                <a:cs typeface="Inter Bold"/>
                <a:sym typeface="Inter Bold"/>
              </a:rPr>
              <a:t>FIELD LOG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227733" y="-263304"/>
            <a:ext cx="2060267" cy="2060267"/>
            <a:chOff x="0" y="0"/>
            <a:chExt cx="3356623" cy="33566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56610" cy="3356610"/>
            </a:xfrm>
            <a:custGeom>
              <a:avLst/>
              <a:gdLst/>
              <a:ahLst/>
              <a:cxnLst/>
              <a:rect r="r" b="b" t="t" l="l"/>
              <a:pathLst>
                <a:path h="3356610" w="3356610">
                  <a:moveTo>
                    <a:pt x="0" y="0"/>
                  </a:moveTo>
                  <a:lnTo>
                    <a:pt x="3356610" y="0"/>
                  </a:lnTo>
                  <a:lnTo>
                    <a:pt x="3356610" y="3356610"/>
                  </a:lnTo>
                  <a:lnTo>
                    <a:pt x="0" y="335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57175" y="7784555"/>
            <a:ext cx="1314450" cy="2362200"/>
          </a:xfrm>
          <a:custGeom>
            <a:avLst/>
            <a:gdLst/>
            <a:ahLst/>
            <a:cxnLst/>
            <a:rect r="r" b="b" t="t" l="l"/>
            <a:pathLst>
              <a:path h="2362200" w="1314450">
                <a:moveTo>
                  <a:pt x="0" y="0"/>
                </a:moveTo>
                <a:lnTo>
                  <a:pt x="1314450" y="0"/>
                </a:lnTo>
                <a:lnTo>
                  <a:pt x="1314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2400" y="152400"/>
            <a:ext cx="3486150" cy="3000375"/>
          </a:xfrm>
          <a:custGeom>
            <a:avLst/>
            <a:gdLst/>
            <a:ahLst/>
            <a:cxnLst/>
            <a:rect r="r" b="b" t="t" l="l"/>
            <a:pathLst>
              <a:path h="3000375" w="3486150">
                <a:moveTo>
                  <a:pt x="0" y="0"/>
                </a:moveTo>
                <a:lnTo>
                  <a:pt x="3486150" y="0"/>
                </a:lnTo>
                <a:lnTo>
                  <a:pt x="34861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7152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72036"/>
            <a:ext cx="18301840" cy="14297"/>
            <a:chOff x="0" y="0"/>
            <a:chExt cx="24402453" cy="190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2414" cy="19050"/>
            </a:xfrm>
            <a:custGeom>
              <a:avLst/>
              <a:gdLst/>
              <a:ahLst/>
              <a:cxnLst/>
              <a:rect r="r" b="b" t="t" l="l"/>
              <a:pathLst>
                <a:path h="1905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7F7F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686333"/>
            <a:ext cx="915095" cy="9608706"/>
            <a:chOff x="0" y="0"/>
            <a:chExt cx="1220127" cy="12811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0089" cy="12811633"/>
            </a:xfrm>
            <a:custGeom>
              <a:avLst/>
              <a:gdLst/>
              <a:ahLst/>
              <a:cxnLst/>
              <a:rect r="r" b="b" t="t" l="l"/>
              <a:pathLst>
                <a:path h="12811633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12811633"/>
                  </a:lnTo>
                  <a:lnTo>
                    <a:pt x="0" y="12811633"/>
                  </a:lnTo>
                  <a:close/>
                </a:path>
              </a:pathLst>
            </a:custGeom>
            <a:solidFill>
              <a:srgbClr val="F4C54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87024" y="967009"/>
            <a:ext cx="16700430" cy="48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6"/>
              </a:lnSpc>
            </a:pPr>
            <a:r>
              <a:rPr lang="en-US" sz="2876">
                <a:solidFill>
                  <a:srgbClr val="F2FFFA"/>
                </a:solidFill>
                <a:latin typeface="Arimo"/>
                <a:ea typeface="Arimo"/>
                <a:cs typeface="Arimo"/>
                <a:sym typeface="Arimo"/>
              </a:rPr>
              <a:t>Quick Knowledge Check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87024" y="1733569"/>
            <a:ext cx="5284565" cy="85792"/>
            <a:chOff x="0" y="0"/>
            <a:chExt cx="7046087" cy="1143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45960" cy="114300"/>
            </a:xfrm>
            <a:custGeom>
              <a:avLst/>
              <a:gdLst/>
              <a:ahLst/>
              <a:cxnLst/>
              <a:rect r="r" b="b" t="t" l="l"/>
              <a:pathLst>
                <a:path h="114300" w="7045960">
                  <a:moveTo>
                    <a:pt x="0" y="57150"/>
                  </a:moveTo>
                  <a:cubicBezTo>
                    <a:pt x="0" y="25654"/>
                    <a:pt x="25654" y="0"/>
                    <a:pt x="57150" y="0"/>
                  </a:cubicBezTo>
                  <a:lnTo>
                    <a:pt x="6988810" y="0"/>
                  </a:lnTo>
                  <a:cubicBezTo>
                    <a:pt x="7020433" y="0"/>
                    <a:pt x="7045960" y="25654"/>
                    <a:pt x="7045960" y="57150"/>
                  </a:cubicBezTo>
                  <a:cubicBezTo>
                    <a:pt x="7045960" y="88773"/>
                    <a:pt x="7020306" y="114300"/>
                    <a:pt x="6988810" y="114300"/>
                  </a:cubicBezTo>
                  <a:lnTo>
                    <a:pt x="57150" y="114300"/>
                  </a:lnTo>
                  <a:cubicBezTo>
                    <a:pt x="25654" y="114427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F4C54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8564" y="2339099"/>
            <a:ext cx="7778286" cy="3339932"/>
            <a:chOff x="0" y="0"/>
            <a:chExt cx="10371049" cy="44532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71074" cy="4453255"/>
            </a:xfrm>
            <a:custGeom>
              <a:avLst/>
              <a:gdLst/>
              <a:ahLst/>
              <a:cxnLst/>
              <a:rect r="r" b="b" t="t" l="l"/>
              <a:pathLst>
                <a:path h="4453255" w="10371074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10348214" y="0"/>
                  </a:lnTo>
                  <a:cubicBezTo>
                    <a:pt x="10360914" y="0"/>
                    <a:pt x="10371074" y="10287"/>
                    <a:pt x="10371074" y="22860"/>
                  </a:cubicBezTo>
                  <a:lnTo>
                    <a:pt x="10371074" y="4430395"/>
                  </a:lnTo>
                  <a:cubicBezTo>
                    <a:pt x="10371074" y="4443095"/>
                    <a:pt x="10360787" y="4453255"/>
                    <a:pt x="10348214" y="4453255"/>
                  </a:cubicBezTo>
                  <a:lnTo>
                    <a:pt x="22860" y="4453255"/>
                  </a:lnTo>
                  <a:cubicBezTo>
                    <a:pt x="10160" y="4453255"/>
                    <a:pt x="0" y="4442968"/>
                    <a:pt x="0" y="4430395"/>
                  </a:cubicBezTo>
                  <a:close/>
                </a:path>
              </a:pathLst>
            </a:custGeom>
            <a:solidFill>
              <a:srgbClr val="2F4359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44260" y="2576396"/>
            <a:ext cx="2841308" cy="23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01" spc="103">
                <a:solidFill>
                  <a:srgbClr val="1CC8E8"/>
                </a:solidFill>
                <a:latin typeface="Arimo"/>
                <a:ea typeface="Arimo"/>
                <a:cs typeface="Arimo"/>
                <a:sym typeface="Arimo"/>
              </a:rPr>
              <a:t>Q1 · ROUTING PROTOCOLS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0550" y="2952750"/>
            <a:ext cx="7320734" cy="75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Which routing protocol uses Area concepts and calculates paths using Dijkstra's algorithm?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3310" y="3808292"/>
            <a:ext cx="7320734" cy="112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2925"/>
              </a:lnSpc>
              <a:buFont typeface="Arial"/>
              <a:buChar char="•"/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A)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RIPv2</a:t>
            </a:r>
          </a:p>
          <a:p>
            <a:pPr algn="l" marL="394236" indent="-197118" lvl="1">
              <a:lnSpc>
                <a:spcPts val="2925"/>
              </a:lnSpc>
              <a:buFont typeface="Arial"/>
              <a:buChar char="•"/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B)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EIGRP</a:t>
            </a:r>
          </a:p>
          <a:p>
            <a:pPr algn="l" marL="394236" indent="-197118" lvl="1">
              <a:lnSpc>
                <a:spcPts val="2925"/>
              </a:lnSpc>
              <a:buFont typeface="Arial"/>
              <a:buChar char="•"/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C)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OSPF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68170" y="5016260"/>
            <a:ext cx="7549505" cy="2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651" spc="16">
                <a:solidFill>
                  <a:srgbClr val="F4C542"/>
                </a:solidFill>
                <a:latin typeface="Arimo Bold"/>
                <a:ea typeface="Arimo Bold"/>
                <a:cs typeface="Arimo Bold"/>
                <a:sym typeface="Arimo Bold"/>
              </a:rPr>
              <a:t>Answer: C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79687" y="2348624"/>
            <a:ext cx="7778286" cy="3339932"/>
            <a:chOff x="0" y="0"/>
            <a:chExt cx="10371049" cy="44532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71074" cy="4453255"/>
            </a:xfrm>
            <a:custGeom>
              <a:avLst/>
              <a:gdLst/>
              <a:ahLst/>
              <a:cxnLst/>
              <a:rect r="r" b="b" t="t" l="l"/>
              <a:pathLst>
                <a:path h="4453255" w="10371074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10348214" y="0"/>
                  </a:lnTo>
                  <a:cubicBezTo>
                    <a:pt x="10360914" y="0"/>
                    <a:pt x="10371074" y="10287"/>
                    <a:pt x="10371074" y="22860"/>
                  </a:cubicBezTo>
                  <a:lnTo>
                    <a:pt x="10371074" y="4430395"/>
                  </a:lnTo>
                  <a:cubicBezTo>
                    <a:pt x="10371074" y="4443095"/>
                    <a:pt x="10360787" y="4453255"/>
                    <a:pt x="10348214" y="4453255"/>
                  </a:cubicBezTo>
                  <a:lnTo>
                    <a:pt x="22860" y="4453255"/>
                  </a:lnTo>
                  <a:cubicBezTo>
                    <a:pt x="10160" y="4453255"/>
                    <a:pt x="0" y="4442968"/>
                    <a:pt x="0" y="4430395"/>
                  </a:cubicBezTo>
                  <a:close/>
                </a:path>
              </a:pathLst>
            </a:custGeom>
            <a:solidFill>
              <a:srgbClr val="2F4359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696450" y="2576396"/>
            <a:ext cx="3103483" cy="23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01" spc="103">
                <a:solidFill>
                  <a:srgbClr val="1CC8E8"/>
                </a:solidFill>
                <a:latin typeface="Arimo"/>
                <a:ea typeface="Arimo"/>
                <a:cs typeface="Arimo"/>
                <a:sym typeface="Arimo"/>
              </a:rPr>
              <a:t>Q2 · ACCESS CONTROL LISTS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44075" y="2952750"/>
            <a:ext cx="7320734" cy="75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Where should a Standard ACL be placed for optimal traffic filtering?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44075" y="3961439"/>
            <a:ext cx="7320734" cy="75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2925"/>
              </a:lnSpc>
              <a:buFont typeface="Arial"/>
              <a:buChar char="•"/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A)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As close to the Source as possible.</a:t>
            </a:r>
          </a:p>
          <a:p>
            <a:pPr algn="l" marL="394236" indent="-197118" lvl="1">
              <a:lnSpc>
                <a:spcPts val="2925"/>
              </a:lnSpc>
              <a:buFont typeface="Arial"/>
              <a:buChar char="•"/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B)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As close to the Destination as possible.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37239" y="4856385"/>
            <a:ext cx="7549505" cy="2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651" spc="16">
                <a:solidFill>
                  <a:srgbClr val="F4C542"/>
                </a:solidFill>
                <a:latin typeface="Arimo Bold"/>
                <a:ea typeface="Arimo Bold"/>
                <a:cs typeface="Arimo Bold"/>
                <a:sym typeface="Arimo Bold"/>
              </a:rPr>
              <a:t>Answer: B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08564" y="6002880"/>
            <a:ext cx="7778286" cy="3339932"/>
            <a:chOff x="0" y="0"/>
            <a:chExt cx="10371049" cy="44532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71074" cy="4453255"/>
            </a:xfrm>
            <a:custGeom>
              <a:avLst/>
              <a:gdLst/>
              <a:ahLst/>
              <a:cxnLst/>
              <a:rect r="r" b="b" t="t" l="l"/>
              <a:pathLst>
                <a:path h="4453255" w="10371074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10348214" y="0"/>
                  </a:lnTo>
                  <a:cubicBezTo>
                    <a:pt x="10360914" y="0"/>
                    <a:pt x="10371074" y="10287"/>
                    <a:pt x="10371074" y="22860"/>
                  </a:cubicBezTo>
                  <a:lnTo>
                    <a:pt x="10371074" y="4430395"/>
                  </a:lnTo>
                  <a:cubicBezTo>
                    <a:pt x="10371074" y="4443095"/>
                    <a:pt x="10360787" y="4453255"/>
                    <a:pt x="10348214" y="4453255"/>
                  </a:cubicBezTo>
                  <a:lnTo>
                    <a:pt x="22860" y="4453255"/>
                  </a:lnTo>
                  <a:cubicBezTo>
                    <a:pt x="10160" y="4453255"/>
                    <a:pt x="0" y="4442968"/>
                    <a:pt x="0" y="4430395"/>
                  </a:cubicBezTo>
                  <a:close/>
                </a:path>
              </a:pathLst>
            </a:custGeom>
            <a:solidFill>
              <a:srgbClr val="2F4359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563310" y="6263819"/>
            <a:ext cx="2047994" cy="23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01" spc="103">
                <a:solidFill>
                  <a:srgbClr val="1CC8E8"/>
                </a:solidFill>
                <a:latin typeface="Arimo"/>
                <a:ea typeface="Arimo"/>
                <a:cs typeface="Arimo"/>
                <a:sym typeface="Arimo"/>
              </a:rPr>
              <a:t>Q3 · LAYER 2 &amp; STP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20550" y="6656489"/>
            <a:ext cx="7320734" cy="75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What is the main advantage of enabling STP PortFast on access ports?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3310" y="7512031"/>
            <a:ext cx="7320734" cy="112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2925"/>
              </a:lnSpc>
              <a:buFont typeface="Arial"/>
              <a:buChar char="•"/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A)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Increases bandwidth.</a:t>
            </a:r>
          </a:p>
          <a:p>
            <a:pPr algn="l" marL="394236" indent="-197118" lvl="1">
              <a:lnSpc>
                <a:spcPts val="2925"/>
              </a:lnSpc>
              <a:buFont typeface="Arial"/>
              <a:buChar char="•"/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B)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Immediately transitions ports to Forwarding state, bypassing Listening/Learning.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30181" y="8767624"/>
            <a:ext cx="7549505" cy="2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651" spc="16">
                <a:solidFill>
                  <a:srgbClr val="F4C542"/>
                </a:solidFill>
                <a:latin typeface="Arimo Bold"/>
                <a:ea typeface="Arimo Bold"/>
                <a:cs typeface="Arimo Bold"/>
                <a:sym typeface="Arimo Bold"/>
              </a:rPr>
              <a:t>Answer: B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81014" y="5975518"/>
            <a:ext cx="7778286" cy="3339932"/>
            <a:chOff x="0" y="0"/>
            <a:chExt cx="10371049" cy="44532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371074" cy="4453255"/>
            </a:xfrm>
            <a:custGeom>
              <a:avLst/>
              <a:gdLst/>
              <a:ahLst/>
              <a:cxnLst/>
              <a:rect r="r" b="b" t="t" l="l"/>
              <a:pathLst>
                <a:path h="4453255" w="10371074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10348214" y="0"/>
                  </a:lnTo>
                  <a:cubicBezTo>
                    <a:pt x="10360914" y="0"/>
                    <a:pt x="10371074" y="10287"/>
                    <a:pt x="10371074" y="22860"/>
                  </a:cubicBezTo>
                  <a:lnTo>
                    <a:pt x="10371074" y="4430395"/>
                  </a:lnTo>
                  <a:cubicBezTo>
                    <a:pt x="10371074" y="4443095"/>
                    <a:pt x="10360787" y="4453255"/>
                    <a:pt x="10348214" y="4453255"/>
                  </a:cubicBezTo>
                  <a:lnTo>
                    <a:pt x="22860" y="4453255"/>
                  </a:lnTo>
                  <a:cubicBezTo>
                    <a:pt x="10160" y="4453255"/>
                    <a:pt x="0" y="4442968"/>
                    <a:pt x="0" y="4430395"/>
                  </a:cubicBezTo>
                  <a:close/>
                </a:path>
              </a:pathLst>
            </a:custGeom>
            <a:solidFill>
              <a:srgbClr val="2F4359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837239" y="6197144"/>
            <a:ext cx="2454831" cy="23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01" spc="103">
                <a:solidFill>
                  <a:srgbClr val="1CC8E8"/>
                </a:solidFill>
                <a:latin typeface="Arimo"/>
                <a:ea typeface="Arimo"/>
                <a:cs typeface="Arimo"/>
                <a:sym typeface="Arimo"/>
              </a:rPr>
              <a:t>Q4 · SWITCH SECURITY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91700" y="6635667"/>
            <a:ext cx="7320734" cy="75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Which security feature mitigates Rogue DHCP servers and DHCP Spoofing attacks?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36558" y="7529310"/>
            <a:ext cx="7320734" cy="112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2925"/>
              </a:lnSpc>
              <a:buFont typeface="Arial"/>
              <a:buChar char="•"/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A)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Port Security</a:t>
            </a:r>
          </a:p>
          <a:p>
            <a:pPr algn="l" marL="394236" indent="-197118" lvl="1">
              <a:lnSpc>
                <a:spcPts val="2925"/>
              </a:lnSpc>
              <a:buFont typeface="Arial"/>
              <a:buChar char="•"/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B)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DHCP Snooping </a:t>
            </a:r>
          </a:p>
          <a:p>
            <a:pPr algn="l" marL="394236" indent="-197118" lvl="1">
              <a:lnSpc>
                <a:spcPts val="2925"/>
              </a:lnSpc>
              <a:buFont typeface="Arial"/>
              <a:buChar char="•"/>
            </a:pPr>
            <a:r>
              <a:rPr lang="en-US" b="true" sz="217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C)</a:t>
            </a:r>
            <a:r>
              <a:rPr lang="en-US" sz="21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EtherChannel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37239" y="8794427"/>
            <a:ext cx="7549505" cy="2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651" spc="16">
                <a:solidFill>
                  <a:srgbClr val="F4C542"/>
                </a:solidFill>
                <a:latin typeface="Arimo Bold"/>
                <a:ea typeface="Arimo Bold"/>
                <a:cs typeface="Arimo Bold"/>
                <a:sym typeface="Arimo Bold"/>
              </a:rPr>
              <a:t>Answer: B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6764000" y="428625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25509" y="264319"/>
            <a:ext cx="1609344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253">
                <a:solidFill>
                  <a:srgbClr val="FF9E42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FIELD NOTE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0" y="0"/>
            <a:ext cx="3486150" cy="3000375"/>
          </a:xfrm>
          <a:custGeom>
            <a:avLst/>
            <a:gdLst/>
            <a:ahLst/>
            <a:cxnLst/>
            <a:rect r="r" b="b" t="t" l="l"/>
            <a:pathLst>
              <a:path h="3000375" w="3486150">
                <a:moveTo>
                  <a:pt x="0" y="0"/>
                </a:moveTo>
                <a:lnTo>
                  <a:pt x="3486150" y="0"/>
                </a:lnTo>
                <a:lnTo>
                  <a:pt x="34861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496925" y="7286625"/>
            <a:ext cx="4791075" cy="3000375"/>
          </a:xfrm>
          <a:custGeom>
            <a:avLst/>
            <a:gdLst/>
            <a:ahLst/>
            <a:cxnLst/>
            <a:rect r="r" b="b" t="t" l="l"/>
            <a:pathLst>
              <a:path h="3000375" w="4791075">
                <a:moveTo>
                  <a:pt x="0" y="0"/>
                </a:moveTo>
                <a:lnTo>
                  <a:pt x="4791075" y="0"/>
                </a:lnTo>
                <a:lnTo>
                  <a:pt x="47910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916792" y="-230166"/>
            <a:ext cx="2789914" cy="3927470"/>
            <a:chOff x="0" y="0"/>
            <a:chExt cx="7897673" cy="111178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97622" cy="11117860"/>
            </a:xfrm>
            <a:custGeom>
              <a:avLst/>
              <a:gdLst/>
              <a:ahLst/>
              <a:cxnLst/>
              <a:rect r="r" b="b" t="t" l="l"/>
              <a:pathLst>
                <a:path h="11117860" w="7897622">
                  <a:moveTo>
                    <a:pt x="0" y="0"/>
                  </a:moveTo>
                  <a:lnTo>
                    <a:pt x="7897622" y="0"/>
                  </a:lnTo>
                  <a:lnTo>
                    <a:pt x="7897622" y="11117860"/>
                  </a:lnTo>
                  <a:lnTo>
                    <a:pt x="0" y="11117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1023" t="-13812" r="0" b="-19271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39983" y="694256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</a:blip>
            <a:stretch>
              <a:fillRect l="-6" t="0" r="-6" b="0"/>
            </a:stretch>
          </a:blipFill>
        </p:spPr>
      </p:sp>
      <p:sp>
        <p:nvSpPr>
          <p:cNvPr name="AutoShape 3" id="3"/>
          <p:cNvSpPr/>
          <p:nvPr/>
        </p:nvSpPr>
        <p:spPr>
          <a:xfrm rot="-5371800">
            <a:off x="14167199" y="7805985"/>
            <a:ext cx="249160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0771800">
            <a:off x="12930273" y="6570431"/>
            <a:ext cx="249160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364311" y="8998982"/>
            <a:ext cx="96012" cy="96012"/>
            <a:chOff x="0" y="0"/>
            <a:chExt cx="128016" cy="1280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91840" y="6526501"/>
            <a:ext cx="96012" cy="96012"/>
            <a:chOff x="0" y="0"/>
            <a:chExt cx="128016" cy="1280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9" id="9"/>
          <p:cNvSpPr/>
          <p:nvPr/>
        </p:nvSpPr>
        <p:spPr>
          <a:xfrm rot="51060">
            <a:off x="5359156" y="7663634"/>
            <a:ext cx="137484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48940">
            <a:off x="6037659" y="8340776"/>
            <a:ext cx="137484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320751" y="7619705"/>
            <a:ext cx="96012" cy="96012"/>
            <a:chOff x="0" y="0"/>
            <a:chExt cx="128016" cy="1280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76387" y="8975350"/>
            <a:ext cx="96012" cy="96012"/>
            <a:chOff x="0" y="0"/>
            <a:chExt cx="128016" cy="128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15" id="15"/>
          <p:cNvSpPr/>
          <p:nvPr/>
        </p:nvSpPr>
        <p:spPr>
          <a:xfrm rot="30660">
            <a:off x="15243296" y="8048339"/>
            <a:ext cx="228818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68860">
            <a:off x="16395735" y="9164945"/>
            <a:ext cx="2253729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5204862" y="8004410"/>
            <a:ext cx="96012" cy="96012"/>
            <a:chOff x="0" y="0"/>
            <a:chExt cx="128016" cy="1280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473908" y="10238994"/>
            <a:ext cx="96012" cy="96012"/>
            <a:chOff x="0" y="0"/>
            <a:chExt cx="128016" cy="1280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21" id="21"/>
          <p:cNvSpPr/>
          <p:nvPr/>
        </p:nvSpPr>
        <p:spPr>
          <a:xfrm rot="5360040">
            <a:off x="9918783" y="7252106"/>
            <a:ext cx="1758124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10760040">
            <a:off x="9048626" y="8122272"/>
            <a:ext cx="1758124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0749153" y="6339392"/>
            <a:ext cx="96012" cy="96012"/>
            <a:chOff x="0" y="0"/>
            <a:chExt cx="128016" cy="1280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010202" y="8078343"/>
            <a:ext cx="96012" cy="96012"/>
            <a:chOff x="0" y="0"/>
            <a:chExt cx="128016" cy="1280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27" id="27"/>
          <p:cNvSpPr/>
          <p:nvPr/>
        </p:nvSpPr>
        <p:spPr>
          <a:xfrm rot="10765980">
            <a:off x="54131" y="4623044"/>
            <a:ext cx="206366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-5365980">
            <a:off x="-967445" y="3600098"/>
            <a:ext cx="206366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2060219" y="4579115"/>
            <a:ext cx="96012" cy="96012"/>
            <a:chOff x="0" y="0"/>
            <a:chExt cx="128016" cy="1280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697" y="2534593"/>
            <a:ext cx="96012" cy="96012"/>
            <a:chOff x="0" y="0"/>
            <a:chExt cx="128016" cy="1280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33" id="33"/>
          <p:cNvSpPr/>
          <p:nvPr/>
        </p:nvSpPr>
        <p:spPr>
          <a:xfrm rot="5363520">
            <a:off x="12607766" y="7148627"/>
            <a:ext cx="192474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10763520">
            <a:off x="11654285" y="8102108"/>
            <a:ext cx="192474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3521452" y="6152588"/>
            <a:ext cx="96012" cy="96012"/>
            <a:chOff x="0" y="0"/>
            <a:chExt cx="128016" cy="1280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15861" y="8058179"/>
            <a:ext cx="96012" cy="96012"/>
            <a:chOff x="0" y="0"/>
            <a:chExt cx="128016" cy="1280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39" id="39"/>
          <p:cNvSpPr/>
          <p:nvPr/>
        </p:nvSpPr>
        <p:spPr>
          <a:xfrm rot="35460">
            <a:off x="14692027" y="4245750"/>
            <a:ext cx="198139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5364540">
            <a:off x="15673835" y="5226187"/>
            <a:ext cx="198139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4653603" y="4201820"/>
            <a:ext cx="96012" cy="96012"/>
            <a:chOff x="0" y="0"/>
            <a:chExt cx="128016" cy="1280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615839" y="6164056"/>
            <a:ext cx="96012" cy="96012"/>
            <a:chOff x="0" y="0"/>
            <a:chExt cx="128016" cy="1280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45" id="45"/>
          <p:cNvSpPr/>
          <p:nvPr/>
        </p:nvSpPr>
        <p:spPr>
          <a:xfrm rot="73620">
            <a:off x="11590896" y="2199723"/>
            <a:ext cx="95357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rot="5326380">
            <a:off x="12058736" y="2666190"/>
            <a:ext cx="95357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1552530" y="2155793"/>
            <a:ext cx="96012" cy="96012"/>
            <a:chOff x="0" y="0"/>
            <a:chExt cx="128016" cy="1280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486837" y="3090100"/>
            <a:ext cx="96012" cy="96012"/>
            <a:chOff x="0" y="0"/>
            <a:chExt cx="128016" cy="1280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51" id="51"/>
          <p:cNvSpPr/>
          <p:nvPr/>
        </p:nvSpPr>
        <p:spPr>
          <a:xfrm rot="5349900">
            <a:off x="9662103" y="4177827"/>
            <a:ext cx="140131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rot="50100">
            <a:off x="10352475" y="4869571"/>
            <a:ext cx="140131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10314070" y="3443526"/>
            <a:ext cx="96012" cy="96012"/>
            <a:chOff x="0" y="0"/>
            <a:chExt cx="128016" cy="1280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696186" y="4825641"/>
            <a:ext cx="96012" cy="96012"/>
            <a:chOff x="0" y="0"/>
            <a:chExt cx="128016" cy="1280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57" id="57"/>
          <p:cNvSpPr/>
          <p:nvPr/>
        </p:nvSpPr>
        <p:spPr>
          <a:xfrm rot="10765680">
            <a:off x="15047014" y="1250928"/>
            <a:ext cx="204465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rot="-5344920">
            <a:off x="14420164" y="622744"/>
            <a:ext cx="127421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17034081" y="1206998"/>
            <a:ext cx="96012" cy="96012"/>
            <a:chOff x="0" y="0"/>
            <a:chExt cx="128016" cy="1280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008581" y="-48006"/>
            <a:ext cx="96012" cy="96012"/>
            <a:chOff x="0" y="0"/>
            <a:chExt cx="128016" cy="1280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63" id="63"/>
          <p:cNvSpPr/>
          <p:nvPr/>
        </p:nvSpPr>
        <p:spPr>
          <a:xfrm rot="10746000">
            <a:off x="-9601" y="9206160"/>
            <a:ext cx="1300544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rot="-5356200">
            <a:off x="-801062" y="8413318"/>
            <a:ext cx="160349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1233326" y="9162231"/>
            <a:ext cx="96012" cy="96012"/>
            <a:chOff x="0" y="0"/>
            <a:chExt cx="128016" cy="1280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-48006" y="7577909"/>
            <a:ext cx="96012" cy="96012"/>
            <a:chOff x="0" y="0"/>
            <a:chExt cx="128016" cy="1280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69" id="69"/>
          <p:cNvSpPr/>
          <p:nvPr/>
        </p:nvSpPr>
        <p:spPr>
          <a:xfrm rot="10702200">
            <a:off x="4922444" y="10208133"/>
            <a:ext cx="71796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rot="-5302200">
            <a:off x="4573819" y="9858137"/>
            <a:ext cx="71796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5582736" y="10164204"/>
            <a:ext cx="96012" cy="96012"/>
            <a:chOff x="0" y="0"/>
            <a:chExt cx="128016" cy="1280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884115" y="9465583"/>
            <a:ext cx="96012" cy="96012"/>
            <a:chOff x="0" y="0"/>
            <a:chExt cx="128016" cy="1280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75" id="75"/>
          <p:cNvSpPr/>
          <p:nvPr/>
        </p:nvSpPr>
        <p:spPr>
          <a:xfrm rot="-5363940">
            <a:off x="16965349" y="6720802"/>
            <a:ext cx="194791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rot="190560">
            <a:off x="17928803" y="5757110"/>
            <a:ext cx="36854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17890607" y="7641936"/>
            <a:ext cx="96012" cy="96012"/>
            <a:chOff x="0" y="0"/>
            <a:chExt cx="128016" cy="1280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8239537" y="5713181"/>
            <a:ext cx="96012" cy="96012"/>
            <a:chOff x="0" y="0"/>
            <a:chExt cx="128016" cy="1280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81" id="81"/>
          <p:cNvSpPr/>
          <p:nvPr/>
        </p:nvSpPr>
        <p:spPr>
          <a:xfrm rot="5366460">
            <a:off x="6679673" y="6104801"/>
            <a:ext cx="2093452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33540">
            <a:off x="7716145" y="7142645"/>
            <a:ext cx="2093452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3" id="83"/>
          <p:cNvGrpSpPr/>
          <p:nvPr/>
        </p:nvGrpSpPr>
        <p:grpSpPr>
          <a:xfrm rot="0">
            <a:off x="7677712" y="5024409"/>
            <a:ext cx="96012" cy="96012"/>
            <a:chOff x="0" y="0"/>
            <a:chExt cx="128016" cy="12801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752019" y="7098716"/>
            <a:ext cx="96012" cy="96012"/>
            <a:chOff x="0" y="0"/>
            <a:chExt cx="128016" cy="1280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87" id="87"/>
          <p:cNvSpPr/>
          <p:nvPr/>
        </p:nvSpPr>
        <p:spPr>
          <a:xfrm rot="-5360880">
            <a:off x="16766410" y="4896202"/>
            <a:ext cx="179452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109020">
            <a:off x="17653302" y="4009215"/>
            <a:ext cx="64392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9" id="89"/>
          <p:cNvGrpSpPr/>
          <p:nvPr/>
        </p:nvGrpSpPr>
        <p:grpSpPr>
          <a:xfrm rot="0">
            <a:off x="17614983" y="5740632"/>
            <a:ext cx="96012" cy="96012"/>
            <a:chOff x="0" y="0"/>
            <a:chExt cx="128016" cy="12801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8239537" y="3965286"/>
            <a:ext cx="96012" cy="96012"/>
            <a:chOff x="0" y="0"/>
            <a:chExt cx="128016" cy="12801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2998470" y="3478530"/>
            <a:ext cx="9090660" cy="2644140"/>
            <a:chOff x="0" y="0"/>
            <a:chExt cx="12120880" cy="35255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2120880" cy="3525520"/>
            </a:xfrm>
            <a:custGeom>
              <a:avLst/>
              <a:gdLst/>
              <a:ahLst/>
              <a:cxnLst/>
              <a:rect r="r" b="b" t="t" l="l"/>
              <a:pathLst>
                <a:path h="3525520" w="1212088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11898249" y="0"/>
                  </a:lnTo>
                  <a:cubicBezTo>
                    <a:pt x="12021185" y="0"/>
                    <a:pt x="12120880" y="99695"/>
                    <a:pt x="12120880" y="222631"/>
                  </a:cubicBezTo>
                  <a:lnTo>
                    <a:pt x="12120880" y="3302889"/>
                  </a:lnTo>
                  <a:cubicBezTo>
                    <a:pt x="12120880" y="3425825"/>
                    <a:pt x="12021185" y="3525520"/>
                    <a:pt x="11898249" y="3525520"/>
                  </a:cubicBezTo>
                  <a:lnTo>
                    <a:pt x="222631" y="3525520"/>
                  </a:lnTo>
                  <a:cubicBezTo>
                    <a:pt x="99695" y="3525520"/>
                    <a:pt x="0" y="3425825"/>
                    <a:pt x="0" y="3302889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2839212" y="3957066"/>
            <a:ext cx="178308" cy="123444"/>
            <a:chOff x="0" y="0"/>
            <a:chExt cx="237744" cy="164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2839212" y="4478274"/>
            <a:ext cx="178308" cy="123444"/>
            <a:chOff x="0" y="0"/>
            <a:chExt cx="237744" cy="16459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2839212" y="4999482"/>
            <a:ext cx="178308" cy="123444"/>
            <a:chOff x="0" y="0"/>
            <a:chExt cx="237744" cy="16459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2839212" y="5520690"/>
            <a:ext cx="178308" cy="123444"/>
            <a:chOff x="0" y="0"/>
            <a:chExt cx="237744" cy="164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070080" y="3957066"/>
            <a:ext cx="178308" cy="123444"/>
            <a:chOff x="0" y="0"/>
            <a:chExt cx="237744" cy="16459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070080" y="4478274"/>
            <a:ext cx="178308" cy="123444"/>
            <a:chOff x="0" y="0"/>
            <a:chExt cx="237744" cy="16459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070080" y="4999482"/>
            <a:ext cx="178308" cy="123444"/>
            <a:chOff x="0" y="0"/>
            <a:chExt cx="237744" cy="164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070080" y="5520690"/>
            <a:ext cx="178308" cy="123444"/>
            <a:chOff x="0" y="0"/>
            <a:chExt cx="237744" cy="16459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3017520" y="3497580"/>
            <a:ext cx="9052560" cy="1371600"/>
            <a:chOff x="0" y="0"/>
            <a:chExt cx="12070080" cy="1828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2070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1207008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F2FF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ANY QUESTIONS?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3017520" y="4869180"/>
            <a:ext cx="9052560" cy="960120"/>
            <a:chOff x="0" y="0"/>
            <a:chExt cx="12070080" cy="12801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2070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120700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2A73D"/>
                  </a:solidFill>
                  <a:latin typeface="Consolas"/>
                  <a:ea typeface="Consolas"/>
                  <a:cs typeface="Consolas"/>
                  <a:sym typeface="Consolas"/>
                </a:rPr>
                <a:t>system.query( )  awaiting input...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477494" y="6070854"/>
            <a:ext cx="4111752" cy="4111752"/>
            <a:chOff x="0" y="0"/>
            <a:chExt cx="5482336" cy="548233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482336" cy="5482336"/>
            </a:xfrm>
            <a:custGeom>
              <a:avLst/>
              <a:gdLst/>
              <a:ahLst/>
              <a:cxnLst/>
              <a:rect r="r" b="b" t="t" l="l"/>
              <a:pathLst>
                <a:path h="5482336" w="5482336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5334635" y="0"/>
                  </a:lnTo>
                  <a:cubicBezTo>
                    <a:pt x="5416169" y="0"/>
                    <a:pt x="5482336" y="66167"/>
                    <a:pt x="5482336" y="147701"/>
                  </a:cubicBezTo>
                  <a:lnTo>
                    <a:pt x="5482336" y="5334635"/>
                  </a:lnTo>
                  <a:cubicBezTo>
                    <a:pt x="5482336" y="5416169"/>
                    <a:pt x="5416169" y="5482336"/>
                    <a:pt x="5334635" y="5482336"/>
                  </a:cubicBezTo>
                  <a:lnTo>
                    <a:pt x="147701" y="5482336"/>
                  </a:lnTo>
                  <a:cubicBezTo>
                    <a:pt x="66167" y="5482336"/>
                    <a:pt x="0" y="5416169"/>
                    <a:pt x="0" y="5334635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578840" y="6172200"/>
            <a:ext cx="3909060" cy="3909060"/>
            <a:chOff x="0" y="0"/>
            <a:chExt cx="5212080" cy="5212080"/>
          </a:xfrm>
        </p:grpSpPr>
        <p:sp>
          <p:nvSpPr>
            <p:cNvPr name="Freeform 120" id="120" descr="/home/claude/work/imgs/chrome_fallen.png"/>
            <p:cNvSpPr/>
            <p:nvPr/>
          </p:nvSpPr>
          <p:spPr>
            <a:xfrm flipH="false" flipV="false" rot="0">
              <a:off x="0" y="0"/>
              <a:ext cx="5212080" cy="5212080"/>
            </a:xfrm>
            <a:custGeom>
              <a:avLst/>
              <a:gdLst/>
              <a:ahLst/>
              <a:cxnLst/>
              <a:rect r="r" b="b" t="t" l="l"/>
              <a:pathLst>
                <a:path h="521208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5212080"/>
                  </a:lnTo>
                  <a:lnTo>
                    <a:pt x="0" y="5212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891540" y="9258300"/>
            <a:ext cx="12070080" cy="548640"/>
            <a:chOff x="0" y="0"/>
            <a:chExt cx="16093440" cy="7315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6093439" cy="731520"/>
            </a:xfrm>
            <a:custGeom>
              <a:avLst/>
              <a:gdLst/>
              <a:ahLst/>
              <a:cxnLst/>
              <a:rect r="r" b="b" t="t" l="l"/>
              <a:pathLst>
                <a:path h="73152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160934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00649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 don't be like Chrome — ask before you fall behind )</a:t>
              </a:r>
            </a:p>
          </p:txBody>
        </p:sp>
      </p:grpSp>
      <p:sp>
        <p:nvSpPr>
          <p:cNvPr name="AutoShape 124" id="124"/>
          <p:cNvSpPr/>
          <p:nvPr/>
        </p:nvSpPr>
        <p:spPr>
          <a:xfrm rot="2880">
            <a:off x="678656" y="9706166"/>
            <a:ext cx="169302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5" id="125"/>
          <p:cNvGrpSpPr/>
          <p:nvPr/>
        </p:nvGrpSpPr>
        <p:grpSpPr>
          <a:xfrm rot="0">
            <a:off x="14721383" y="9765792"/>
            <a:ext cx="2880360" cy="411480"/>
            <a:chOff x="0" y="0"/>
            <a:chExt cx="3840480" cy="5486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840480" cy="548640"/>
            </a:xfrm>
            <a:custGeom>
              <a:avLst/>
              <a:gdLst/>
              <a:ahLst/>
              <a:cxnLst/>
              <a:rect r="r" b="b" t="t" l="l"/>
              <a:pathLst>
                <a:path h="5486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38404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F2A73D"/>
                  </a:solidFill>
                  <a:latin typeface="Consolas"/>
                  <a:ea typeface="Consolas"/>
                  <a:cs typeface="Consolas"/>
                  <a:sym typeface="Consolas"/>
                </a:rPr>
                <a:t>Q &amp; A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97247" y="718004"/>
            <a:ext cx="96012" cy="96012"/>
            <a:chOff x="0" y="0"/>
            <a:chExt cx="128016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4" id="4"/>
          <p:cNvSpPr/>
          <p:nvPr/>
        </p:nvSpPr>
        <p:spPr>
          <a:xfrm rot="-5360220">
            <a:off x="14203785" y="7543581"/>
            <a:ext cx="176542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39780">
            <a:off x="15076227" y="6671139"/>
            <a:ext cx="176542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037803" y="8373456"/>
            <a:ext cx="96012" cy="96012"/>
            <a:chOff x="0" y="0"/>
            <a:chExt cx="128016" cy="128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84060" y="6627209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10" id="10"/>
          <p:cNvSpPr/>
          <p:nvPr/>
        </p:nvSpPr>
        <p:spPr>
          <a:xfrm rot="-5361840">
            <a:off x="12787694" y="904894"/>
            <a:ext cx="183847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30480">
            <a:off x="13696683" y="-4077"/>
            <a:ext cx="2305069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3658240" y="1771317"/>
            <a:ext cx="96012" cy="96012"/>
            <a:chOff x="0" y="0"/>
            <a:chExt cx="128016" cy="128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944174" y="-48006"/>
            <a:ext cx="96012" cy="96012"/>
            <a:chOff x="0" y="0"/>
            <a:chExt cx="128016" cy="1280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16" id="16"/>
          <p:cNvSpPr/>
          <p:nvPr/>
        </p:nvSpPr>
        <p:spPr>
          <a:xfrm rot="5347380">
            <a:off x="3363497" y="7204310"/>
            <a:ext cx="133351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10747380">
            <a:off x="2705662" y="7862145"/>
            <a:ext cx="133351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981555" y="6503918"/>
            <a:ext cx="96012" cy="96012"/>
            <a:chOff x="0" y="0"/>
            <a:chExt cx="128016" cy="1280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67257" y="7818215"/>
            <a:ext cx="96012" cy="96012"/>
            <a:chOff x="0" y="0"/>
            <a:chExt cx="128016" cy="1280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999439" y="4034580"/>
            <a:ext cx="96012" cy="96012"/>
            <a:chOff x="0" y="0"/>
            <a:chExt cx="128016" cy="1280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24" id="24"/>
          <p:cNvSpPr/>
          <p:nvPr/>
        </p:nvSpPr>
        <p:spPr>
          <a:xfrm rot="-5344140">
            <a:off x="1827848" y="1391641"/>
            <a:ext cx="125715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55860">
            <a:off x="2446134" y="773354"/>
            <a:ext cx="125715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2407739" y="1967370"/>
            <a:ext cx="96012" cy="96012"/>
            <a:chOff x="0" y="0"/>
            <a:chExt cx="128016" cy="1280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645684" y="729424"/>
            <a:ext cx="96012" cy="96012"/>
            <a:chOff x="0" y="0"/>
            <a:chExt cx="128016" cy="1280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30" id="30"/>
          <p:cNvSpPr/>
          <p:nvPr/>
        </p:nvSpPr>
        <p:spPr>
          <a:xfrm rot="78300">
            <a:off x="4258866" y="1665751"/>
            <a:ext cx="89638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-5321700">
            <a:off x="4698101" y="1226515"/>
            <a:ext cx="89638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4220499" y="1621822"/>
            <a:ext cx="96012" cy="96012"/>
            <a:chOff x="0" y="0"/>
            <a:chExt cx="128016" cy="1280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097609" y="744712"/>
            <a:ext cx="96012" cy="96012"/>
            <a:chOff x="0" y="0"/>
            <a:chExt cx="128016" cy="1280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36" id="36"/>
          <p:cNvSpPr/>
          <p:nvPr/>
        </p:nvSpPr>
        <p:spPr>
          <a:xfrm rot="10764360">
            <a:off x="6009056" y="1350102"/>
            <a:ext cx="1969332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rot="5364360">
            <a:off x="5034658" y="2324510"/>
            <a:ext cx="1969332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7920809" y="1306173"/>
            <a:ext cx="96012" cy="96012"/>
            <a:chOff x="0" y="0"/>
            <a:chExt cx="128016" cy="1280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970632" y="3256359"/>
            <a:ext cx="96012" cy="96012"/>
            <a:chOff x="0" y="0"/>
            <a:chExt cx="128016" cy="1280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835947" y="3550234"/>
            <a:ext cx="96012" cy="96012"/>
            <a:chOff x="0" y="0"/>
            <a:chExt cx="128016" cy="1280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44" id="44"/>
          <p:cNvSpPr/>
          <p:nvPr/>
        </p:nvSpPr>
        <p:spPr>
          <a:xfrm rot="5367240">
            <a:off x="13791190" y="8351749"/>
            <a:ext cx="214189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rot="10767240">
            <a:off x="12729134" y="9413805"/>
            <a:ext cx="214189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4813442" y="7247134"/>
            <a:ext cx="96012" cy="96012"/>
            <a:chOff x="0" y="0"/>
            <a:chExt cx="128016" cy="1280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690700" y="9369876"/>
            <a:ext cx="96012" cy="96012"/>
            <a:chOff x="0" y="0"/>
            <a:chExt cx="128016" cy="1280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50" id="50"/>
          <p:cNvSpPr/>
          <p:nvPr/>
        </p:nvSpPr>
        <p:spPr>
          <a:xfrm rot="10772160">
            <a:off x="9445962" y="10118665"/>
            <a:ext cx="2521534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rot="5018580">
            <a:off x="9363989" y="10200103"/>
            <a:ext cx="184442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1909917" y="10074735"/>
            <a:ext cx="96012" cy="96012"/>
            <a:chOff x="0" y="0"/>
            <a:chExt cx="128016" cy="1280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407519" y="10238994"/>
            <a:ext cx="96012" cy="96012"/>
            <a:chOff x="0" y="0"/>
            <a:chExt cx="128016" cy="1280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56" id="56"/>
          <p:cNvSpPr/>
          <p:nvPr/>
        </p:nvSpPr>
        <p:spPr>
          <a:xfrm rot="50520">
            <a:off x="747674" y="3707016"/>
            <a:ext cx="138994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 rot="5349480">
            <a:off x="1433741" y="4391701"/>
            <a:ext cx="138994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709270" y="3663086"/>
            <a:ext cx="96012" cy="96012"/>
            <a:chOff x="0" y="0"/>
            <a:chExt cx="128016" cy="1280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080022" y="5033829"/>
            <a:ext cx="96012" cy="96012"/>
            <a:chOff x="0" y="0"/>
            <a:chExt cx="128016" cy="1280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62" id="62"/>
          <p:cNvSpPr/>
          <p:nvPr/>
        </p:nvSpPr>
        <p:spPr>
          <a:xfrm rot="53700">
            <a:off x="5633285" y="3060240"/>
            <a:ext cx="130733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6883013" y="3016310"/>
            <a:ext cx="96012" cy="96012"/>
            <a:chOff x="0" y="0"/>
            <a:chExt cx="128016" cy="1280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186961" y="2724150"/>
            <a:ext cx="9913620" cy="2095500"/>
            <a:chOff x="0" y="0"/>
            <a:chExt cx="13218160" cy="2794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218161" cy="2794000"/>
            </a:xfrm>
            <a:custGeom>
              <a:avLst/>
              <a:gdLst/>
              <a:ahLst/>
              <a:cxnLst/>
              <a:rect r="r" b="b" t="t" l="l"/>
              <a:pathLst>
                <a:path h="2794000" w="13218161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12994640" y="0"/>
                  </a:lnTo>
                  <a:cubicBezTo>
                    <a:pt x="13118085" y="0"/>
                    <a:pt x="13218161" y="100076"/>
                    <a:pt x="13218161" y="223520"/>
                  </a:cubicBezTo>
                  <a:lnTo>
                    <a:pt x="13218161" y="2570480"/>
                  </a:lnTo>
                  <a:cubicBezTo>
                    <a:pt x="13218161" y="2693924"/>
                    <a:pt x="13118085" y="2794000"/>
                    <a:pt x="12994640" y="2794000"/>
                  </a:cubicBezTo>
                  <a:lnTo>
                    <a:pt x="223520" y="2794000"/>
                  </a:lnTo>
                  <a:cubicBezTo>
                    <a:pt x="100076" y="2794000"/>
                    <a:pt x="0" y="2693924"/>
                    <a:pt x="0" y="2570480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5790209" y="2564892"/>
            <a:ext cx="123444" cy="178308"/>
            <a:chOff x="0" y="0"/>
            <a:chExt cx="164592" cy="2377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436129" y="2564892"/>
            <a:ext cx="123444" cy="178308"/>
            <a:chOff x="0" y="0"/>
            <a:chExt cx="164592" cy="2377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082049" y="2564892"/>
            <a:ext cx="123444" cy="178308"/>
            <a:chOff x="0" y="0"/>
            <a:chExt cx="164592" cy="23774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727969" y="2564892"/>
            <a:ext cx="123444" cy="178308"/>
            <a:chOff x="0" y="0"/>
            <a:chExt cx="164592" cy="23774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373889" y="2564892"/>
            <a:ext cx="123444" cy="178308"/>
            <a:chOff x="0" y="0"/>
            <a:chExt cx="164592" cy="23774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790209" y="4800600"/>
            <a:ext cx="123444" cy="178308"/>
            <a:chOff x="0" y="0"/>
            <a:chExt cx="164592" cy="23774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436129" y="4800600"/>
            <a:ext cx="123444" cy="178308"/>
            <a:chOff x="0" y="0"/>
            <a:chExt cx="164592" cy="2377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082049" y="4800600"/>
            <a:ext cx="123444" cy="178308"/>
            <a:chOff x="0" y="0"/>
            <a:chExt cx="164592" cy="23774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727969" y="4800600"/>
            <a:ext cx="123444" cy="178308"/>
            <a:chOff x="0" y="0"/>
            <a:chExt cx="164592" cy="2377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373889" y="4800600"/>
            <a:ext cx="123444" cy="178308"/>
            <a:chOff x="0" y="0"/>
            <a:chExt cx="164592" cy="23774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4206011" y="2743200"/>
            <a:ext cx="9875520" cy="2057400"/>
            <a:chOff x="0" y="0"/>
            <a:chExt cx="13167360" cy="2743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167361" cy="2743200"/>
            </a:xfrm>
            <a:custGeom>
              <a:avLst/>
              <a:gdLst/>
              <a:ahLst/>
              <a:cxnLst/>
              <a:rect r="r" b="b" t="t" l="l"/>
              <a:pathLst>
                <a:path h="274320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13167360" cy="276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F2FF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sp>
        <p:nvSpPr>
          <p:cNvPr name="AutoShape 90" id="90"/>
          <p:cNvSpPr/>
          <p:nvPr/>
        </p:nvSpPr>
        <p:spPr>
          <a:xfrm rot="-5368740">
            <a:off x="7760894" y="1366838"/>
            <a:ext cx="2767127" cy="0"/>
          </a:xfrm>
          <a:prstGeom prst="line">
            <a:avLst/>
          </a:prstGeom>
          <a:ln cap="rnd" w="9525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1" id="91"/>
          <p:cNvGrpSpPr/>
          <p:nvPr/>
        </p:nvGrpSpPr>
        <p:grpSpPr>
          <a:xfrm rot="0">
            <a:off x="7909160" y="-310953"/>
            <a:ext cx="2517467" cy="2517467"/>
            <a:chOff x="0" y="0"/>
            <a:chExt cx="3356623" cy="335662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356610" cy="3356610"/>
            </a:xfrm>
            <a:custGeom>
              <a:avLst/>
              <a:gdLst/>
              <a:ahLst/>
              <a:cxnLst/>
              <a:rect r="r" b="b" t="t" l="l"/>
              <a:pathLst>
                <a:path h="3356610" w="3356610">
                  <a:moveTo>
                    <a:pt x="0" y="0"/>
                  </a:moveTo>
                  <a:lnTo>
                    <a:pt x="3356610" y="0"/>
                  </a:lnTo>
                  <a:lnTo>
                    <a:pt x="3356610" y="3356610"/>
                  </a:lnTo>
                  <a:lnTo>
                    <a:pt x="0" y="335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6759150" y="4978908"/>
            <a:ext cx="4376633" cy="4836881"/>
            <a:chOff x="0" y="0"/>
            <a:chExt cx="5835510" cy="644917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835523" cy="6449187"/>
            </a:xfrm>
            <a:custGeom>
              <a:avLst/>
              <a:gdLst/>
              <a:ahLst/>
              <a:cxnLst/>
              <a:rect r="r" b="b" t="t" l="l"/>
              <a:pathLst>
                <a:path h="6449187" w="5835523">
                  <a:moveTo>
                    <a:pt x="0" y="0"/>
                  </a:moveTo>
                  <a:lnTo>
                    <a:pt x="5835523" y="0"/>
                  </a:lnTo>
                  <a:lnTo>
                    <a:pt x="5835523" y="6449187"/>
                  </a:lnTo>
                  <a:lnTo>
                    <a:pt x="0" y="644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487" t="-16625" r="-246084" b="-9605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DAHV7sd7j6U</dc:identifier>
  <dcterms:modified xsi:type="dcterms:W3CDTF">2011-08-01T06:04:30Z</dcterms:modified>
  <cp:revision>1</cp:revision>
  <dc:title>Copy of Copy of DrStone_Circuit_Template.pptx</dc:title>
</cp:coreProperties>
</file>