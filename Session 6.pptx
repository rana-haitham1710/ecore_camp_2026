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Calibri (MS) Bold" charset="1" panose="020F0702030404030204"/>
      <p:regular r:id="rId25"/>
    </p:embeddedFont>
    <p:embeddedFont>
      <p:font typeface="Calibri (MS)" charset="1" panose="020F0502020204030204"/>
      <p:regular r:id="rId26"/>
    </p:embeddedFont>
    <p:embeddedFont>
      <p:font typeface="Cambria Bold" charset="1" panose="02040803050406030204"/>
      <p:regular r:id="rId27"/>
    </p:embeddedFont>
    <p:embeddedFont>
      <p:font typeface="Obra Letra" charset="1" panose="00000000000000000000"/>
      <p:regular r:id="rId30"/>
    </p:embeddedFont>
    <p:embeddedFont>
      <p:font typeface="PT Sans Bold" charset="1" panose="020B0703020203020204"/>
      <p:regular r:id="rId31"/>
    </p:embeddedFont>
    <p:embeddedFont>
      <p:font typeface="Caladea Bold" charset="1" panose="02040803050406030204"/>
      <p:regular r:id="rId34"/>
    </p:embeddedFont>
    <p:embeddedFont>
      <p:font typeface="Carlito" charset="1" panose="020F0502020204030204"/>
      <p:regular r:id="rId35"/>
    </p:embeddedFont>
    <p:embeddedFont>
      <p:font typeface="Carlito Bold" charset="1" panose="020F0502020204030204"/>
      <p:regular r:id="rId36"/>
    </p:embeddedFont>
    <p:embeddedFont>
      <p:font typeface="Consolas" charset="1" panose="020B0609020204030204"/>
      <p:regular r:id="rId41"/>
    </p:embeddedFont>
    <p:embeddedFont>
      <p:font typeface="Consolas Bold" charset="1" panose="020B0709020204030204"/>
      <p:regular r:id="rId43"/>
    </p:embeddedFont>
    <p:embeddedFont>
      <p:font typeface="Calibri (MS) Italics" charset="1" panose="020F05020202040A0204"/>
      <p:regular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Slides/notesSlide2.xml" Type="http://schemas.openxmlformats.org/officeDocument/2006/relationships/notesSlide"/><Relationship Id="rId29" Target="notesSlides/notesSlide3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notesSlides/notesSlide4.xml" Type="http://schemas.openxmlformats.org/officeDocument/2006/relationships/notesSlide"/><Relationship Id="rId33" Target="notesSlides/notesSlide5.xml" Type="http://schemas.openxmlformats.org/officeDocument/2006/relationships/notes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notesSlides/notesSlide6.xml" Type="http://schemas.openxmlformats.org/officeDocument/2006/relationships/notesSlide"/><Relationship Id="rId38" Target="notesSlides/notesSlide7.xml" Type="http://schemas.openxmlformats.org/officeDocument/2006/relationships/notesSlide"/><Relationship Id="rId39" Target="notesSlides/notesSlide8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9.xml" Type="http://schemas.openxmlformats.org/officeDocument/2006/relationships/notesSlide"/><Relationship Id="rId41" Target="fonts/font41.fntdata" Type="http://schemas.openxmlformats.org/officeDocument/2006/relationships/font"/><Relationship Id="rId42" Target="notesSlides/notesSlide10.xml" Type="http://schemas.openxmlformats.org/officeDocument/2006/relationships/notesSlide"/><Relationship Id="rId43" Target="fonts/font43.fntdata" Type="http://schemas.openxmlformats.org/officeDocument/2006/relationships/font"/><Relationship Id="rId44" Target="notesSlides/notesSlide11.xml" Type="http://schemas.openxmlformats.org/officeDocument/2006/relationships/notesSlide"/><Relationship Id="rId45" Target="fonts/font45.fntdata" Type="http://schemas.openxmlformats.org/officeDocument/2006/relationships/font"/><Relationship Id="rId46" Target="notesSlides/notesSlide12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6.png" Type="http://schemas.openxmlformats.org/officeDocument/2006/relationships/image"/><Relationship Id="rId4" Target="../media/image1.png" Type="http://schemas.openxmlformats.org/officeDocument/2006/relationships/image"/><Relationship Id="rId5" Target="../media/image4.png" Type="http://schemas.openxmlformats.org/officeDocument/2006/relationships/image"/><Relationship Id="rId6" Target="../media/image2.jpeg" Type="http://schemas.openxmlformats.org/officeDocument/2006/relationships/image"/><Relationship Id="rId7" Target="../media/image7.png" Type="http://schemas.openxmlformats.org/officeDocument/2006/relationships/image"/><Relationship Id="rId8" Target="../media/image8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12" Target="../media/image18.png" Type="http://schemas.openxmlformats.org/officeDocument/2006/relationships/image"/><Relationship Id="rId13" Target="../media/image19.png" Type="http://schemas.openxmlformats.org/officeDocument/2006/relationships/image"/><Relationship Id="rId14" Target="../media/image20.png" Type="http://schemas.openxmlformats.org/officeDocument/2006/relationships/image"/><Relationship Id="rId15" Target="../media/image21.png" Type="http://schemas.openxmlformats.org/officeDocument/2006/relationships/image"/><Relationship Id="rId16" Target="../media/image22.png" Type="http://schemas.openxmlformats.org/officeDocument/2006/relationships/image"/><Relationship Id="rId17" Target="../media/image23.pn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png" Type="http://schemas.openxmlformats.org/officeDocument/2006/relationships/image"/><Relationship Id="rId12" Target="../media/image33.png" Type="http://schemas.openxmlformats.org/officeDocument/2006/relationships/image"/><Relationship Id="rId13" Target="../media/image34.jpeg" Type="http://schemas.openxmlformats.org/officeDocument/2006/relationships/image"/><Relationship Id="rId14" Target="../media/image23.pn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../media/image29.pn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27.png" Type="http://schemas.openxmlformats.org/officeDocument/2006/relationships/image"/><Relationship Id="rId5" Target="../media/image3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37.png" Type="http://schemas.openxmlformats.org/officeDocument/2006/relationships/image"/><Relationship Id="rId4" Target="../media/image1.png" Type="http://schemas.openxmlformats.org/officeDocument/2006/relationships/image"/><Relationship Id="rId5" Target="../media/image35.pn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35.png" Type="http://schemas.openxmlformats.org/officeDocument/2006/relationships/image"/><Relationship Id="rId4" Target="../media/image1.png" Type="http://schemas.openxmlformats.org/officeDocument/2006/relationships/image"/><Relationship Id="rId5" Target="../media/image2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38.png" Type="http://schemas.openxmlformats.org/officeDocument/2006/relationships/image"/><Relationship Id="rId4" Target="../media/image35.png" Type="http://schemas.openxmlformats.org/officeDocument/2006/relationships/image"/><Relationship Id="rId5" Target="../media/image1.pn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7.png" Type="http://schemas.openxmlformats.org/officeDocument/2006/relationships/image"/><Relationship Id="rId4" Target="../media/image35.png" Type="http://schemas.openxmlformats.org/officeDocument/2006/relationships/image"/><Relationship Id="rId5" Target="../media/image3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5.png" Type="http://schemas.openxmlformats.org/officeDocument/2006/relationships/image"/><Relationship Id="rId4" Target="../media/image27.pn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5.pn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37.png" Type="http://schemas.openxmlformats.org/officeDocument/2006/relationships/image"/><Relationship Id="rId4" Target="../media/image1.png" Type="http://schemas.openxmlformats.org/officeDocument/2006/relationships/image"/><Relationship Id="rId5" Target="../media/image3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1.png" Type="http://schemas.openxmlformats.org/officeDocument/2006/relationships/image"/><Relationship Id="rId4" Target="../media/image4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6.png" Type="http://schemas.openxmlformats.org/officeDocument/2006/relationships/image"/><Relationship Id="rId4" Target="../media/image2.jpeg" Type="http://schemas.openxmlformats.org/officeDocument/2006/relationships/image"/><Relationship Id="rId5" Target="../media/image41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2.jpeg" Type="http://schemas.openxmlformats.org/officeDocument/2006/relationships/image"/><Relationship Id="rId4" Target="../media/image4.png" Type="http://schemas.openxmlformats.org/officeDocument/2006/relationships/image"/><Relationship Id="rId5" Target="../media/image4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16000" y="7406640"/>
            <a:ext cx="4937760" cy="3291840"/>
            <a:chOff x="0" y="0"/>
            <a:chExt cx="6583680" cy="4389120"/>
          </a:xfrm>
        </p:grpSpPr>
        <p:sp>
          <p:nvSpPr>
            <p:cNvPr name="Freeform 3" id="3" descr="/home/claude/alu_deck/assets/assets_trace_teal.png"/>
            <p:cNvSpPr/>
            <p:nvPr/>
          </p:nvSpPr>
          <p:spPr>
            <a:xfrm flipH="false" flipV="false" rot="0">
              <a:off x="0" y="0"/>
              <a:ext cx="65836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0" r="0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22920">
            <a:off x="1014365" y="3117723"/>
            <a:ext cx="4280630" cy="0"/>
          </a:xfrm>
          <a:prstGeom prst="line">
            <a:avLst/>
          </a:prstGeom>
          <a:ln cap="rnd" w="19050">
            <a:solidFill>
              <a:srgbClr val="F2A73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960120" y="3291840"/>
            <a:ext cx="8229600" cy="685800"/>
            <a:chOff x="0" y="0"/>
            <a:chExt cx="1097280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914400"/>
            </a:xfrm>
            <a:custGeom>
              <a:avLst/>
              <a:gdLst/>
              <a:ahLst/>
              <a:cxnLst/>
              <a:rect r="r" b="b" t="t" l="l"/>
              <a:pathLst>
                <a:path h="9144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09728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450">
                  <a:solidFill>
                    <a:srgbClr val="F2A7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SCIENCE MEETS CIRCUITS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6789420"/>
            <a:ext cx="9326880" cy="685800"/>
            <a:chOff x="0" y="0"/>
            <a:chExt cx="1243584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435840" cy="914400"/>
            </a:xfrm>
            <a:custGeom>
              <a:avLst/>
              <a:gdLst/>
              <a:ahLst/>
              <a:cxnLst/>
              <a:rect r="r" b="b" t="t" l="l"/>
              <a:pathLst>
                <a:path h="914400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243584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9FD3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DHCP,DNS,NAT,IPv6,Wireless and some commands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10112" y="1651637"/>
            <a:ext cx="4065886" cy="8635363"/>
            <a:chOff x="0" y="0"/>
            <a:chExt cx="6492240" cy="13788593"/>
          </a:xfrm>
        </p:grpSpPr>
        <p:sp>
          <p:nvSpPr>
            <p:cNvPr name="Freeform 12" id="12" descr="/home/claude/assets/senku_full.png"/>
            <p:cNvSpPr/>
            <p:nvPr/>
          </p:nvSpPr>
          <p:spPr>
            <a:xfrm flipH="false" flipV="false" rot="0">
              <a:off x="0" y="0"/>
              <a:ext cx="6492240" cy="13788592"/>
            </a:xfrm>
            <a:custGeom>
              <a:avLst/>
              <a:gdLst/>
              <a:ahLst/>
              <a:cxnLst/>
              <a:rect r="r" b="b" t="t" l="l"/>
              <a:pathLst>
                <a:path h="13788592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13788592"/>
                  </a:lnTo>
                  <a:lnTo>
                    <a:pt x="0" y="13788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035" r="0" b="-1035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-1440180" y="-384048"/>
            <a:ext cx="4937760" cy="3291840"/>
            <a:chOff x="0" y="0"/>
            <a:chExt cx="6583680" cy="4389120"/>
          </a:xfrm>
        </p:grpSpPr>
        <p:sp>
          <p:nvSpPr>
            <p:cNvPr name="Freeform 14" id="14" descr="/home/claude/alu_deck/assets/assets_trace_teal.png"/>
            <p:cNvSpPr/>
            <p:nvPr/>
          </p:nvSpPr>
          <p:spPr>
            <a:xfrm flipH="false" flipV="false" rot="0">
              <a:off x="0" y="0"/>
              <a:ext cx="65836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6369589" y="-127786"/>
            <a:ext cx="1779422" cy="1779422"/>
            <a:chOff x="0" y="0"/>
            <a:chExt cx="2372563" cy="237256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72614" cy="2372614"/>
            </a:xfrm>
            <a:custGeom>
              <a:avLst/>
              <a:gdLst/>
              <a:ahLst/>
              <a:cxnLst/>
              <a:rect r="r" b="b" t="t" l="l"/>
              <a:pathLst>
                <a:path h="2372614" w="2372614">
                  <a:moveTo>
                    <a:pt x="0" y="0"/>
                  </a:moveTo>
                  <a:lnTo>
                    <a:pt x="2372614" y="0"/>
                  </a:lnTo>
                  <a:lnTo>
                    <a:pt x="2372614" y="2372614"/>
                  </a:lnTo>
                  <a:lnTo>
                    <a:pt x="0" y="2372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2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840618" y="1261872"/>
            <a:ext cx="4454330" cy="2227165"/>
          </a:xfrm>
          <a:custGeom>
            <a:avLst/>
            <a:gdLst/>
            <a:ahLst/>
            <a:cxnLst/>
            <a:rect r="r" b="b" t="t" l="l"/>
            <a:pathLst>
              <a:path h="2227165" w="4454330">
                <a:moveTo>
                  <a:pt x="0" y="0"/>
                </a:moveTo>
                <a:lnTo>
                  <a:pt x="4454330" y="0"/>
                </a:lnTo>
                <a:lnTo>
                  <a:pt x="4454330" y="2227165"/>
                </a:lnTo>
                <a:lnTo>
                  <a:pt x="0" y="22271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51560" y="4533900"/>
            <a:ext cx="10104120" cy="89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82"/>
              </a:lnSpc>
            </a:pPr>
            <a:r>
              <a:rPr lang="en-US" b="true" sz="570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Network Services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99705" y="1028700"/>
            <a:ext cx="6143582" cy="8898488"/>
          </a:xfrm>
          <a:custGeom>
            <a:avLst/>
            <a:gdLst/>
            <a:ahLst/>
            <a:cxnLst/>
            <a:rect r="r" b="b" t="t" l="l"/>
            <a:pathLst>
              <a:path h="8898488" w="6143582">
                <a:moveTo>
                  <a:pt x="0" y="0"/>
                </a:moveTo>
                <a:lnTo>
                  <a:pt x="6143581" y="0"/>
                </a:lnTo>
                <a:lnTo>
                  <a:pt x="6143581" y="8898488"/>
                </a:lnTo>
                <a:lnTo>
                  <a:pt x="0" y="88984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"/>
            </a:blip>
            <a:stretch>
              <a:fillRect l="-6" t="0" r="-6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716000" y="7406640"/>
            <a:ext cx="4937760" cy="3291840"/>
            <a:chOff x="0" y="0"/>
            <a:chExt cx="6583680" cy="4389120"/>
          </a:xfrm>
        </p:grpSpPr>
        <p:sp>
          <p:nvSpPr>
            <p:cNvPr name="Freeform 4" id="4" descr="/home/claude/alu_deck/assets/assets_trace_teal.png"/>
            <p:cNvSpPr/>
            <p:nvPr/>
          </p:nvSpPr>
          <p:spPr>
            <a:xfrm flipH="false" flipV="false" rot="0">
              <a:off x="0" y="0"/>
              <a:ext cx="65836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6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440180" y="-384048"/>
            <a:ext cx="4937760" cy="3291840"/>
            <a:chOff x="0" y="0"/>
            <a:chExt cx="6583680" cy="4389120"/>
          </a:xfrm>
        </p:grpSpPr>
        <p:sp>
          <p:nvSpPr>
            <p:cNvPr name="Freeform 6" id="6" descr="/home/claude/alu_deck/assets/assets_trace_teal.png"/>
            <p:cNvSpPr/>
            <p:nvPr/>
          </p:nvSpPr>
          <p:spPr>
            <a:xfrm flipH="false" flipV="false" rot="0">
              <a:off x="0" y="0"/>
              <a:ext cx="65836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6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369589" y="-127786"/>
            <a:ext cx="1779422" cy="1779422"/>
            <a:chOff x="0" y="0"/>
            <a:chExt cx="2372563" cy="237256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72614" cy="2372614"/>
            </a:xfrm>
            <a:custGeom>
              <a:avLst/>
              <a:gdLst/>
              <a:ahLst/>
              <a:cxnLst/>
              <a:rect r="r" b="b" t="t" l="l"/>
              <a:pathLst>
                <a:path h="2372614" w="2372614">
                  <a:moveTo>
                    <a:pt x="0" y="0"/>
                  </a:moveTo>
                  <a:lnTo>
                    <a:pt x="2372614" y="0"/>
                  </a:lnTo>
                  <a:lnTo>
                    <a:pt x="2372614" y="2372614"/>
                  </a:lnTo>
                  <a:lnTo>
                    <a:pt x="0" y="2372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5894011" y="221059"/>
            <a:ext cx="5835525" cy="1402370"/>
            <a:chOff x="0" y="0"/>
            <a:chExt cx="7780700" cy="186982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780700" cy="1869827"/>
            </a:xfrm>
            <a:custGeom>
              <a:avLst/>
              <a:gdLst/>
              <a:ahLst/>
              <a:cxnLst/>
              <a:rect r="r" b="b" t="t" l="l"/>
              <a:pathLst>
                <a:path h="1869827" w="7780700">
                  <a:moveTo>
                    <a:pt x="0" y="0"/>
                  </a:moveTo>
                  <a:lnTo>
                    <a:pt x="7780700" y="0"/>
                  </a:lnTo>
                  <a:lnTo>
                    <a:pt x="7780700" y="1869827"/>
                  </a:lnTo>
                  <a:lnTo>
                    <a:pt x="0" y="186982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8966" r="-36325" b="-5210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42875"/>
              <a:ext cx="7780700" cy="20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399"/>
                </a:lnSpc>
              </a:pPr>
              <a:r>
                <a:rPr lang="en-US" b="true" sz="6999" spc="29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PRESENTER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39341" y="3543988"/>
            <a:ext cx="754380" cy="61722"/>
            <a:chOff x="0" y="0"/>
            <a:chExt cx="1005840" cy="822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5840" cy="82296"/>
            </a:xfrm>
            <a:custGeom>
              <a:avLst/>
              <a:gdLst/>
              <a:ahLst/>
              <a:cxnLst/>
              <a:rect r="r" b="b" t="t" l="l"/>
              <a:pathLst>
                <a:path h="82296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35353" y="4083521"/>
            <a:ext cx="676789" cy="676789"/>
            <a:chOff x="0" y="0"/>
            <a:chExt cx="731520" cy="731520"/>
          </a:xfrm>
        </p:grpSpPr>
        <p:sp>
          <p:nvSpPr>
            <p:cNvPr name="Freeform 15" id="15" descr="/home/claude/assets/gen/hex_filled_blue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150537" y="3982002"/>
            <a:ext cx="6767890" cy="507592"/>
            <a:chOff x="0" y="0"/>
            <a:chExt cx="73152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7315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F2A7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DEPARTMENT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150537" y="4489594"/>
            <a:ext cx="10151835" cy="676789"/>
            <a:chOff x="0" y="0"/>
            <a:chExt cx="1097280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109728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ECE Level 300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35353" y="5775493"/>
            <a:ext cx="676789" cy="676789"/>
            <a:chOff x="0" y="0"/>
            <a:chExt cx="731520" cy="731520"/>
          </a:xfrm>
        </p:grpSpPr>
        <p:sp>
          <p:nvSpPr>
            <p:cNvPr name="Freeform 23" id="23" descr="/home/claude/assets/gen/hex_filled_blue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150537" y="5673975"/>
            <a:ext cx="6767890" cy="507592"/>
            <a:chOff x="0" y="0"/>
            <a:chExt cx="7315200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7315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F2A7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POSITION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150537" y="6181567"/>
            <a:ext cx="10151835" cy="676789"/>
            <a:chOff x="0" y="0"/>
            <a:chExt cx="1097280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6956" r="0" b="-103695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09728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Netw</a:t>
              </a:r>
              <a:r>
                <a:rPr lang="en-US" sz="22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ork Camp Instructor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35353" y="7467466"/>
            <a:ext cx="676789" cy="676789"/>
            <a:chOff x="0" y="0"/>
            <a:chExt cx="731520" cy="731520"/>
          </a:xfrm>
        </p:grpSpPr>
        <p:sp>
          <p:nvSpPr>
            <p:cNvPr name="Freeform 31" id="31" descr="/home/claude/assets/gen/hex_filled_blue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2150537" y="7365947"/>
            <a:ext cx="6767890" cy="507592"/>
            <a:chOff x="0" y="0"/>
            <a:chExt cx="7315200" cy="548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7315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F2A7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CONTACT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150537" y="7873539"/>
            <a:ext cx="10151835" cy="676789"/>
            <a:chOff x="0" y="0"/>
            <a:chExt cx="1097280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109728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ranahythmhsny@gmail.com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180445" y="2128254"/>
            <a:ext cx="5916930" cy="6819785"/>
            <a:chOff x="0" y="0"/>
            <a:chExt cx="6693281" cy="771459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693281" cy="7714597"/>
            </a:xfrm>
            <a:custGeom>
              <a:avLst/>
              <a:gdLst/>
              <a:ahLst/>
              <a:cxnLst/>
              <a:rect r="r" b="b" t="t" l="l"/>
              <a:pathLst>
                <a:path h="7714597" w="6693281">
                  <a:moveTo>
                    <a:pt x="0" y="168206"/>
                  </a:moveTo>
                  <a:cubicBezTo>
                    <a:pt x="0" y="75338"/>
                    <a:pt x="64492" y="0"/>
                    <a:pt x="143991" y="0"/>
                  </a:cubicBezTo>
                  <a:lnTo>
                    <a:pt x="6549289" y="0"/>
                  </a:lnTo>
                  <a:cubicBezTo>
                    <a:pt x="6628788" y="0"/>
                    <a:pt x="6693281" y="75338"/>
                    <a:pt x="6693281" y="168206"/>
                  </a:cubicBezTo>
                  <a:lnTo>
                    <a:pt x="6693281" y="7546391"/>
                  </a:lnTo>
                  <a:cubicBezTo>
                    <a:pt x="6693281" y="7639259"/>
                    <a:pt x="6628788" y="7714597"/>
                    <a:pt x="6549289" y="7714597"/>
                  </a:cubicBezTo>
                  <a:lnTo>
                    <a:pt x="143991" y="7714597"/>
                  </a:lnTo>
                  <a:cubicBezTo>
                    <a:pt x="64492" y="7714597"/>
                    <a:pt x="0" y="7639260"/>
                    <a:pt x="0" y="7546391"/>
                  </a:cubicBezTo>
                  <a:close/>
                </a:path>
              </a:pathLst>
            </a:custGeom>
            <a:blipFill>
              <a:blip r:embed="rId8"/>
              <a:stretch>
                <a:fillRect l="0" t="-15070" r="0" b="-15070"/>
              </a:stretch>
            </a:blipFill>
            <a:ln w="38100" cap="sq">
              <a:solidFill>
                <a:srgbClr val="F2A73D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1333768" y="2310310"/>
            <a:ext cx="3722846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true">
                <a:solidFill>
                  <a:srgbClr val="F2A73D"/>
                </a:solidFill>
                <a:latin typeface="Cambria Bold"/>
                <a:ea typeface="Cambria Bold"/>
                <a:cs typeface="Cambria Bold"/>
                <a:sym typeface="Cambria Bold"/>
              </a:rPr>
              <a:t>Rana Haitham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3486150" cy="2790825"/>
          </a:xfrm>
          <a:custGeom>
            <a:avLst/>
            <a:gdLst/>
            <a:ahLst/>
            <a:cxnLst/>
            <a:rect r="r" b="b" t="t" l="l"/>
            <a:pathLst>
              <a:path h="2790825" w="3486150">
                <a:moveTo>
                  <a:pt x="0" y="0"/>
                </a:moveTo>
                <a:lnTo>
                  <a:pt x="3486150" y="0"/>
                </a:lnTo>
                <a:lnTo>
                  <a:pt x="348615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277850" y="7715250"/>
            <a:ext cx="5010150" cy="2571750"/>
          </a:xfrm>
          <a:custGeom>
            <a:avLst/>
            <a:gdLst/>
            <a:ahLst/>
            <a:cxnLst/>
            <a:rect r="r" b="b" t="t" l="l"/>
            <a:pathLst>
              <a:path h="2571750" w="5010150">
                <a:moveTo>
                  <a:pt x="0" y="0"/>
                </a:moveTo>
                <a:lnTo>
                  <a:pt x="5010150" y="0"/>
                </a:lnTo>
                <a:lnTo>
                  <a:pt x="501015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6775" y="638175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9536" y="1331023"/>
            <a:ext cx="256032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sz="4767" spc="238">
                <a:solidFill>
                  <a:srgbClr val="FFFFFF"/>
                </a:solidFill>
                <a:latin typeface="Obra Letra"/>
                <a:ea typeface="Obra Letra"/>
                <a:cs typeface="Obra Letra"/>
                <a:sym typeface="Obra Letra"/>
              </a:rPr>
              <a:t>AGENDA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764000" y="428625"/>
            <a:ext cx="1095375" cy="647700"/>
          </a:xfrm>
          <a:custGeom>
            <a:avLst/>
            <a:gdLst/>
            <a:ahLst/>
            <a:cxnLst/>
            <a:rect r="r" b="b" t="t" l="l"/>
            <a:pathLst>
              <a:path h="647700" w="1095375">
                <a:moveTo>
                  <a:pt x="0" y="0"/>
                </a:moveTo>
                <a:lnTo>
                  <a:pt x="1095375" y="0"/>
                </a:lnTo>
                <a:lnTo>
                  <a:pt x="1095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47700" y="2571750"/>
            <a:ext cx="10677525" cy="1504950"/>
          </a:xfrm>
          <a:custGeom>
            <a:avLst/>
            <a:gdLst/>
            <a:ahLst/>
            <a:cxnLst/>
            <a:rect r="r" b="b" t="t" l="l"/>
            <a:pathLst>
              <a:path h="1504950" w="10677525">
                <a:moveTo>
                  <a:pt x="0" y="0"/>
                </a:moveTo>
                <a:lnTo>
                  <a:pt x="10677525" y="0"/>
                </a:lnTo>
                <a:lnTo>
                  <a:pt x="10677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85850" y="2781300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249424" y="3115127"/>
            <a:ext cx="1499616" cy="398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315" b="true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DHCP&amp;DNS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47700" y="4067175"/>
            <a:ext cx="10677525" cy="1724025"/>
          </a:xfrm>
          <a:custGeom>
            <a:avLst/>
            <a:gdLst/>
            <a:ahLst/>
            <a:cxnLst/>
            <a:rect r="r" b="b" t="t" l="l"/>
            <a:pathLst>
              <a:path h="1724025" w="10677525">
                <a:moveTo>
                  <a:pt x="0" y="0"/>
                </a:moveTo>
                <a:lnTo>
                  <a:pt x="10677525" y="0"/>
                </a:lnTo>
                <a:lnTo>
                  <a:pt x="1067752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85850" y="4495800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89888" y="4715045"/>
            <a:ext cx="384048" cy="438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0"/>
              </a:lnSpc>
            </a:pPr>
            <a:r>
              <a:rPr lang="en-US" sz="2593" b="true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49424" y="4715851"/>
            <a:ext cx="1024128" cy="406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0"/>
              </a:lnSpc>
            </a:pPr>
            <a:r>
              <a:rPr lang="en-US" sz="2371" b="true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NATING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47700" y="5781675"/>
            <a:ext cx="10677525" cy="1724025"/>
          </a:xfrm>
          <a:custGeom>
            <a:avLst/>
            <a:gdLst/>
            <a:ahLst/>
            <a:cxnLst/>
            <a:rect r="r" b="b" t="t" l="l"/>
            <a:pathLst>
              <a:path h="1724025" w="10677525">
                <a:moveTo>
                  <a:pt x="0" y="0"/>
                </a:moveTo>
                <a:lnTo>
                  <a:pt x="10677525" y="0"/>
                </a:lnTo>
                <a:lnTo>
                  <a:pt x="1067752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85850" y="6000750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249424" y="6334958"/>
            <a:ext cx="1938528" cy="398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315" b="true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Wireless Basics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47700" y="7496175"/>
            <a:ext cx="10677525" cy="1504950"/>
          </a:xfrm>
          <a:custGeom>
            <a:avLst/>
            <a:gdLst/>
            <a:ahLst/>
            <a:cxnLst/>
            <a:rect r="r" b="b" t="t" l="l"/>
            <a:pathLst>
              <a:path h="1504950" w="10677525">
                <a:moveTo>
                  <a:pt x="0" y="0"/>
                </a:moveTo>
                <a:lnTo>
                  <a:pt x="10677525" y="0"/>
                </a:lnTo>
                <a:lnTo>
                  <a:pt x="10677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85850" y="7715250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249424" y="7945969"/>
            <a:ext cx="1737360" cy="406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0"/>
              </a:lnSpc>
            </a:pPr>
            <a:r>
              <a:rPr lang="en-US" sz="2371" b="true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Ipv6 concept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1534775" y="2571750"/>
            <a:ext cx="6105525" cy="6429375"/>
          </a:xfrm>
          <a:custGeom>
            <a:avLst/>
            <a:gdLst/>
            <a:ahLst/>
            <a:cxnLst/>
            <a:rect r="r" b="b" t="t" l="l"/>
            <a:pathLst>
              <a:path h="6429375" w="6105525">
                <a:moveTo>
                  <a:pt x="0" y="0"/>
                </a:moveTo>
                <a:lnTo>
                  <a:pt x="6105525" y="0"/>
                </a:lnTo>
                <a:lnTo>
                  <a:pt x="6105525" y="6429375"/>
                </a:lnTo>
                <a:lnTo>
                  <a:pt x="0" y="64293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7026128" y="9818275"/>
            <a:ext cx="566928" cy="19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7"/>
              </a:lnSpc>
            </a:pPr>
            <a:r>
              <a:rPr lang="en-US" b="true" sz="1162">
                <a:solidFill>
                  <a:srgbClr val="F19C3A"/>
                </a:solidFill>
                <a:latin typeface="PT Sans Bold"/>
                <a:ea typeface="PT Sans Bold"/>
                <a:cs typeface="PT Sans Bold"/>
                <a:sym typeface="PT Sans Bold"/>
              </a:rPr>
              <a:t>AGENDA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80160" y="732973"/>
            <a:ext cx="2157984" cy="264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8"/>
              </a:lnSpc>
            </a:pPr>
            <a:r>
              <a:rPr lang="en-US" b="true" sz="1584" spc="316">
                <a:solidFill>
                  <a:srgbClr val="F19C3A"/>
                </a:solidFill>
                <a:latin typeface="PT Sans Bold"/>
                <a:ea typeface="PT Sans Bold"/>
                <a:cs typeface="PT Sans Bold"/>
                <a:sym typeface="PT Sans Bold"/>
              </a:rPr>
              <a:t>BOOT SEQUENCE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89888" y="3110273"/>
            <a:ext cx="384048" cy="438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0"/>
              </a:lnSpc>
            </a:pPr>
            <a:r>
              <a:rPr lang="en-US" sz="2593" b="true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01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89888" y="6330104"/>
            <a:ext cx="384048" cy="438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0"/>
              </a:lnSpc>
            </a:pPr>
            <a:r>
              <a:rPr lang="en-US" sz="2593" b="true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03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89888" y="7945163"/>
            <a:ext cx="384048" cy="438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0"/>
              </a:lnSpc>
            </a:pPr>
            <a:r>
              <a:rPr lang="en-US" sz="2593" b="true">
                <a:solidFill>
                  <a:srgbClr val="000000"/>
                </a:solidFill>
                <a:latin typeface="PT Sans Bold"/>
                <a:ea typeface="PT Sans Bold"/>
                <a:cs typeface="PT Sans Bold"/>
                <a:sym typeface="PT Sans Bold"/>
              </a:rPr>
              <a:t>04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6773525" y="7705725"/>
            <a:ext cx="1314450" cy="2362200"/>
          </a:xfrm>
          <a:custGeom>
            <a:avLst/>
            <a:gdLst/>
            <a:ahLst/>
            <a:cxnLst/>
            <a:rect r="r" b="b" t="t" l="l"/>
            <a:pathLst>
              <a:path h="2362200" w="1314450">
                <a:moveTo>
                  <a:pt x="0" y="0"/>
                </a:moveTo>
                <a:lnTo>
                  <a:pt x="1314450" y="0"/>
                </a:lnTo>
                <a:lnTo>
                  <a:pt x="131445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3486150" cy="2790825"/>
          </a:xfrm>
          <a:custGeom>
            <a:avLst/>
            <a:gdLst/>
            <a:ahLst/>
            <a:cxnLst/>
            <a:rect r="r" b="b" t="t" l="l"/>
            <a:pathLst>
              <a:path h="2790825" w="3486150">
                <a:moveTo>
                  <a:pt x="0" y="0"/>
                </a:moveTo>
                <a:lnTo>
                  <a:pt x="3486150" y="0"/>
                </a:lnTo>
                <a:lnTo>
                  <a:pt x="348615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277850" y="7286625"/>
            <a:ext cx="5010150" cy="3000375"/>
          </a:xfrm>
          <a:custGeom>
            <a:avLst/>
            <a:gdLst/>
            <a:ahLst/>
            <a:cxnLst/>
            <a:rect r="r" b="b" t="t" l="l"/>
            <a:pathLst>
              <a:path h="3000375" w="5010150">
                <a:moveTo>
                  <a:pt x="0" y="0"/>
                </a:moveTo>
                <a:lnTo>
                  <a:pt x="5010150" y="0"/>
                </a:lnTo>
                <a:lnTo>
                  <a:pt x="501015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857250"/>
            <a:ext cx="5010150" cy="8362950"/>
          </a:xfrm>
          <a:custGeom>
            <a:avLst/>
            <a:gdLst/>
            <a:ahLst/>
            <a:cxnLst/>
            <a:rect r="r" b="b" t="t" l="l"/>
            <a:pathLst>
              <a:path h="8362950" w="5010150">
                <a:moveTo>
                  <a:pt x="0" y="0"/>
                </a:moveTo>
                <a:lnTo>
                  <a:pt x="5010150" y="0"/>
                </a:lnTo>
                <a:lnTo>
                  <a:pt x="5010150" y="8362950"/>
                </a:lnTo>
                <a:lnTo>
                  <a:pt x="0" y="83629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66775" y="638175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764000" y="428625"/>
            <a:ext cx="1095375" cy="647700"/>
          </a:xfrm>
          <a:custGeom>
            <a:avLst/>
            <a:gdLst/>
            <a:ahLst/>
            <a:cxnLst/>
            <a:rect r="r" b="b" t="t" l="l"/>
            <a:pathLst>
              <a:path h="647700" w="1095375">
                <a:moveTo>
                  <a:pt x="0" y="0"/>
                </a:moveTo>
                <a:lnTo>
                  <a:pt x="1095375" y="0"/>
                </a:lnTo>
                <a:lnTo>
                  <a:pt x="1095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28625" y="2571750"/>
            <a:ext cx="10458450" cy="1504950"/>
          </a:xfrm>
          <a:custGeom>
            <a:avLst/>
            <a:gdLst/>
            <a:ahLst/>
            <a:cxnLst/>
            <a:rect r="r" b="b" t="t" l="l"/>
            <a:pathLst>
              <a:path h="1504950" w="10458450">
                <a:moveTo>
                  <a:pt x="0" y="0"/>
                </a:moveTo>
                <a:lnTo>
                  <a:pt x="10458450" y="0"/>
                </a:lnTo>
                <a:lnTo>
                  <a:pt x="10458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66775" y="2781300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28625" y="4286250"/>
            <a:ext cx="10458450" cy="1504950"/>
          </a:xfrm>
          <a:custGeom>
            <a:avLst/>
            <a:gdLst/>
            <a:ahLst/>
            <a:cxnLst/>
            <a:rect r="r" b="b" t="t" l="l"/>
            <a:pathLst>
              <a:path h="1504950" w="10458450">
                <a:moveTo>
                  <a:pt x="0" y="0"/>
                </a:moveTo>
                <a:lnTo>
                  <a:pt x="10458450" y="0"/>
                </a:lnTo>
                <a:lnTo>
                  <a:pt x="10458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66775" y="4495800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98448" y="787563"/>
            <a:ext cx="2139696" cy="212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b="true" sz="1617" spc="323">
                <a:solidFill>
                  <a:srgbClr val="FFBD59"/>
                </a:solidFill>
                <a:latin typeface="PT Sans Bold"/>
                <a:ea typeface="PT Sans Bold"/>
                <a:cs typeface="PT Sans Bold"/>
                <a:sym typeface="PT Sans Bold"/>
              </a:rPr>
              <a:t>BOOT SEQUENCE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59536" y="1425951"/>
            <a:ext cx="2578608" cy="669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0"/>
              </a:lnSpc>
            </a:pPr>
            <a:r>
              <a:rPr lang="en-US" sz="4990" spc="249">
                <a:solidFill>
                  <a:srgbClr val="FFFFFF"/>
                </a:solidFill>
                <a:latin typeface="Obra Letra"/>
                <a:ea typeface="Obra Letra"/>
                <a:cs typeface="Obra Letra"/>
                <a:sym typeface="Obra Letra"/>
              </a:rPr>
              <a:t>AGENDA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33856" y="3135636"/>
            <a:ext cx="365760" cy="340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b="true" sz="2519">
                <a:solidFill>
                  <a:srgbClr val="00192E"/>
                </a:solidFill>
                <a:latin typeface="PT Sans Bold"/>
                <a:ea typeface="PT Sans Bold"/>
                <a:cs typeface="PT Sans Bold"/>
                <a:sym typeface="PT Sans Bold"/>
              </a:rPr>
              <a:t>05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93392" y="3122360"/>
            <a:ext cx="1865376" cy="376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sz="2814" b="true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OSI MODEL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33856" y="4874139"/>
            <a:ext cx="365760" cy="340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b="true" sz="2519">
                <a:solidFill>
                  <a:srgbClr val="00192E"/>
                </a:solidFill>
                <a:latin typeface="PT Sans Bold"/>
                <a:ea typeface="PT Sans Bold"/>
                <a:cs typeface="PT Sans Bold"/>
                <a:sym typeface="PT Sans Bold"/>
              </a:rPr>
              <a:t>06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93392" y="4912298"/>
            <a:ext cx="3822192" cy="376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sz="2814" b="true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SOME CONFIGURATIONS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601450" y="2571750"/>
            <a:ext cx="5932665" cy="6154369"/>
            <a:chOff x="0" y="0"/>
            <a:chExt cx="7376592" cy="76522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76592" cy="7652255"/>
            </a:xfrm>
            <a:custGeom>
              <a:avLst/>
              <a:gdLst/>
              <a:ahLst/>
              <a:cxnLst/>
              <a:rect r="r" b="b" t="t" l="l"/>
              <a:pathLst>
                <a:path h="7652255" w="7376592">
                  <a:moveTo>
                    <a:pt x="0" y="166847"/>
                  </a:moveTo>
                  <a:cubicBezTo>
                    <a:pt x="0" y="74729"/>
                    <a:pt x="71076" y="0"/>
                    <a:pt x="158691" y="0"/>
                  </a:cubicBezTo>
                  <a:lnTo>
                    <a:pt x="7217901" y="0"/>
                  </a:lnTo>
                  <a:cubicBezTo>
                    <a:pt x="7305516" y="0"/>
                    <a:pt x="7376592" y="74729"/>
                    <a:pt x="7376592" y="166847"/>
                  </a:cubicBezTo>
                  <a:lnTo>
                    <a:pt x="7376592" y="7485409"/>
                  </a:lnTo>
                  <a:cubicBezTo>
                    <a:pt x="7376592" y="7577526"/>
                    <a:pt x="7305516" y="7652255"/>
                    <a:pt x="7217901" y="7652255"/>
                  </a:cubicBezTo>
                  <a:lnTo>
                    <a:pt x="158691" y="7652255"/>
                  </a:lnTo>
                  <a:cubicBezTo>
                    <a:pt x="71076" y="7652255"/>
                    <a:pt x="0" y="7577527"/>
                    <a:pt x="0" y="7485409"/>
                  </a:cubicBezTo>
                  <a:close/>
                </a:path>
              </a:pathLst>
            </a:custGeom>
            <a:blipFill>
              <a:blip r:embed="rId13"/>
              <a:stretch>
                <a:fillRect l="-45092" t="0" r="-45092" b="0"/>
              </a:stretch>
            </a:blipFill>
            <a:ln w="38100" cap="sq">
              <a:solidFill>
                <a:srgbClr val="F2A73D"/>
              </a:solidFill>
              <a:prstDash val="solid"/>
              <a:miter/>
            </a:ln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6781640" y="7753350"/>
            <a:ext cx="1314450" cy="2362200"/>
          </a:xfrm>
          <a:custGeom>
            <a:avLst/>
            <a:gdLst/>
            <a:ahLst/>
            <a:cxnLst/>
            <a:rect r="r" b="b" t="t" l="l"/>
            <a:pathLst>
              <a:path h="2362200" w="1314450">
                <a:moveTo>
                  <a:pt x="0" y="0"/>
                </a:moveTo>
                <a:lnTo>
                  <a:pt x="1314450" y="0"/>
                </a:lnTo>
                <a:lnTo>
                  <a:pt x="131445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01429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5095" y="1301782"/>
            <a:ext cx="10490478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4"/>
              </a:lnSpc>
            </a:pPr>
            <a:r>
              <a:rPr lang="en-US" b="true" sz="4953">
                <a:solidFill>
                  <a:srgbClr val="FFFFFF"/>
                </a:solidFill>
                <a:latin typeface="Caladea Bold"/>
                <a:ea typeface="Caladea Bold"/>
                <a:cs typeface="Caladea Bold"/>
                <a:sym typeface="Caladea Bold"/>
              </a:rPr>
              <a:t>Dynamic Host Configuration Protocol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5095" y="2221135"/>
            <a:ext cx="16471659" cy="558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b="true" sz="3602">
                <a:solidFill>
                  <a:srgbClr val="9FD3E8"/>
                </a:solidFill>
                <a:latin typeface="Caladea Bold"/>
                <a:ea typeface="Caladea Bold"/>
                <a:cs typeface="Caladea Bold"/>
                <a:sym typeface="Caladea Bold"/>
              </a:rPr>
              <a:t>DHCP automates host addressing, gateway, and DNS configuration.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5095" y="3810848"/>
            <a:ext cx="6977577" cy="695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b="true" sz="4503">
                <a:solidFill>
                  <a:srgbClr val="FFFFFF"/>
                </a:solidFill>
                <a:latin typeface="Caladea Bold"/>
                <a:ea typeface="Caladea Bold"/>
                <a:cs typeface="Caladea Bold"/>
                <a:sym typeface="Caladea Bold"/>
              </a:rPr>
              <a:t>Two deployment patterns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5095" y="4817012"/>
            <a:ext cx="6977577" cy="42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b="true" sz="2702">
                <a:solidFill>
                  <a:srgbClr val="FFBD59"/>
                </a:solidFill>
                <a:latin typeface="Caladea Bold"/>
                <a:ea typeface="Caladea Bold"/>
                <a:cs typeface="Caladea Bold"/>
                <a:sym typeface="Caladea Bold"/>
              </a:rPr>
              <a:t>Router-based DHCP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5095" y="5267935"/>
            <a:ext cx="7892672" cy="505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Local pool leases provide subnet, gateway, DNS, and lease time.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5095" y="6068349"/>
            <a:ext cx="6977577" cy="42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b="true" sz="2702">
                <a:solidFill>
                  <a:srgbClr val="FFBD59"/>
                </a:solidFill>
                <a:latin typeface="Caladea Bold"/>
                <a:ea typeface="Caladea Bold"/>
                <a:cs typeface="Caladea Bold"/>
                <a:sym typeface="Caladea Bold"/>
              </a:rPr>
              <a:t>Dedicated DHCP server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5095" y="6556229"/>
            <a:ext cx="6977577" cy="924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For routed subnets, ip helper-address on each client-facing router interface relays broadcasts to the central server.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09177" y="5401332"/>
            <a:ext cx="5483304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FFFFFF"/>
                </a:solidFill>
                <a:latin typeface="Caladea Bold"/>
                <a:ea typeface="Caladea Bold"/>
                <a:cs typeface="Caladea Bold"/>
                <a:sym typeface="Caladea Bold"/>
              </a:rPr>
              <a:t>DORA lease exchange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09177" y="6240256"/>
            <a:ext cx="6977577" cy="1624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641" indent="-190321" lvl="1">
              <a:lnSpc>
                <a:spcPts val="3152"/>
              </a:lnSpc>
              <a:buAutoNum type="arabicPeriod" startAt="1"/>
            </a:pPr>
            <a:r>
              <a:rPr lang="en-US" b="true" sz="2101">
                <a:solidFill>
                  <a:srgbClr val="FFBD59"/>
                </a:solidFill>
                <a:latin typeface="Carlito Bold"/>
                <a:ea typeface="Carlito Bold"/>
                <a:cs typeface="Carlito Bold"/>
                <a:sym typeface="Carlito Bold"/>
              </a:rPr>
              <a:t>Discover</a:t>
            </a:r>
            <a:r>
              <a:rPr lang="en-US" sz="2101">
                <a:solidFill>
                  <a:srgbClr val="FFBD59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101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— client broadcasts to find DHCP servers.</a:t>
            </a:r>
          </a:p>
          <a:p>
            <a:pPr algn="l" marL="380641" indent="-190321" lvl="1">
              <a:lnSpc>
                <a:spcPts val="3152"/>
              </a:lnSpc>
              <a:buAutoNum type="arabicPeriod" startAt="1"/>
            </a:pPr>
            <a:r>
              <a:rPr lang="en-US" b="true" sz="2101">
                <a:solidFill>
                  <a:srgbClr val="FFBD59"/>
                </a:solidFill>
                <a:latin typeface="Carlito Bold"/>
                <a:ea typeface="Carlito Bold"/>
                <a:cs typeface="Carlito Bold"/>
                <a:sym typeface="Carlito Bold"/>
              </a:rPr>
              <a:t>Offer</a:t>
            </a:r>
            <a:r>
              <a:rPr lang="en-US" sz="2101">
                <a:solidFill>
                  <a:srgbClr val="FFBD59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101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— server proposes an address and options.</a:t>
            </a:r>
          </a:p>
          <a:p>
            <a:pPr algn="l" marL="380641" indent="-190321" lvl="1">
              <a:lnSpc>
                <a:spcPts val="3152"/>
              </a:lnSpc>
              <a:buAutoNum type="arabicPeriod" startAt="1"/>
            </a:pPr>
            <a:r>
              <a:rPr lang="en-US" b="true" sz="2101">
                <a:solidFill>
                  <a:srgbClr val="FFBD59"/>
                </a:solidFill>
                <a:latin typeface="Carlito Bold"/>
                <a:ea typeface="Carlito Bold"/>
                <a:cs typeface="Carlito Bold"/>
                <a:sym typeface="Carlito Bold"/>
              </a:rPr>
              <a:t>Request</a:t>
            </a:r>
            <a:r>
              <a:rPr lang="en-US" sz="2101">
                <a:solidFill>
                  <a:srgbClr val="FFBD59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101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— client requests the chosen offer.</a:t>
            </a:r>
          </a:p>
          <a:p>
            <a:pPr algn="l" marL="380641" indent="-190321" lvl="1">
              <a:lnSpc>
                <a:spcPts val="3152"/>
              </a:lnSpc>
              <a:buAutoNum type="arabicPeriod" startAt="1"/>
            </a:pPr>
            <a:r>
              <a:rPr lang="en-US" b="true" sz="2101">
                <a:solidFill>
                  <a:srgbClr val="FFBD59"/>
                </a:solidFill>
                <a:latin typeface="Carlito Bold"/>
                <a:ea typeface="Carlito Bold"/>
                <a:cs typeface="Carlito Bold"/>
                <a:sym typeface="Carlito Bold"/>
              </a:rPr>
              <a:t>Ack</a:t>
            </a:r>
            <a:r>
              <a:rPr lang="en-US" sz="2101">
                <a:solidFill>
                  <a:srgbClr val="FFBD59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  <a:r>
              <a:rPr lang="en-US" sz="2101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— server confirms the lease.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-1287780" y="-231648"/>
            <a:ext cx="4937760" cy="3291840"/>
            <a:chOff x="0" y="0"/>
            <a:chExt cx="6583680" cy="4389120"/>
          </a:xfrm>
        </p:grpSpPr>
        <p:sp>
          <p:nvSpPr>
            <p:cNvPr name="Freeform 16" id="16" descr="/home/claude/alu_deck/assets/assets_trace_teal.png"/>
            <p:cNvSpPr/>
            <p:nvPr/>
          </p:nvSpPr>
          <p:spPr>
            <a:xfrm flipH="false" flipV="false" rot="0">
              <a:off x="0" y="0"/>
              <a:ext cx="65836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-10800000">
            <a:off x="13350240" y="7204743"/>
            <a:ext cx="4937760" cy="3291840"/>
            <a:chOff x="0" y="0"/>
            <a:chExt cx="6583680" cy="4389120"/>
          </a:xfrm>
        </p:grpSpPr>
        <p:sp>
          <p:nvSpPr>
            <p:cNvPr name="Freeform 18" id="18" descr="/home/claude/alu_deck/assets/assets_trace_teal.png"/>
            <p:cNvSpPr/>
            <p:nvPr/>
          </p:nvSpPr>
          <p:spPr>
            <a:xfrm flipH="false" flipV="false" rot="0">
              <a:off x="0" y="0"/>
              <a:ext cx="65836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16759238" y="401860"/>
            <a:ext cx="1095375" cy="647700"/>
          </a:xfrm>
          <a:custGeom>
            <a:avLst/>
            <a:gdLst/>
            <a:ahLst/>
            <a:cxnLst/>
            <a:rect r="r" b="b" t="t" l="l"/>
            <a:pathLst>
              <a:path h="647700" w="1095375">
                <a:moveTo>
                  <a:pt x="0" y="0"/>
                </a:moveTo>
                <a:lnTo>
                  <a:pt x="1095374" y="0"/>
                </a:lnTo>
                <a:lnTo>
                  <a:pt x="1095374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6739054" y="7338093"/>
            <a:ext cx="1314450" cy="2362200"/>
          </a:xfrm>
          <a:custGeom>
            <a:avLst/>
            <a:gdLst/>
            <a:ahLst/>
            <a:cxnLst/>
            <a:rect r="r" b="b" t="t" l="l"/>
            <a:pathLst>
              <a:path h="2362200" w="1314450">
                <a:moveTo>
                  <a:pt x="0" y="0"/>
                </a:moveTo>
                <a:lnTo>
                  <a:pt x="1314450" y="0"/>
                </a:lnTo>
                <a:lnTo>
                  <a:pt x="131445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248400" y="1009650"/>
            <a:ext cx="5010150" cy="8362950"/>
          </a:xfrm>
          <a:custGeom>
            <a:avLst/>
            <a:gdLst/>
            <a:ahLst/>
            <a:cxnLst/>
            <a:rect r="r" b="b" t="t" l="l"/>
            <a:pathLst>
              <a:path h="8362950" w="5010150">
                <a:moveTo>
                  <a:pt x="0" y="0"/>
                </a:moveTo>
                <a:lnTo>
                  <a:pt x="5010150" y="0"/>
                </a:lnTo>
                <a:lnTo>
                  <a:pt x="5010150" y="8362950"/>
                </a:lnTo>
                <a:lnTo>
                  <a:pt x="0" y="83629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01429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5095" y="1301782"/>
            <a:ext cx="16471659" cy="766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4"/>
              </a:lnSpc>
            </a:pPr>
            <a:r>
              <a:rPr lang="en-US" b="true" sz="4953">
                <a:solidFill>
                  <a:srgbClr val="FFFFFF"/>
                </a:solidFill>
                <a:latin typeface="Caladea Bold"/>
                <a:ea typeface="Caladea Bold"/>
                <a:cs typeface="Caladea Bold"/>
                <a:sym typeface="Caladea Bold"/>
              </a:rPr>
              <a:t>Domain Name System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5095" y="2306860"/>
            <a:ext cx="16471659" cy="558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b="true" sz="3602">
                <a:solidFill>
                  <a:srgbClr val="FFBD59"/>
                </a:solidFill>
                <a:latin typeface="Caladea Bold"/>
                <a:ea typeface="Caladea Bold"/>
                <a:cs typeface="Caladea Bold"/>
                <a:sym typeface="Caladea Bold"/>
              </a:rPr>
              <a:t>DNS maps human-readable names to data such as host addresses.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5095" y="3452193"/>
            <a:ext cx="6977577" cy="695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b="true" sz="4503">
                <a:solidFill>
                  <a:srgbClr val="FFFFFF"/>
                </a:solidFill>
                <a:latin typeface="Caladea Bold"/>
                <a:ea typeface="Caladea Bold"/>
                <a:cs typeface="Caladea Bold"/>
                <a:sym typeface="Caladea Bold"/>
              </a:rPr>
              <a:t>Resolution path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5095" y="4319502"/>
            <a:ext cx="6977577" cy="2217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6863" indent="-208432" lvl="1">
              <a:lnSpc>
                <a:spcPts val="3452"/>
              </a:lnSpc>
              <a:buAutoNum type="arabicPeriod" startAt="1"/>
            </a:pPr>
            <a:r>
              <a:rPr lang="en-US" sz="2301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Client asks its recursive resolver.</a:t>
            </a:r>
          </a:p>
          <a:p>
            <a:pPr algn="l" marL="416863" indent="-208432" lvl="1">
              <a:lnSpc>
                <a:spcPts val="3452"/>
              </a:lnSpc>
              <a:buAutoNum type="arabicPeriod" startAt="1"/>
            </a:pPr>
            <a:r>
              <a:rPr lang="en-US" sz="2301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On a cache miss, the resolver follows referrals: root → TLD → authoritative server.</a:t>
            </a:r>
          </a:p>
          <a:p>
            <a:pPr algn="l" marL="416863" indent="-208432" lvl="1">
              <a:lnSpc>
                <a:spcPts val="3452"/>
              </a:lnSpc>
              <a:buAutoNum type="arabicPeriod" startAt="1"/>
            </a:pPr>
            <a:r>
              <a:rPr lang="en-US" sz="2301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Authoritative answer returns; resolver caches it and replies to the client.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904692"/>
            <a:ext cx="6977577" cy="781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1"/>
              </a:lnSpc>
            </a:pPr>
            <a:r>
              <a:rPr lang="en-US" sz="2001">
                <a:solidFill>
                  <a:srgbClr val="FFBD59"/>
                </a:solidFill>
                <a:latin typeface="Carlito"/>
                <a:ea typeface="Carlito"/>
                <a:cs typeface="Carlito"/>
                <a:sym typeface="Carlito"/>
              </a:rPr>
              <a:t>Root and TLD servers direct the resolver; the authoritative server provides the zone answer.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66277" y="3452193"/>
            <a:ext cx="6977577" cy="695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b="true" sz="4503">
                <a:solidFill>
                  <a:srgbClr val="FFFFFF"/>
                </a:solidFill>
                <a:latin typeface="Caladea Bold"/>
                <a:ea typeface="Caladea Bold"/>
                <a:cs typeface="Caladea Bold"/>
                <a:sym typeface="Caladea Bold"/>
              </a:rPr>
              <a:t>Common record types</a:t>
            </a:r>
          </a:p>
        </p:txBody>
      </p: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10066277" y="4555919"/>
          <a:ext cx="7442369" cy="3696141"/>
        </p:xfrm>
        <a:graphic>
          <a:graphicData uri="http://schemas.openxmlformats.org/drawingml/2006/table">
            <a:tbl>
              <a:tblPr/>
              <a:tblGrid>
                <a:gridCol w="3389148"/>
                <a:gridCol w="4053221"/>
              </a:tblGrid>
              <a:tr h="67860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Record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Purpose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860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A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Hostname to IPv4 address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860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AAAA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Hostname to IPv6 address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860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CNAME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Alias to another hostname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171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PTR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Address to name (reverse lookup)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3" id="13"/>
          <p:cNvGrpSpPr/>
          <p:nvPr/>
        </p:nvGrpSpPr>
        <p:grpSpPr>
          <a:xfrm rot="-10800000">
            <a:off x="13502640" y="7357143"/>
            <a:ext cx="4937760" cy="3291840"/>
            <a:chOff x="0" y="0"/>
            <a:chExt cx="6583680" cy="4389120"/>
          </a:xfrm>
        </p:grpSpPr>
        <p:sp>
          <p:nvSpPr>
            <p:cNvPr name="Freeform 14" id="14" descr="/home/claude/alu_deck/assets/assets_trace_teal.png"/>
            <p:cNvSpPr/>
            <p:nvPr/>
          </p:nvSpPr>
          <p:spPr>
            <a:xfrm flipH="false" flipV="false" rot="0">
              <a:off x="0" y="0"/>
              <a:ext cx="65836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-1135380" y="-79248"/>
            <a:ext cx="4937760" cy="3291840"/>
            <a:chOff x="0" y="0"/>
            <a:chExt cx="6583680" cy="4389120"/>
          </a:xfrm>
        </p:grpSpPr>
        <p:sp>
          <p:nvSpPr>
            <p:cNvPr name="Freeform 16" id="16" descr="/home/claude/alu_deck/assets/assets_trace_teal.png"/>
            <p:cNvSpPr/>
            <p:nvPr/>
          </p:nvSpPr>
          <p:spPr>
            <a:xfrm flipH="false" flipV="false" rot="0">
              <a:off x="0" y="0"/>
              <a:ext cx="65836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6400800" y="1162050"/>
            <a:ext cx="5010150" cy="8362950"/>
          </a:xfrm>
          <a:custGeom>
            <a:avLst/>
            <a:gdLst/>
            <a:ahLst/>
            <a:cxnLst/>
            <a:rect r="r" b="b" t="t" l="l"/>
            <a:pathLst>
              <a:path h="8362950" w="5010150">
                <a:moveTo>
                  <a:pt x="0" y="0"/>
                </a:moveTo>
                <a:lnTo>
                  <a:pt x="5010150" y="0"/>
                </a:lnTo>
                <a:lnTo>
                  <a:pt x="5010150" y="8362950"/>
                </a:lnTo>
                <a:lnTo>
                  <a:pt x="0" y="8362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911638" y="323850"/>
            <a:ext cx="1095375" cy="647700"/>
          </a:xfrm>
          <a:custGeom>
            <a:avLst/>
            <a:gdLst/>
            <a:ahLst/>
            <a:cxnLst/>
            <a:rect r="r" b="b" t="t" l="l"/>
            <a:pathLst>
              <a:path h="647700" w="1095375">
                <a:moveTo>
                  <a:pt x="0" y="0"/>
                </a:moveTo>
                <a:lnTo>
                  <a:pt x="1095374" y="0"/>
                </a:lnTo>
                <a:lnTo>
                  <a:pt x="1095374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01429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5095" y="1301782"/>
            <a:ext cx="16471659" cy="766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4"/>
              </a:lnSpc>
            </a:pPr>
            <a:r>
              <a:rPr lang="en-US" b="true" sz="4953">
                <a:solidFill>
                  <a:srgbClr val="FFFFFF"/>
                </a:solidFill>
                <a:latin typeface="Caladea Bold"/>
                <a:ea typeface="Caladea Bold"/>
                <a:cs typeface="Caladea Bold"/>
                <a:sym typeface="Caladea Bold"/>
              </a:rPr>
              <a:t>Network Address Translation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5095" y="2306860"/>
            <a:ext cx="16471659" cy="1107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b="true" sz="3602">
                <a:solidFill>
                  <a:srgbClr val="9FD3E8"/>
                </a:solidFill>
                <a:latin typeface="Caladea Bold"/>
                <a:ea typeface="Caladea Bold"/>
                <a:cs typeface="Caladea Bold"/>
                <a:sym typeface="Caladea Bold"/>
              </a:rPr>
              <a:t>NAT conserves public IPv4 addresses by translating private-to-public traffic at a boundary.</a:t>
            </a:r>
          </a:p>
        </p:txBody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915092" y="3662248"/>
          <a:ext cx="16472069" cy="3641395"/>
        </p:xfrm>
        <a:graphic>
          <a:graphicData uri="http://schemas.openxmlformats.org/drawingml/2006/table">
            <a:tbl>
              <a:tblPr/>
              <a:tblGrid>
                <a:gridCol w="5490690"/>
                <a:gridCol w="5490690"/>
                <a:gridCol w="5490690"/>
              </a:tblGrid>
              <a:tr h="62763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Mode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Mapping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Typical use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760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b="true" sz="2101">
                          <a:solidFill>
                            <a:srgbClr val="FFFFFF"/>
                          </a:solidFill>
                          <a:latin typeface="Carlito Bold"/>
                          <a:ea typeface="Carlito Bold"/>
                          <a:cs typeface="Carlito Bold"/>
                          <a:sym typeface="Carlito Bold"/>
                        </a:rPr>
                        <a:t>Static NAT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Fixed one-to-one private  public address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Predictable inbound reachability for a host or service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760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b="true" sz="2101">
                          <a:solidFill>
                            <a:srgbClr val="FFFFFF"/>
                          </a:solidFill>
                          <a:latin typeface="Carlito Bold"/>
                          <a:ea typeface="Carlito Bold"/>
                          <a:cs typeface="Carlito Bold"/>
                          <a:sym typeface="Carlito Bold"/>
                        </a:rPr>
                        <a:t>Dynamic NAT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Temporary one-to-one mapping from a public pool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Outbound access when pool addresses are available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855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b="true" sz="2101">
                          <a:solidFill>
                            <a:srgbClr val="FFFFFF"/>
                          </a:solidFill>
                          <a:latin typeface="Carlito Bold"/>
                          <a:ea typeface="Carlito Bold"/>
                          <a:cs typeface="Carlito Bold"/>
                          <a:sym typeface="Carlito Bold"/>
                        </a:rPr>
                        <a:t>PAT / NAT Overload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Many private hosts share one or more public IPs; ports distinguish sessions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Common edge access for many clients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915095" y="7594378"/>
            <a:ext cx="16471659" cy="1067638"/>
            <a:chOff x="0" y="0"/>
            <a:chExt cx="21962212" cy="14235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62238" cy="1423543"/>
            </a:xfrm>
            <a:custGeom>
              <a:avLst/>
              <a:gdLst/>
              <a:ahLst/>
              <a:cxnLst/>
              <a:rect r="r" b="b" t="t" l="l"/>
              <a:pathLst>
                <a:path h="1423543" w="21962238">
                  <a:moveTo>
                    <a:pt x="0" y="149479"/>
                  </a:moveTo>
                  <a:cubicBezTo>
                    <a:pt x="0" y="66929"/>
                    <a:pt x="66929" y="0"/>
                    <a:pt x="149479" y="0"/>
                  </a:cubicBezTo>
                  <a:lnTo>
                    <a:pt x="21812758" y="0"/>
                  </a:lnTo>
                  <a:cubicBezTo>
                    <a:pt x="21895308" y="0"/>
                    <a:pt x="21962238" y="66929"/>
                    <a:pt x="21962238" y="149479"/>
                  </a:cubicBezTo>
                  <a:lnTo>
                    <a:pt x="21962238" y="1274064"/>
                  </a:lnTo>
                  <a:cubicBezTo>
                    <a:pt x="21962238" y="1356614"/>
                    <a:pt x="21895308" y="1423543"/>
                    <a:pt x="21812758" y="1423543"/>
                  </a:cubicBezTo>
                  <a:lnTo>
                    <a:pt x="149479" y="1423543"/>
                  </a:lnTo>
                  <a:cubicBezTo>
                    <a:pt x="66929" y="1423543"/>
                    <a:pt x="0" y="1356614"/>
                    <a:pt x="0" y="1274064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81995" y="7980445"/>
            <a:ext cx="333623" cy="266910"/>
            <a:chOff x="0" y="0"/>
            <a:chExt cx="444830" cy="355879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444881" cy="355854"/>
            </a:xfrm>
            <a:custGeom>
              <a:avLst/>
              <a:gdLst/>
              <a:ahLst/>
              <a:cxnLst/>
              <a:rect r="r" b="b" t="t" l="l"/>
              <a:pathLst>
                <a:path h="355854" w="444881">
                  <a:moveTo>
                    <a:pt x="0" y="0"/>
                  </a:moveTo>
                  <a:lnTo>
                    <a:pt x="444881" y="0"/>
                  </a:lnTo>
                  <a:lnTo>
                    <a:pt x="444881" y="355854"/>
                  </a:lnTo>
                  <a:lnTo>
                    <a:pt x="0" y="355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28" t="0" r="-516" b="-7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782518" y="7823244"/>
            <a:ext cx="16252412" cy="505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Translation changes packet addressing (and often ports); it is not, by itself, a security policy.</a:t>
            </a:r>
          </a:p>
        </p:txBody>
      </p:sp>
      <p:grpSp>
        <p:nvGrpSpPr>
          <p:cNvPr name="Group 14" id="14"/>
          <p:cNvGrpSpPr/>
          <p:nvPr/>
        </p:nvGrpSpPr>
        <p:grpSpPr>
          <a:xfrm rot="-10800000">
            <a:off x="13364080" y="7016096"/>
            <a:ext cx="4937760" cy="3291840"/>
            <a:chOff x="0" y="0"/>
            <a:chExt cx="6583680" cy="4389120"/>
          </a:xfrm>
        </p:grpSpPr>
        <p:sp>
          <p:nvSpPr>
            <p:cNvPr name="Freeform 15" id="15" descr="/home/claude/alu_deck/assets/assets_trace_teal.png"/>
            <p:cNvSpPr/>
            <p:nvPr/>
          </p:nvSpPr>
          <p:spPr>
            <a:xfrm flipH="false" flipV="false" rot="0">
              <a:off x="0" y="0"/>
              <a:ext cx="65836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6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7064038" y="358807"/>
            <a:ext cx="1095375" cy="647700"/>
          </a:xfrm>
          <a:custGeom>
            <a:avLst/>
            <a:gdLst/>
            <a:ahLst/>
            <a:cxnLst/>
            <a:rect r="r" b="b" t="t" l="l"/>
            <a:pathLst>
              <a:path h="647700" w="1095375">
                <a:moveTo>
                  <a:pt x="0" y="0"/>
                </a:moveTo>
                <a:lnTo>
                  <a:pt x="1095374" y="0"/>
                </a:lnTo>
                <a:lnTo>
                  <a:pt x="1095374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-982980" y="73152"/>
            <a:ext cx="4937760" cy="3291840"/>
            <a:chOff x="0" y="0"/>
            <a:chExt cx="6583680" cy="4389120"/>
          </a:xfrm>
        </p:grpSpPr>
        <p:sp>
          <p:nvSpPr>
            <p:cNvPr name="Freeform 18" id="18" descr="/home/claude/alu_deck/assets/assets_trace_teal.png"/>
            <p:cNvSpPr/>
            <p:nvPr/>
          </p:nvSpPr>
          <p:spPr>
            <a:xfrm flipH="false" flipV="false" rot="0">
              <a:off x="0" y="0"/>
              <a:ext cx="65836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6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6553200" y="1314450"/>
            <a:ext cx="5010150" cy="8362950"/>
          </a:xfrm>
          <a:custGeom>
            <a:avLst/>
            <a:gdLst/>
            <a:ahLst/>
            <a:cxnLst/>
            <a:rect r="r" b="b" t="t" l="l"/>
            <a:pathLst>
              <a:path h="8362950" w="5010150">
                <a:moveTo>
                  <a:pt x="0" y="0"/>
                </a:moveTo>
                <a:lnTo>
                  <a:pt x="5010150" y="0"/>
                </a:lnTo>
                <a:lnTo>
                  <a:pt x="5010150" y="8362950"/>
                </a:lnTo>
                <a:lnTo>
                  <a:pt x="0" y="83629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01429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5095" y="1073372"/>
            <a:ext cx="16471659" cy="766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4"/>
              </a:lnSpc>
            </a:pPr>
            <a:r>
              <a:rPr lang="en-US" b="true" sz="4953">
                <a:solidFill>
                  <a:srgbClr val="FFFFFF"/>
                </a:solidFill>
                <a:latin typeface="Caladea Bold"/>
                <a:ea typeface="Caladea Bold"/>
                <a:cs typeface="Caladea Bold"/>
                <a:sym typeface="Caladea Bold"/>
              </a:rPr>
              <a:t>WLAN Frequencies &amp; Topologies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5095" y="1992630"/>
            <a:ext cx="15846623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FFBD59"/>
                </a:solidFill>
                <a:latin typeface="Caladea Bold"/>
                <a:ea typeface="Caladea Bold"/>
                <a:cs typeface="Caladea Bold"/>
                <a:sym typeface="Caladea Bold"/>
              </a:rPr>
              <a:t>Choose a band for the environment, then select the right service-set topology.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5095" y="2921385"/>
            <a:ext cx="7892672" cy="695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b="true" sz="4503">
                <a:solidFill>
                  <a:srgbClr val="FFFFFF"/>
                </a:solidFill>
                <a:latin typeface="Caladea Bold"/>
                <a:ea typeface="Caladea Bold"/>
                <a:cs typeface="Caladea Bold"/>
                <a:sym typeface="Caladea Bold"/>
              </a:rPr>
              <a:t>Frequency tradeoffs</a:t>
            </a:r>
          </a:p>
        </p:txBody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915095" y="3975185"/>
          <a:ext cx="8585369" cy="5283115"/>
        </p:xfrm>
        <a:graphic>
          <a:graphicData uri="http://schemas.openxmlformats.org/drawingml/2006/table">
            <a:tbl>
              <a:tblPr/>
              <a:tblGrid>
                <a:gridCol w="1785806"/>
                <a:gridCol w="6799563"/>
              </a:tblGrid>
              <a:tr h="67790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Band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Strength / tradeoff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544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b="true" sz="2101">
                          <a:solidFill>
                            <a:srgbClr val="FFFFFF"/>
                          </a:solidFill>
                          <a:latin typeface="Carlito Bold"/>
                          <a:ea typeface="Carlito Bold"/>
                          <a:cs typeface="Carlito Bold"/>
                          <a:sym typeface="Carlito Bold"/>
                        </a:rPr>
                        <a:t>2.4 GHz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Longest reach; broad compatibility. Crowded, fewer non-overlapping channels, lower capacity.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0947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b="true" sz="2101">
                          <a:solidFill>
                            <a:srgbClr val="FFFFFF"/>
                          </a:solidFill>
                          <a:latin typeface="Carlito Bold"/>
                          <a:ea typeface="Carlito Bold"/>
                          <a:cs typeface="Carlito Bold"/>
                          <a:sym typeface="Carlito Bold"/>
                        </a:rPr>
                        <a:t>5 GHz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More channels and throughput; less range and wall penetration than 2.4 GHz.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002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b="true" sz="2101">
                          <a:solidFill>
                            <a:srgbClr val="FFFFFF"/>
                          </a:solidFill>
                          <a:latin typeface="Carlito Bold"/>
                          <a:ea typeface="Carlito Bold"/>
                          <a:cs typeface="Carlito Bold"/>
                          <a:sym typeface="Carlito Bold"/>
                        </a:rPr>
                        <a:t>6 GHz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sz="21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Wide, cleaner spectrum; shorter reach; Wi-Fi 6E/7 clients; availability varies by region.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10104120" y="2921385"/>
            <a:ext cx="7892672" cy="695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b="true" sz="4503">
                <a:solidFill>
                  <a:srgbClr val="FFFFFF"/>
                </a:solidFill>
                <a:latin typeface="Caladea Bold"/>
                <a:ea typeface="Caladea Bold"/>
                <a:cs typeface="Caladea Bold"/>
                <a:sym typeface="Caladea Bold"/>
              </a:rPr>
              <a:t>Topology choices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48462" y="3826793"/>
            <a:ext cx="7892672" cy="42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b="true" sz="2702">
                <a:solidFill>
                  <a:srgbClr val="FFFFFF"/>
                </a:solidFill>
                <a:latin typeface="Caladea Bold"/>
                <a:ea typeface="Caladea Bold"/>
                <a:cs typeface="Caladea Bold"/>
                <a:sym typeface="Caladea Bold"/>
              </a:rPr>
              <a:t>IBSS · ad hoc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48462" y="4286098"/>
            <a:ext cx="7892672" cy="505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Stations communicate directly; no access point.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48462" y="5115088"/>
            <a:ext cx="7892672" cy="42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b="true" sz="2702">
                <a:solidFill>
                  <a:srgbClr val="FFFFFF"/>
                </a:solidFill>
                <a:latin typeface="Caladea Bold"/>
                <a:ea typeface="Caladea Bold"/>
                <a:cs typeface="Caladea Bold"/>
                <a:sym typeface="Caladea Bold"/>
              </a:rPr>
              <a:t>BSS · infrastructure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48462" y="5593443"/>
            <a:ext cx="7892672" cy="505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One AP coordinates a cell of associated clients.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48462" y="6327182"/>
            <a:ext cx="7892672" cy="42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b="true" sz="2702">
                <a:solidFill>
                  <a:srgbClr val="FFFFFF"/>
                </a:solidFill>
                <a:latin typeface="Caladea Bold"/>
                <a:ea typeface="Caladea Bold"/>
                <a:cs typeface="Caladea Bold"/>
                <a:sym typeface="Caladea Bold"/>
              </a:rPr>
              <a:t>ESS · extended service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48462" y="6824587"/>
            <a:ext cx="7892672" cy="82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Interconnected APs share a network identity for broader coverage and roaming.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7007659" y="206597"/>
            <a:ext cx="1095375" cy="647700"/>
          </a:xfrm>
          <a:custGeom>
            <a:avLst/>
            <a:gdLst/>
            <a:ahLst/>
            <a:cxnLst/>
            <a:rect r="r" b="b" t="t" l="l"/>
            <a:pathLst>
              <a:path h="647700" w="1095375">
                <a:moveTo>
                  <a:pt x="0" y="0"/>
                </a:moveTo>
                <a:lnTo>
                  <a:pt x="1095375" y="0"/>
                </a:lnTo>
                <a:lnTo>
                  <a:pt x="1095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-10800000">
            <a:off x="13516480" y="7168496"/>
            <a:ext cx="4937760" cy="3291840"/>
            <a:chOff x="0" y="0"/>
            <a:chExt cx="6583680" cy="4389120"/>
          </a:xfrm>
        </p:grpSpPr>
        <p:sp>
          <p:nvSpPr>
            <p:cNvPr name="Freeform 19" id="19" descr="/home/claude/alu_deck/assets/assets_trace_teal.png"/>
            <p:cNvSpPr/>
            <p:nvPr/>
          </p:nvSpPr>
          <p:spPr>
            <a:xfrm flipH="false" flipV="false" rot="0">
              <a:off x="0" y="0"/>
              <a:ext cx="65836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6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-510540" y="-184404"/>
            <a:ext cx="4937760" cy="3291840"/>
            <a:chOff x="0" y="0"/>
            <a:chExt cx="6583680" cy="4389120"/>
          </a:xfrm>
        </p:grpSpPr>
        <p:sp>
          <p:nvSpPr>
            <p:cNvPr name="Freeform 21" id="21" descr="/home/claude/alu_deck/assets/assets_trace_teal.png"/>
            <p:cNvSpPr/>
            <p:nvPr/>
          </p:nvSpPr>
          <p:spPr>
            <a:xfrm flipH="false" flipV="false" rot="0">
              <a:off x="0" y="0"/>
              <a:ext cx="65836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6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6705600" y="1466850"/>
            <a:ext cx="5010150" cy="8362950"/>
          </a:xfrm>
          <a:custGeom>
            <a:avLst/>
            <a:gdLst/>
            <a:ahLst/>
            <a:cxnLst/>
            <a:rect r="r" b="b" t="t" l="l"/>
            <a:pathLst>
              <a:path h="8362950" w="5010150">
                <a:moveTo>
                  <a:pt x="0" y="0"/>
                </a:moveTo>
                <a:lnTo>
                  <a:pt x="5010150" y="0"/>
                </a:lnTo>
                <a:lnTo>
                  <a:pt x="5010150" y="8362950"/>
                </a:lnTo>
                <a:lnTo>
                  <a:pt x="0" y="8362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01429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48186" y="759047"/>
            <a:ext cx="16471659" cy="766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4"/>
              </a:lnSpc>
            </a:pPr>
            <a:r>
              <a:rPr lang="en-US" b="true" sz="4953">
                <a:solidFill>
                  <a:srgbClr val="FFFFFF"/>
                </a:solidFill>
                <a:latin typeface="Caladea Bold"/>
                <a:ea typeface="Caladea Bold"/>
                <a:cs typeface="Caladea Bold"/>
                <a:sym typeface="Caladea Bold"/>
              </a:rPr>
              <a:t>WLAN Security &amp; Authentication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8186" y="1604391"/>
            <a:ext cx="16471659" cy="558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b="true" sz="3602">
                <a:solidFill>
                  <a:srgbClr val="9FD3E8"/>
                </a:solidFill>
                <a:latin typeface="Caladea Bold"/>
                <a:ea typeface="Caladea Bold"/>
                <a:cs typeface="Caladea Bold"/>
                <a:sym typeface="Caladea Bold"/>
              </a:rPr>
              <a:t>Use modern encryption and choose credentials or centralized identity by scale.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8186" y="2720673"/>
            <a:ext cx="6977577" cy="695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b="true" sz="4503">
                <a:solidFill>
                  <a:srgbClr val="FFFFFF"/>
                </a:solidFill>
                <a:latin typeface="Caladea Bold"/>
                <a:ea typeface="Caladea Bold"/>
                <a:cs typeface="Caladea Bold"/>
                <a:sym typeface="Caladea Bold"/>
              </a:rPr>
              <a:t>Standards at a glance</a:t>
            </a:r>
          </a:p>
        </p:txBody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648186" y="3759703"/>
          <a:ext cx="9312414" cy="4922863"/>
        </p:xfrm>
        <a:graphic>
          <a:graphicData uri="http://schemas.openxmlformats.org/drawingml/2006/table">
            <a:tbl>
              <a:tblPr/>
              <a:tblGrid>
                <a:gridCol w="2083185"/>
                <a:gridCol w="7229229"/>
              </a:tblGrid>
              <a:tr h="71622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1"/>
                        </a:lnSpc>
                        <a:defRPr/>
                      </a:pPr>
                      <a:r>
                        <a:rPr lang="en-US" sz="23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Standard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1"/>
                        </a:lnSpc>
                        <a:defRPr/>
                      </a:pPr>
                      <a:r>
                        <a:rPr lang="en-US" sz="23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Practical status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04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b="true" sz="2101">
                          <a:solidFill>
                            <a:srgbClr val="FFBD59"/>
                          </a:solidFill>
                          <a:latin typeface="Carlito Bold"/>
                          <a:ea typeface="Carlito Bold"/>
                          <a:cs typeface="Carlito Bold"/>
                          <a:sym typeface="Carlito Bold"/>
                        </a:rPr>
                        <a:t>WEP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1"/>
                        </a:lnSpc>
                        <a:defRPr/>
                      </a:pPr>
                      <a:r>
                        <a:rPr lang="en-US" sz="23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Broken legacy security; do not use.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00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b="true" sz="2101">
                          <a:solidFill>
                            <a:srgbClr val="FFBD59"/>
                          </a:solidFill>
                          <a:latin typeface="Carlito Bold"/>
                          <a:ea typeface="Carlito Bold"/>
                          <a:cs typeface="Carlito Bold"/>
                          <a:sym typeface="Carlito Bold"/>
                        </a:rPr>
                        <a:t>WPA / WPA2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1"/>
                        </a:lnSpc>
                        <a:defRPr/>
                      </a:pPr>
                      <a:r>
                        <a:rPr lang="en-US" sz="23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WPA is obsolete. WPA2 with AES-CCMP remains common where supported and securely configured.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61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1"/>
                        </a:lnSpc>
                        <a:defRPr/>
                      </a:pPr>
                      <a:r>
                        <a:rPr lang="en-US" b="true" sz="2101">
                          <a:solidFill>
                            <a:srgbClr val="FFBD59"/>
                          </a:solidFill>
                          <a:latin typeface="Carlito Bold"/>
                          <a:ea typeface="Carlito Bold"/>
                          <a:cs typeface="Carlito Bold"/>
                          <a:sym typeface="Carlito Bold"/>
                        </a:rPr>
                        <a:t>WPA3 / SAE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1"/>
                        </a:lnSpc>
                        <a:defRPr/>
                      </a:pPr>
                      <a:r>
                        <a:rPr lang="en-US" sz="23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Prefer WPA3-Personal with SAE; improves resistance to offline password guessing.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10585180" y="3063840"/>
            <a:ext cx="6977577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b="true" sz="4503">
                <a:solidFill>
                  <a:srgbClr val="FFFFFF"/>
                </a:solidFill>
                <a:latin typeface="Caladea Bold"/>
                <a:ea typeface="Caladea Bold"/>
                <a:cs typeface="Caladea Bold"/>
                <a:sym typeface="Caladea Bold"/>
              </a:rPr>
              <a:t>WLAN S</a:t>
            </a:r>
            <a:r>
              <a:rPr lang="en-US" b="true" sz="4503">
                <a:solidFill>
                  <a:srgbClr val="FFFFFF"/>
                </a:solidFill>
                <a:latin typeface="Caladea Bold"/>
                <a:ea typeface="Caladea Bold"/>
                <a:cs typeface="Caladea Bold"/>
                <a:sym typeface="Caladea Bold"/>
              </a:rPr>
              <a:t>ecurity Mechanisms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409177" y="11066878"/>
            <a:ext cx="6977577" cy="1467993"/>
            <a:chOff x="0" y="0"/>
            <a:chExt cx="9303436" cy="19573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303512" cy="1957324"/>
            </a:xfrm>
            <a:custGeom>
              <a:avLst/>
              <a:gdLst/>
              <a:ahLst/>
              <a:cxnLst/>
              <a:rect r="r" b="b" t="t" l="l"/>
              <a:pathLst>
                <a:path h="1957324" w="9303512">
                  <a:moveTo>
                    <a:pt x="0" y="149479"/>
                  </a:moveTo>
                  <a:cubicBezTo>
                    <a:pt x="0" y="66929"/>
                    <a:pt x="66929" y="0"/>
                    <a:pt x="149479" y="0"/>
                  </a:cubicBezTo>
                  <a:lnTo>
                    <a:pt x="9154033" y="0"/>
                  </a:lnTo>
                  <a:cubicBezTo>
                    <a:pt x="9236583" y="0"/>
                    <a:pt x="9303512" y="66929"/>
                    <a:pt x="9303512" y="149479"/>
                  </a:cubicBezTo>
                  <a:lnTo>
                    <a:pt x="9303512" y="1807845"/>
                  </a:lnTo>
                  <a:cubicBezTo>
                    <a:pt x="9303512" y="1890395"/>
                    <a:pt x="9236583" y="1957324"/>
                    <a:pt x="9154033" y="1957324"/>
                  </a:cubicBezTo>
                  <a:lnTo>
                    <a:pt x="149479" y="1957324"/>
                  </a:lnTo>
                  <a:cubicBezTo>
                    <a:pt x="66929" y="1957324"/>
                    <a:pt x="0" y="1890395"/>
                    <a:pt x="0" y="1807845"/>
                  </a:cubicBezTo>
                  <a:close/>
                </a:path>
              </a:pathLst>
            </a:custGeom>
            <a:solidFill>
              <a:srgbClr val="022349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676077" y="11452936"/>
            <a:ext cx="333623" cy="266910"/>
            <a:chOff x="0" y="0"/>
            <a:chExt cx="444830" cy="355879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444881" cy="355854"/>
            </a:xfrm>
            <a:custGeom>
              <a:avLst/>
              <a:gdLst/>
              <a:ahLst/>
              <a:cxnLst/>
              <a:rect r="r" b="b" t="t" l="l"/>
              <a:pathLst>
                <a:path h="355854" w="444881">
                  <a:moveTo>
                    <a:pt x="0" y="0"/>
                  </a:moveTo>
                  <a:lnTo>
                    <a:pt x="444881" y="0"/>
                  </a:lnTo>
                  <a:lnTo>
                    <a:pt x="444881" y="355854"/>
                  </a:lnTo>
                  <a:lnTo>
                    <a:pt x="0" y="355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28" t="0" r="-516" b="-7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1276600" y="11295736"/>
            <a:ext cx="5843245" cy="905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Use the strongest mode supported by every client and access point; disable obsolete WEP and WPA.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7015069" y="197072"/>
            <a:ext cx="1095375" cy="647700"/>
          </a:xfrm>
          <a:custGeom>
            <a:avLst/>
            <a:gdLst/>
            <a:ahLst/>
            <a:cxnLst/>
            <a:rect r="r" b="b" t="t" l="l"/>
            <a:pathLst>
              <a:path h="647700" w="1095375">
                <a:moveTo>
                  <a:pt x="0" y="0"/>
                </a:moveTo>
                <a:lnTo>
                  <a:pt x="1095375" y="0"/>
                </a:lnTo>
                <a:lnTo>
                  <a:pt x="1095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-10800000">
            <a:off x="13350240" y="7180178"/>
            <a:ext cx="4937760" cy="3291840"/>
            <a:chOff x="0" y="0"/>
            <a:chExt cx="6583680" cy="4389120"/>
          </a:xfrm>
        </p:grpSpPr>
        <p:sp>
          <p:nvSpPr>
            <p:cNvPr name="Freeform 18" id="18" descr="/home/claude/alu_deck/assets/assets_trace_teal.png"/>
            <p:cNvSpPr/>
            <p:nvPr/>
          </p:nvSpPr>
          <p:spPr>
            <a:xfrm flipH="false" flipV="false" rot="0">
              <a:off x="0" y="0"/>
              <a:ext cx="65836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16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-358140" y="-32004"/>
            <a:ext cx="4937760" cy="3291840"/>
            <a:chOff x="0" y="0"/>
            <a:chExt cx="6583680" cy="4389120"/>
          </a:xfrm>
        </p:grpSpPr>
        <p:sp>
          <p:nvSpPr>
            <p:cNvPr name="Freeform 20" id="20" descr="/home/claude/alu_deck/assets/assets_trace_teal.png"/>
            <p:cNvSpPr/>
            <p:nvPr/>
          </p:nvSpPr>
          <p:spPr>
            <a:xfrm flipH="false" flipV="false" rot="0">
              <a:off x="0" y="0"/>
              <a:ext cx="65836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16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6858000" y="1619250"/>
            <a:ext cx="5010150" cy="8362950"/>
          </a:xfrm>
          <a:custGeom>
            <a:avLst/>
            <a:gdLst/>
            <a:ahLst/>
            <a:cxnLst/>
            <a:rect r="r" b="b" t="t" l="l"/>
            <a:pathLst>
              <a:path h="8362950" w="5010150">
                <a:moveTo>
                  <a:pt x="0" y="0"/>
                </a:moveTo>
                <a:lnTo>
                  <a:pt x="5010150" y="0"/>
                </a:lnTo>
                <a:lnTo>
                  <a:pt x="5010150" y="8362950"/>
                </a:lnTo>
                <a:lnTo>
                  <a:pt x="0" y="83629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561237" y="4770353"/>
            <a:ext cx="7001520" cy="378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b="true" sz="2300">
                <a:solidFill>
                  <a:srgbClr val="FFFFFF"/>
                </a:solidFill>
                <a:latin typeface="Caladea Bold"/>
                <a:ea typeface="Caladea Bold"/>
                <a:cs typeface="Caladea Bold"/>
                <a:sym typeface="Caladea Bold"/>
              </a:rPr>
              <a:t> </a:t>
            </a:r>
            <a:r>
              <a:rPr lang="en-US" b="true" sz="2300">
                <a:solidFill>
                  <a:srgbClr val="FFBD59"/>
                </a:solidFill>
                <a:latin typeface="Caladea Bold"/>
                <a:ea typeface="Caladea Bold"/>
                <a:cs typeface="Caladea Bold"/>
                <a:sym typeface="Caladea Bold"/>
              </a:rPr>
              <a:t>MAC Address Filtering</a:t>
            </a:r>
            <a:r>
              <a:rPr lang="en-US" b="true" sz="2300">
                <a:solidFill>
                  <a:srgbClr val="FFFFFF"/>
                </a:solidFill>
                <a:latin typeface="Caladea Bold"/>
                <a:ea typeface="Caladea Bold"/>
                <a:cs typeface="Caladea Bold"/>
                <a:sym typeface="Caladea Bold"/>
              </a:rPr>
              <a:t> Restricts network access based on hardware MAC addresses.</a:t>
            </a:r>
          </a:p>
          <a:p>
            <a:pPr algn="l">
              <a:lnSpc>
                <a:spcPts val="2760"/>
              </a:lnSpc>
            </a:pPr>
          </a:p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b="true" sz="2300">
                <a:solidFill>
                  <a:srgbClr val="FFFFFF"/>
                </a:solidFill>
                <a:latin typeface="Caladea Bold"/>
                <a:ea typeface="Caladea Bold"/>
                <a:cs typeface="Caladea Bold"/>
                <a:sym typeface="Caladea Bold"/>
              </a:rPr>
              <a:t> </a:t>
            </a:r>
            <a:r>
              <a:rPr lang="en-US" b="true" sz="2300">
                <a:solidFill>
                  <a:srgbClr val="FFBD59"/>
                </a:solidFill>
                <a:latin typeface="Caladea Bold"/>
                <a:ea typeface="Caladea Bold"/>
                <a:cs typeface="Caladea Bold"/>
                <a:sym typeface="Caladea Bold"/>
              </a:rPr>
              <a:t>Disabling SSID Broadcast</a:t>
            </a:r>
            <a:r>
              <a:rPr lang="en-US" b="true" sz="2300">
                <a:solidFill>
                  <a:srgbClr val="FFFFFF"/>
                </a:solidFill>
                <a:latin typeface="Caladea Bold"/>
                <a:ea typeface="Caladea Bold"/>
                <a:cs typeface="Caladea Bold"/>
                <a:sym typeface="Caladea Bold"/>
              </a:rPr>
              <a:t> Hides the network name from public scanning to improve privacy. </a:t>
            </a:r>
          </a:p>
          <a:p>
            <a:pPr algn="l">
              <a:lnSpc>
                <a:spcPts val="2760"/>
              </a:lnSpc>
            </a:pPr>
          </a:p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b="true" sz="2300">
                <a:solidFill>
                  <a:srgbClr val="FFBD59"/>
                </a:solidFill>
                <a:latin typeface="Caladea Bold"/>
                <a:ea typeface="Caladea Bold"/>
                <a:cs typeface="Caladea Bold"/>
                <a:sym typeface="Caladea Bold"/>
              </a:rPr>
              <a:t>Password </a:t>
            </a:r>
            <a:r>
              <a:rPr lang="en-US" b="true" sz="2300">
                <a:solidFill>
                  <a:srgbClr val="FFFFFF"/>
                </a:solidFill>
                <a:latin typeface="Caladea Bold"/>
                <a:ea typeface="Caladea Bold"/>
                <a:cs typeface="Caladea Bold"/>
                <a:sym typeface="Caladea Bold"/>
              </a:rPr>
              <a:t>Protection Uses WPA2/WPA3 encryption passphrases to secure data in transit. </a:t>
            </a:r>
          </a:p>
          <a:p>
            <a:pPr algn="l">
              <a:lnSpc>
                <a:spcPts val="2760"/>
              </a:lnSpc>
            </a:pPr>
          </a:p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b="true" sz="2300">
                <a:solidFill>
                  <a:srgbClr val="FFBD59"/>
                </a:solidFill>
                <a:latin typeface="Caladea Bold"/>
                <a:ea typeface="Caladea Bold"/>
                <a:cs typeface="Caladea Bold"/>
                <a:sym typeface="Caladea Bold"/>
              </a:rPr>
              <a:t>IEEE 802.1X</a:t>
            </a:r>
            <a:r>
              <a:rPr lang="en-US" b="true" sz="2300">
                <a:solidFill>
                  <a:srgbClr val="FFFFFF"/>
                </a:solidFill>
                <a:latin typeface="Caladea Bold"/>
                <a:ea typeface="Caladea Bold"/>
                <a:cs typeface="Caladea Bold"/>
                <a:sym typeface="Caladea Bold"/>
              </a:rPr>
              <a:t> Provides enterprise-grade, per-user authentication via a RADIUS server.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01429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5095" y="1301782"/>
            <a:ext cx="16471659" cy="766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4"/>
              </a:lnSpc>
            </a:pPr>
            <a:r>
              <a:rPr lang="en-US" b="true" sz="4953">
                <a:solidFill>
                  <a:srgbClr val="FFFFFF"/>
                </a:solidFill>
                <a:latin typeface="Caladea Bold"/>
                <a:ea typeface="Caladea Bold"/>
                <a:cs typeface="Caladea Bold"/>
                <a:sym typeface="Caladea Bold"/>
              </a:rPr>
              <a:t>IPv4 vs IPv6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5095" y="2306860"/>
            <a:ext cx="16471659" cy="558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b="true" sz="3602">
                <a:solidFill>
                  <a:srgbClr val="FFBD59"/>
                </a:solidFill>
                <a:latin typeface="Caladea Bold"/>
                <a:ea typeface="Caladea Bold"/>
                <a:cs typeface="Caladea Bold"/>
                <a:sym typeface="Caladea Bold"/>
              </a:rPr>
              <a:t>Address size, notation, scope mapping, and the shift to a larger Internet.</a:t>
            </a:r>
          </a:p>
        </p:txBody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844426" y="3979821"/>
          <a:ext cx="16414874" cy="4613275"/>
        </p:xfrm>
        <a:graphic>
          <a:graphicData uri="http://schemas.openxmlformats.org/drawingml/2006/table">
            <a:tbl>
              <a:tblPr/>
              <a:tblGrid>
                <a:gridCol w="5471625"/>
                <a:gridCol w="5471625"/>
                <a:gridCol w="5471625"/>
              </a:tblGrid>
              <a:tr h="71634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1"/>
                        </a:lnSpc>
                        <a:defRPr/>
                      </a:pPr>
                      <a:r>
                        <a:rPr lang="en-US" sz="23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Dimension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1"/>
                        </a:lnSpc>
                        <a:defRPr/>
                      </a:pPr>
                      <a:r>
                        <a:rPr lang="en-US" sz="2301">
                          <a:solidFill>
                            <a:srgbClr val="FFBD59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IPv4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1"/>
                        </a:lnSpc>
                        <a:defRPr/>
                      </a:pPr>
                      <a:r>
                        <a:rPr lang="en-US" sz="2301">
                          <a:solidFill>
                            <a:srgbClr val="FFBD59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IPv6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01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1"/>
                        </a:lnSpc>
                        <a:defRPr/>
                      </a:pPr>
                      <a:r>
                        <a:rPr lang="en-US" sz="23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Size &amp; notation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1"/>
                        </a:lnSpc>
                        <a:defRPr/>
                      </a:pPr>
                      <a:r>
                        <a:rPr lang="en-US" sz="23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32-bit; dotted decimal (e.g., 192.0.2.1)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1"/>
                        </a:lnSpc>
                        <a:defRPr/>
                      </a:pPr>
                      <a:r>
                        <a:rPr lang="en-US" sz="23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128-bit; hexadecimal groups separated by colons (e.g., 2001:db8::1)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0404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1"/>
                        </a:lnSpc>
                        <a:defRPr/>
                      </a:pPr>
                      <a:r>
                        <a:rPr lang="en-US" sz="23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Private scope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1"/>
                        </a:lnSpc>
                        <a:defRPr/>
                      </a:pPr>
                      <a:r>
                        <a:rPr lang="en-US" sz="23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Private-use ranges (RFC 1918)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1"/>
                        </a:lnSpc>
                        <a:defRPr/>
                      </a:pPr>
                      <a:r>
                        <a:rPr lang="en-US" sz="23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Unique Local Address (ULA, fc00::/7) is the modern private-scope match. Site-local (fec0::/10) is legacy/deprecated.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634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1"/>
                        </a:lnSpc>
                        <a:defRPr/>
                      </a:pPr>
                      <a:r>
                        <a:rPr lang="en-US" sz="23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Public scope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1"/>
                        </a:lnSpc>
                        <a:defRPr/>
                      </a:pPr>
                      <a:r>
                        <a:rPr lang="en-US" sz="23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Public IPv4 address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1"/>
                        </a:lnSpc>
                        <a:defRPr/>
                      </a:pPr>
                      <a:r>
                        <a:rPr lang="en-US" sz="23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Global Unicast (commonly 2000::/3)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634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1"/>
                        </a:lnSpc>
                        <a:defRPr/>
                      </a:pPr>
                      <a:r>
                        <a:rPr lang="en-US" sz="23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Automatic local fallback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1"/>
                        </a:lnSpc>
                        <a:defRPr/>
                      </a:pPr>
                      <a:r>
                        <a:rPr lang="en-US" sz="23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APIPA / link-local (169.254.0.0/16)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1"/>
                        </a:lnSpc>
                        <a:defRPr/>
                      </a:pPr>
                      <a:r>
                        <a:rPr lang="en-US" sz="23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Link-local (fe80::/10)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915095" y="12196181"/>
            <a:ext cx="6977577" cy="695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b="true" sz="4503">
                <a:solidFill>
                  <a:srgbClr val="FFFFFF"/>
                </a:solidFill>
                <a:latin typeface="Caladea Bold"/>
                <a:ea typeface="Caladea Bold"/>
                <a:cs typeface="Caladea Bold"/>
                <a:sym typeface="Caladea Bold"/>
              </a:rPr>
              <a:t>IPv4 drawbacks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5095" y="13035105"/>
            <a:ext cx="6977577" cy="1780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641" indent="-190321" lvl="1">
              <a:lnSpc>
                <a:spcPts val="3152"/>
              </a:lnSpc>
              <a:buFont typeface="Arial"/>
              <a:buChar char="•"/>
            </a:pPr>
            <a:r>
              <a:rPr lang="en-US" sz="2101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Limited address space contributes to address exhaustion and widespread NAT.</a:t>
            </a:r>
          </a:p>
          <a:p>
            <a:pPr algn="l" marL="380641" indent="-190321" lvl="1">
              <a:lnSpc>
                <a:spcPts val="3152"/>
              </a:lnSpc>
              <a:buFont typeface="Arial"/>
              <a:buChar char="•"/>
            </a:pPr>
            <a:r>
              <a:rPr lang="en-US" sz="2101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Broadcast traffic and manual address management can add network overhead.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09177" y="12196181"/>
            <a:ext cx="6977577" cy="695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b="true" sz="4503">
                <a:solidFill>
                  <a:srgbClr val="FFFFFF"/>
                </a:solidFill>
                <a:latin typeface="Caladea Bold"/>
                <a:ea typeface="Caladea Bold"/>
                <a:cs typeface="Caladea Bold"/>
                <a:sym typeface="Caladea Bold"/>
              </a:rPr>
              <a:t>IPv6 advantages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09177" y="13035105"/>
            <a:ext cx="6977577" cy="185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641" indent="-190321" lvl="1">
              <a:lnSpc>
                <a:spcPts val="3152"/>
              </a:lnSpc>
              <a:buFont typeface="Arial"/>
              <a:buChar char="•"/>
            </a:pPr>
            <a:r>
              <a:rPr lang="en-US" sz="2101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Vast address space supports scalable, hierarchical allocation.</a:t>
            </a:r>
          </a:p>
          <a:p>
            <a:pPr algn="l" marL="380641" indent="-190321" lvl="1">
              <a:lnSpc>
                <a:spcPts val="3152"/>
              </a:lnSpc>
              <a:buFont typeface="Arial"/>
              <a:buChar char="•"/>
            </a:pPr>
            <a:r>
              <a:rPr lang="en-US" sz="2101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Autoconfiguration, multicast, and Neighbor Discovery support efficient network operation.</a:t>
            </a:r>
          </a:p>
          <a:p>
            <a:pPr algn="l" marL="380641" indent="-190321" lvl="1">
              <a:lnSpc>
                <a:spcPts val="3152"/>
              </a:lnSpc>
              <a:buFont typeface="Arial"/>
              <a:buChar char="•"/>
            </a:pPr>
            <a:r>
              <a:rPr lang="en-US" sz="2101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Fixed 40-byte base header with optional extension headers.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-205740" y="120396"/>
            <a:ext cx="4937760" cy="3291840"/>
            <a:chOff x="0" y="0"/>
            <a:chExt cx="6583680" cy="4389120"/>
          </a:xfrm>
        </p:grpSpPr>
        <p:sp>
          <p:nvSpPr>
            <p:cNvPr name="Freeform 14" id="14" descr="/home/claude/alu_deck/assets/assets_trace_teal.png"/>
            <p:cNvSpPr/>
            <p:nvPr/>
          </p:nvSpPr>
          <p:spPr>
            <a:xfrm flipH="false" flipV="false" rot="0">
              <a:off x="0" y="0"/>
              <a:ext cx="65836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6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-10800000">
            <a:off x="13502640" y="7332578"/>
            <a:ext cx="4937760" cy="3291840"/>
            <a:chOff x="0" y="0"/>
            <a:chExt cx="6583680" cy="4389120"/>
          </a:xfrm>
        </p:grpSpPr>
        <p:sp>
          <p:nvSpPr>
            <p:cNvPr name="Freeform 16" id="16" descr="/home/claude/alu_deck/assets/assets_trace_teal.png"/>
            <p:cNvSpPr/>
            <p:nvPr/>
          </p:nvSpPr>
          <p:spPr>
            <a:xfrm flipH="false" flipV="false" rot="0">
              <a:off x="0" y="0"/>
              <a:ext cx="65836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6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7010400" y="1771650"/>
            <a:ext cx="5010150" cy="8362950"/>
          </a:xfrm>
          <a:custGeom>
            <a:avLst/>
            <a:gdLst/>
            <a:ahLst/>
            <a:cxnLst/>
            <a:rect r="r" b="b" t="t" l="l"/>
            <a:pathLst>
              <a:path h="8362950" w="5010150">
                <a:moveTo>
                  <a:pt x="0" y="0"/>
                </a:moveTo>
                <a:lnTo>
                  <a:pt x="5010150" y="0"/>
                </a:lnTo>
                <a:lnTo>
                  <a:pt x="5010150" y="8362950"/>
                </a:lnTo>
                <a:lnTo>
                  <a:pt x="0" y="8362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938869" y="178022"/>
            <a:ext cx="1095375" cy="647700"/>
          </a:xfrm>
          <a:custGeom>
            <a:avLst/>
            <a:gdLst/>
            <a:ahLst/>
            <a:cxnLst/>
            <a:rect r="r" b="b" t="t" l="l"/>
            <a:pathLst>
              <a:path h="647700" w="1095375">
                <a:moveTo>
                  <a:pt x="0" y="0"/>
                </a:moveTo>
                <a:lnTo>
                  <a:pt x="1095375" y="0"/>
                </a:lnTo>
                <a:lnTo>
                  <a:pt x="1095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4538960" y="-47625"/>
            <a:ext cx="2152650" cy="2152650"/>
            <a:chOff x="0" y="0"/>
            <a:chExt cx="3200400" cy="3200400"/>
          </a:xfrm>
        </p:grpSpPr>
        <p:sp>
          <p:nvSpPr>
            <p:cNvPr name="Freeform 20" id="20" descr="/home/claude/assets/chibi_senku_spring.png"/>
            <p:cNvSpPr/>
            <p:nvPr/>
          </p:nvSpPr>
          <p:spPr>
            <a:xfrm flipH="false" flipV="false" rot="0">
              <a:off x="0" y="0"/>
              <a:ext cx="3200400" cy="3200400"/>
            </a:xfrm>
            <a:custGeom>
              <a:avLst/>
              <a:gdLst/>
              <a:ahLst/>
              <a:cxnLst/>
              <a:rect r="r" b="b" t="t" l="l"/>
              <a:pathLst>
                <a:path h="320040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3200400"/>
                  </a:lnTo>
                  <a:lnTo>
                    <a:pt x="0" y="320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01429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5095" y="1301782"/>
            <a:ext cx="16471659" cy="766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4"/>
              </a:lnSpc>
            </a:pPr>
            <a:r>
              <a:rPr lang="en-US" b="true" sz="4953">
                <a:solidFill>
                  <a:srgbClr val="FFFFFF"/>
                </a:solidFill>
                <a:latin typeface="Caladea Bold"/>
                <a:ea typeface="Caladea Bold"/>
                <a:cs typeface="Caladea Bold"/>
                <a:sym typeface="Caladea Bold"/>
              </a:rPr>
              <a:t>IPv6 Notation &amp; Omission Rules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5095" y="2306860"/>
            <a:ext cx="16471659" cy="558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b="true" sz="3602">
                <a:solidFill>
                  <a:srgbClr val="9FD3E8"/>
                </a:solidFill>
                <a:latin typeface="Caladea Bold"/>
                <a:ea typeface="Caladea Bold"/>
                <a:cs typeface="Caladea Bold"/>
                <a:sym typeface="Caladea Bold"/>
              </a:rPr>
              <a:t>An IPv6 address contains eight 16-bit hexadecimal groups.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5095" y="3791912"/>
            <a:ext cx="6977577" cy="695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b="true" sz="4503">
                <a:solidFill>
                  <a:srgbClr val="FFFFFF"/>
                </a:solidFill>
                <a:latin typeface="Caladea Bold"/>
                <a:ea typeface="Caladea Bold"/>
                <a:cs typeface="Caladea Bold"/>
                <a:sym typeface="Caladea Bold"/>
              </a:rPr>
              <a:t>Two shortening rules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5095" y="4636732"/>
            <a:ext cx="6977577" cy="1779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6863" indent="-208432" lvl="1">
              <a:lnSpc>
                <a:spcPts val="3452"/>
              </a:lnSpc>
              <a:buAutoNum type="arabicPeriod" startAt="1"/>
            </a:pPr>
            <a:r>
              <a:rPr lang="en-US" b="true" sz="2301">
                <a:solidFill>
                  <a:srgbClr val="FFFFFF"/>
                </a:solidFill>
                <a:latin typeface="Carlito Bold"/>
                <a:ea typeface="Carlito Bold"/>
                <a:cs typeface="Carlito Bold"/>
                <a:sym typeface="Carlito Bold"/>
              </a:rPr>
              <a:t>Drop leading zeros</a:t>
            </a:r>
            <a:r>
              <a:rPr lang="en-US" sz="2301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 within any group: 0042 becomes 42.</a:t>
            </a:r>
          </a:p>
          <a:p>
            <a:pPr algn="l" marL="416863" indent="-208432" lvl="1">
              <a:lnSpc>
                <a:spcPts val="3452"/>
              </a:lnSpc>
              <a:buAutoNum type="arabicPeriod" startAt="1"/>
            </a:pPr>
            <a:r>
              <a:rPr lang="en-US" b="true" sz="2301">
                <a:solidFill>
                  <a:srgbClr val="FFFFFF"/>
                </a:solidFill>
                <a:latin typeface="Carlito Bold"/>
                <a:ea typeface="Carlito Bold"/>
                <a:cs typeface="Carlito Bold"/>
                <a:sym typeface="Carlito Bold"/>
              </a:rPr>
              <a:t>Compress one consecutive run of zero groups</a:t>
            </a:r>
            <a:r>
              <a:rPr lang="en-US" sz="2301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 with :: once per address.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474557"/>
            <a:ext cx="6977577" cy="902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2"/>
              </a:lnSpc>
            </a:pPr>
            <a:r>
              <a:rPr lang="en-US" sz="2301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Each group ranges from 0000 to ffff; internal zeros stay in place.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09177" y="3791912"/>
            <a:ext cx="6977577" cy="695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b="true" sz="4503">
                <a:solidFill>
                  <a:srgbClr val="FFFFFF"/>
                </a:solidFill>
                <a:latin typeface="Caladea Bold"/>
                <a:ea typeface="Caladea Bold"/>
                <a:cs typeface="Caladea Bold"/>
                <a:sym typeface="Caladea Bold"/>
              </a:rPr>
              <a:t>Worked example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09177" y="4576634"/>
            <a:ext cx="7892672" cy="464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2"/>
              </a:lnSpc>
            </a:pPr>
            <a:r>
              <a:rPr lang="en-US" sz="230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2001:0db8:0000:0000:0000:ff00:0042:8329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409177" y="5310383"/>
            <a:ext cx="2302326" cy="57198"/>
            <a:chOff x="0" y="0"/>
            <a:chExt cx="3069768" cy="762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069717" cy="76200"/>
            </a:xfrm>
            <a:custGeom>
              <a:avLst/>
              <a:gdLst/>
              <a:ahLst/>
              <a:cxnLst/>
              <a:rect r="r" b="b" t="t" l="l"/>
              <a:pathLst>
                <a:path h="76200" w="3069717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3031617" y="0"/>
                  </a:lnTo>
                  <a:cubicBezTo>
                    <a:pt x="3052699" y="0"/>
                    <a:pt x="3069717" y="17018"/>
                    <a:pt x="3069717" y="38100"/>
                  </a:cubicBezTo>
                  <a:cubicBezTo>
                    <a:pt x="3069717" y="59182"/>
                    <a:pt x="3052699" y="76200"/>
                    <a:pt x="3031617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409177" y="5643312"/>
            <a:ext cx="7892672" cy="464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2"/>
              </a:lnSpc>
            </a:pPr>
            <a:r>
              <a:rPr lang="en-US" sz="230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2001:db8::ff00:42:8329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09177" y="6272286"/>
            <a:ext cx="6977577" cy="82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1"/>
              </a:lnSpc>
            </a:pPr>
            <a:r>
              <a:rPr lang="en-US" sz="2101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The double colon replaces three consecutive zero groups. Using it once makes the full eight-group address unambiguous.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-53340" y="-9525"/>
            <a:ext cx="4937760" cy="3291840"/>
            <a:chOff x="0" y="0"/>
            <a:chExt cx="6583680" cy="4389120"/>
          </a:xfrm>
        </p:grpSpPr>
        <p:sp>
          <p:nvSpPr>
            <p:cNvPr name="Freeform 18" id="18" descr="/home/claude/alu_deck/assets/assets_trace_teal.png"/>
            <p:cNvSpPr/>
            <p:nvPr/>
          </p:nvSpPr>
          <p:spPr>
            <a:xfrm flipH="false" flipV="false" rot="0">
              <a:off x="0" y="0"/>
              <a:ext cx="65836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6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-10800000">
            <a:off x="13655040" y="7446878"/>
            <a:ext cx="4937760" cy="3291840"/>
            <a:chOff x="0" y="0"/>
            <a:chExt cx="6583680" cy="4389120"/>
          </a:xfrm>
        </p:grpSpPr>
        <p:sp>
          <p:nvSpPr>
            <p:cNvPr name="Freeform 20" id="20" descr="/home/claude/alu_deck/assets/assets_trace_teal.png"/>
            <p:cNvSpPr/>
            <p:nvPr/>
          </p:nvSpPr>
          <p:spPr>
            <a:xfrm flipH="false" flipV="false" rot="0">
              <a:off x="0" y="0"/>
              <a:ext cx="65836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6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17091269" y="330422"/>
            <a:ext cx="1095375" cy="647700"/>
          </a:xfrm>
          <a:custGeom>
            <a:avLst/>
            <a:gdLst/>
            <a:ahLst/>
            <a:cxnLst/>
            <a:rect r="r" b="b" t="t" l="l"/>
            <a:pathLst>
              <a:path h="647700" w="1095375">
                <a:moveTo>
                  <a:pt x="0" y="0"/>
                </a:moveTo>
                <a:lnTo>
                  <a:pt x="1095375" y="0"/>
                </a:lnTo>
                <a:lnTo>
                  <a:pt x="1095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162800" y="1924050"/>
            <a:ext cx="5010150" cy="8362950"/>
          </a:xfrm>
          <a:custGeom>
            <a:avLst/>
            <a:gdLst/>
            <a:ahLst/>
            <a:cxnLst/>
            <a:rect r="r" b="b" t="t" l="l"/>
            <a:pathLst>
              <a:path h="8362950" w="5010150">
                <a:moveTo>
                  <a:pt x="0" y="0"/>
                </a:moveTo>
                <a:lnTo>
                  <a:pt x="5010150" y="0"/>
                </a:lnTo>
                <a:lnTo>
                  <a:pt x="5010150" y="8362950"/>
                </a:lnTo>
                <a:lnTo>
                  <a:pt x="0" y="8362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548390" y="7297132"/>
            <a:ext cx="1466679" cy="2635771"/>
          </a:xfrm>
          <a:custGeom>
            <a:avLst/>
            <a:gdLst/>
            <a:ahLst/>
            <a:cxnLst/>
            <a:rect r="r" b="b" t="t" l="l"/>
            <a:pathLst>
              <a:path h="2635771" w="1466679">
                <a:moveTo>
                  <a:pt x="0" y="0"/>
                </a:moveTo>
                <a:lnTo>
                  <a:pt x="1466679" y="0"/>
                </a:lnTo>
                <a:lnTo>
                  <a:pt x="1466679" y="2635771"/>
                </a:lnTo>
                <a:lnTo>
                  <a:pt x="0" y="26357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01429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5095" y="1301782"/>
            <a:ext cx="16471659" cy="766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4"/>
              </a:lnSpc>
            </a:pPr>
            <a:r>
              <a:rPr lang="en-US" b="true" sz="4953">
                <a:solidFill>
                  <a:srgbClr val="FFFFFF"/>
                </a:solidFill>
                <a:latin typeface="Caladea Bold"/>
                <a:ea typeface="Caladea Bold"/>
                <a:cs typeface="Caladea Bold"/>
                <a:sym typeface="Caladea Bold"/>
              </a:rPr>
              <a:t>OSI Layers &amp; Data Units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5095" y="2135601"/>
            <a:ext cx="16471659" cy="558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b="true" sz="3602">
                <a:solidFill>
                  <a:srgbClr val="FFBD59"/>
                </a:solidFill>
                <a:latin typeface="Caladea Bold"/>
                <a:ea typeface="Caladea Bold"/>
                <a:cs typeface="Caladea Bold"/>
                <a:sym typeface="Caladea Bold"/>
              </a:rPr>
              <a:t>Encapsulation maps application data to signals on the medium.</a:t>
            </a:r>
          </a:p>
        </p:txBody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915092" y="3113237"/>
          <a:ext cx="16472069" cy="5908675"/>
        </p:xfrm>
        <a:graphic>
          <a:graphicData uri="http://schemas.openxmlformats.org/drawingml/2006/table">
            <a:tbl>
              <a:tblPr/>
              <a:tblGrid>
                <a:gridCol w="4118017"/>
                <a:gridCol w="4118017"/>
                <a:gridCol w="4118017"/>
                <a:gridCol w="4118017"/>
              </a:tblGrid>
              <a:tr h="69682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1"/>
                        </a:lnSpc>
                        <a:defRPr/>
                      </a:pPr>
                      <a:r>
                        <a:rPr lang="en-US" sz="22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Layer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1"/>
                        </a:lnSpc>
                        <a:defRPr/>
                      </a:pPr>
                      <a:r>
                        <a:rPr lang="en-US" sz="22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Name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1"/>
                        </a:lnSpc>
                        <a:defRPr/>
                      </a:pPr>
                      <a:r>
                        <a:rPr lang="en-US" sz="22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Typical PDU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1"/>
                        </a:lnSpc>
                        <a:defRPr/>
                      </a:pPr>
                      <a:r>
                        <a:rPr lang="en-US" sz="22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Focus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682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1"/>
                        </a:lnSpc>
                        <a:defRPr/>
                      </a:pPr>
                      <a:r>
                        <a:rPr lang="en-US" sz="22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7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1"/>
                        </a:lnSpc>
                        <a:defRPr/>
                      </a:pPr>
                      <a:r>
                        <a:rPr lang="en-US" sz="22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Application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1"/>
                        </a:lnSpc>
                        <a:defRPr/>
                      </a:pPr>
                      <a:r>
                        <a:rPr lang="en-US" sz="22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Data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1"/>
                        </a:lnSpc>
                        <a:defRPr/>
                      </a:pPr>
                      <a:r>
                        <a:rPr lang="en-US" sz="22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Network services to applications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682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1"/>
                        </a:lnSpc>
                        <a:defRPr/>
                      </a:pPr>
                      <a:r>
                        <a:rPr lang="en-US" sz="22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6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1"/>
                        </a:lnSpc>
                        <a:defRPr/>
                      </a:pPr>
                      <a:r>
                        <a:rPr lang="en-US" sz="22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Presentation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1"/>
                        </a:lnSpc>
                        <a:defRPr/>
                      </a:pPr>
                      <a:r>
                        <a:rPr lang="en-US" sz="22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Data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1"/>
                        </a:lnSpc>
                        <a:defRPr/>
                      </a:pPr>
                      <a:r>
                        <a:rPr lang="en-US" sz="22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Format, encoding, encryption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682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1"/>
                        </a:lnSpc>
                        <a:defRPr/>
                      </a:pPr>
                      <a:r>
                        <a:rPr lang="en-US" sz="22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5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1"/>
                        </a:lnSpc>
                        <a:defRPr/>
                      </a:pPr>
                      <a:r>
                        <a:rPr lang="en-US" sz="22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Session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1"/>
                        </a:lnSpc>
                        <a:defRPr/>
                      </a:pPr>
                      <a:r>
                        <a:rPr lang="en-US" sz="22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Data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1"/>
                        </a:lnSpc>
                        <a:defRPr/>
                      </a:pPr>
                      <a:r>
                        <a:rPr lang="en-US" sz="22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Dialog and session control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682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1"/>
                        </a:lnSpc>
                        <a:defRPr/>
                      </a:pPr>
                      <a:r>
                        <a:rPr lang="en-US" sz="22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4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1"/>
                        </a:lnSpc>
                        <a:defRPr/>
                      </a:pPr>
                      <a:r>
                        <a:rPr lang="en-US" sz="22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Transport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1"/>
                        </a:lnSpc>
                        <a:defRPr/>
                      </a:pPr>
                      <a:r>
                        <a:rPr lang="en-US" sz="22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Segment (TCP) / Datagram (UDP)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1"/>
                        </a:lnSpc>
                        <a:defRPr/>
                      </a:pPr>
                      <a:r>
                        <a:rPr lang="en-US" sz="22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End-to-end delivery and ports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682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1"/>
                        </a:lnSpc>
                        <a:defRPr/>
                      </a:pPr>
                      <a:r>
                        <a:rPr lang="en-US" sz="22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3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1"/>
                        </a:lnSpc>
                        <a:defRPr/>
                      </a:pPr>
                      <a:r>
                        <a:rPr lang="en-US" sz="22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Network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1"/>
                        </a:lnSpc>
                        <a:defRPr/>
                      </a:pPr>
                      <a:r>
                        <a:rPr lang="en-US" sz="22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Packet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1"/>
                        </a:lnSpc>
                        <a:defRPr/>
                      </a:pPr>
                      <a:r>
                        <a:rPr lang="en-US" sz="22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Logical addressing and routing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091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1"/>
                        </a:lnSpc>
                        <a:defRPr/>
                      </a:pPr>
                      <a:r>
                        <a:rPr lang="en-US" sz="22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2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1"/>
                        </a:lnSpc>
                        <a:defRPr/>
                      </a:pPr>
                      <a:r>
                        <a:rPr lang="en-US" sz="22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Data Link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1"/>
                        </a:lnSpc>
                        <a:defRPr/>
                      </a:pPr>
                      <a:r>
                        <a:rPr lang="en-US" sz="22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Frame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1"/>
                        </a:lnSpc>
                        <a:defRPr/>
                      </a:pPr>
                      <a:r>
                        <a:rPr lang="en-US" sz="22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Local delivery and MAC addressing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682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1"/>
                        </a:lnSpc>
                        <a:defRPr/>
                      </a:pPr>
                      <a:r>
                        <a:rPr lang="en-US" sz="22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1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1"/>
                        </a:lnSpc>
                        <a:defRPr/>
                      </a:pPr>
                      <a:r>
                        <a:rPr lang="en-US" sz="22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Physical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1"/>
                        </a:lnSpc>
                        <a:defRPr/>
                      </a:pPr>
                      <a:r>
                        <a:rPr lang="en-US" sz="22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Bits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1"/>
                        </a:lnSpc>
                        <a:defRPr/>
                      </a:pPr>
                      <a:r>
                        <a:rPr lang="en-US" sz="2201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Signals over the medium</a:t>
                      </a:r>
                      <a:endParaRPr lang="en-US" sz="1100"/>
                    </a:p>
                  </a:txBody>
                  <a:tcPr marL="133347" marR="133347" marT="133347" marB="133347" anchor="ctr">
                    <a:lnL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3D4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14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901255" y="9153525"/>
            <a:ext cx="17386744" cy="505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Mnemonic: Data → Segment / Datagram → Packet → Frame → Bits.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-133350" y="-76200"/>
            <a:ext cx="4937760" cy="3291840"/>
            <a:chOff x="0" y="0"/>
            <a:chExt cx="6583680" cy="4389120"/>
          </a:xfrm>
        </p:grpSpPr>
        <p:sp>
          <p:nvSpPr>
            <p:cNvPr name="Freeform 11" id="11" descr="/home/claude/alu_deck/assets/assets_trace_teal.png"/>
            <p:cNvSpPr/>
            <p:nvPr/>
          </p:nvSpPr>
          <p:spPr>
            <a:xfrm flipH="false" flipV="false" rot="0">
              <a:off x="0" y="0"/>
              <a:ext cx="65836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6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-10800000">
            <a:off x="13364080" y="7003199"/>
            <a:ext cx="4937760" cy="3291840"/>
            <a:chOff x="0" y="0"/>
            <a:chExt cx="6583680" cy="4389120"/>
          </a:xfrm>
        </p:grpSpPr>
        <p:sp>
          <p:nvSpPr>
            <p:cNvPr name="Freeform 13" id="13" descr="/home/claude/alu_deck/assets/assets_trace_teal.png"/>
            <p:cNvSpPr/>
            <p:nvPr/>
          </p:nvSpPr>
          <p:spPr>
            <a:xfrm flipH="false" flipV="false" rot="0">
              <a:off x="0" y="0"/>
              <a:ext cx="65836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6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6983075" y="225457"/>
            <a:ext cx="1095375" cy="647700"/>
          </a:xfrm>
          <a:custGeom>
            <a:avLst/>
            <a:gdLst/>
            <a:ahLst/>
            <a:cxnLst/>
            <a:rect r="r" b="b" t="t" l="l"/>
            <a:pathLst>
              <a:path h="647700" w="1095375">
                <a:moveTo>
                  <a:pt x="0" y="0"/>
                </a:moveTo>
                <a:lnTo>
                  <a:pt x="1095375" y="0"/>
                </a:lnTo>
                <a:lnTo>
                  <a:pt x="1095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315200" y="2076450"/>
            <a:ext cx="5010150" cy="8362950"/>
          </a:xfrm>
          <a:custGeom>
            <a:avLst/>
            <a:gdLst/>
            <a:ahLst/>
            <a:cxnLst/>
            <a:rect r="r" b="b" t="t" l="l"/>
            <a:pathLst>
              <a:path h="8362950" w="5010150">
                <a:moveTo>
                  <a:pt x="0" y="0"/>
                </a:moveTo>
                <a:lnTo>
                  <a:pt x="5010150" y="0"/>
                </a:lnTo>
                <a:lnTo>
                  <a:pt x="5010150" y="8362950"/>
                </a:lnTo>
                <a:lnTo>
                  <a:pt x="0" y="8362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01429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5095" y="1301782"/>
            <a:ext cx="16471659" cy="766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4"/>
              </a:lnSpc>
            </a:pPr>
            <a:r>
              <a:rPr lang="en-US" sz="4953" b="true">
                <a:solidFill>
                  <a:srgbClr val="F2FFFA"/>
                </a:solidFill>
                <a:latin typeface="Caladea Bold"/>
                <a:ea typeface="Caladea Bold"/>
                <a:cs typeface="Caladea Bold"/>
                <a:sym typeface="Caladea Bold"/>
              </a:rPr>
              <a:t>Network Diagnostics &amp; Verification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5095" y="2306860"/>
            <a:ext cx="16471659" cy="558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b="true" sz="3602">
                <a:solidFill>
                  <a:srgbClr val="9FD3E8"/>
                </a:solidFill>
                <a:latin typeface="Caladea Bold"/>
                <a:ea typeface="Caladea Bold"/>
                <a:cs typeface="Caladea Bold"/>
                <a:sym typeface="Caladea Bold"/>
              </a:rPr>
              <a:t>Verify from local configuration to link, gateway, and end-to-end reachability.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5095" y="4195181"/>
            <a:ext cx="6977577" cy="42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b="true" sz="2702">
                <a:solidFill>
                  <a:srgbClr val="FFBD59"/>
                </a:solidFill>
                <a:latin typeface="Caladea Bold"/>
                <a:ea typeface="Caladea Bold"/>
                <a:cs typeface="Caladea Bold"/>
                <a:sym typeface="Caladea Bold"/>
              </a:rPr>
              <a:t>Host checks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5095" y="4759261"/>
            <a:ext cx="6977577" cy="281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b="true" sz="2101">
                <a:solidFill>
                  <a:srgbClr val="FFFFFF"/>
                </a:solidFill>
                <a:latin typeface="Consolas Bold"/>
                <a:ea typeface="Consolas Bold"/>
                <a:cs typeface="Consolas Bold"/>
                <a:sym typeface="Consolas Bold"/>
              </a:rPr>
              <a:t>ping &lt;destination&gt;</a:t>
            </a:r>
          </a:p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Tests IP reachability and round-trip response; ICMP may be filtered.</a:t>
            </a:r>
          </a:p>
          <a:p>
            <a:pPr algn="l">
              <a:lnSpc>
                <a:spcPts val="3152"/>
              </a:lnSpc>
            </a:pPr>
            <a:r>
              <a:rPr lang="en-US" b="true" sz="2101">
                <a:solidFill>
                  <a:srgbClr val="FFFFFF"/>
                </a:solidFill>
                <a:latin typeface="Consolas Bold"/>
                <a:ea typeface="Consolas Bold"/>
                <a:cs typeface="Consolas Bold"/>
                <a:sym typeface="Consolas Bold"/>
              </a:rPr>
              <a:t>ipconfig / ifconfig</a:t>
            </a:r>
          </a:p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Inspect local addresses and interface settings. On modern Linux, ip addr is preferred over legacy ifconfig.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54797" y="4195181"/>
            <a:ext cx="6977577" cy="42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b="true" sz="2702">
                <a:solidFill>
                  <a:srgbClr val="FFBD59"/>
                </a:solidFill>
                <a:latin typeface="Caladea Bold"/>
                <a:ea typeface="Caladea Bold"/>
                <a:cs typeface="Caladea Bold"/>
                <a:sym typeface="Caladea Bold"/>
              </a:rPr>
              <a:t>Switch / router checks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54797" y="4759261"/>
            <a:ext cx="6977577" cy="2392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b="true" sz="2101">
                <a:solidFill>
                  <a:srgbClr val="FFFFFF"/>
                </a:solidFill>
                <a:latin typeface="Consolas Bold"/>
                <a:ea typeface="Consolas Bold"/>
                <a:cs typeface="Consolas Bold"/>
                <a:sym typeface="Consolas Bold"/>
              </a:rPr>
              <a:t>show ip interface brief</a:t>
            </a:r>
          </a:p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Check interface IPs and line/protocol state on Cisco IOS.</a:t>
            </a:r>
          </a:p>
          <a:p>
            <a:pPr algn="l">
              <a:lnSpc>
                <a:spcPts val="3152"/>
              </a:lnSpc>
            </a:pPr>
            <a:r>
              <a:rPr lang="en-US" b="true" sz="2101">
                <a:solidFill>
                  <a:srgbClr val="FFFFFF"/>
                </a:solidFill>
                <a:latin typeface="Consolas Bold"/>
                <a:ea typeface="Consolas Bold"/>
                <a:cs typeface="Consolas Bold"/>
                <a:sym typeface="Consolas Bold"/>
              </a:rPr>
              <a:t>show vlan</a:t>
            </a:r>
          </a:p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Verify VLAN IDs, names, and access-port membership on a switch.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711947" y="7466609"/>
            <a:ext cx="6977577" cy="1467993"/>
            <a:chOff x="0" y="0"/>
            <a:chExt cx="9303436" cy="195732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303512" cy="1957324"/>
            </a:xfrm>
            <a:custGeom>
              <a:avLst/>
              <a:gdLst/>
              <a:ahLst/>
              <a:cxnLst/>
              <a:rect r="r" b="b" t="t" l="l"/>
              <a:pathLst>
                <a:path h="1957324" w="9303512">
                  <a:moveTo>
                    <a:pt x="0" y="149479"/>
                  </a:moveTo>
                  <a:cubicBezTo>
                    <a:pt x="0" y="66929"/>
                    <a:pt x="66929" y="0"/>
                    <a:pt x="149479" y="0"/>
                  </a:cubicBezTo>
                  <a:lnTo>
                    <a:pt x="9154033" y="0"/>
                  </a:lnTo>
                  <a:cubicBezTo>
                    <a:pt x="9236583" y="0"/>
                    <a:pt x="9303512" y="66929"/>
                    <a:pt x="9303512" y="149479"/>
                  </a:cubicBezTo>
                  <a:lnTo>
                    <a:pt x="9303512" y="1807845"/>
                  </a:lnTo>
                  <a:cubicBezTo>
                    <a:pt x="9303512" y="1890395"/>
                    <a:pt x="9236583" y="1957324"/>
                    <a:pt x="9154033" y="1957324"/>
                  </a:cubicBezTo>
                  <a:lnTo>
                    <a:pt x="149479" y="1957324"/>
                  </a:lnTo>
                  <a:cubicBezTo>
                    <a:pt x="66929" y="1957324"/>
                    <a:pt x="0" y="1890395"/>
                    <a:pt x="0" y="1807845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035997" y="7840592"/>
            <a:ext cx="333623" cy="266910"/>
            <a:chOff x="0" y="0"/>
            <a:chExt cx="444830" cy="355879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444881" cy="355854"/>
            </a:xfrm>
            <a:custGeom>
              <a:avLst/>
              <a:gdLst/>
              <a:ahLst/>
              <a:cxnLst/>
              <a:rect r="r" b="b" t="t" l="l"/>
              <a:pathLst>
                <a:path h="355854" w="444881">
                  <a:moveTo>
                    <a:pt x="0" y="0"/>
                  </a:moveTo>
                  <a:lnTo>
                    <a:pt x="444881" y="0"/>
                  </a:lnTo>
                  <a:lnTo>
                    <a:pt x="444881" y="355854"/>
                  </a:lnTo>
                  <a:lnTo>
                    <a:pt x="0" y="355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28" t="0" r="-516" b="-7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594858" y="7735817"/>
            <a:ext cx="5843245" cy="82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Compare expected addressing, gateway, DNS, interface state, and VLAN before escalating.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9050" y="76200"/>
            <a:ext cx="4937760" cy="3291840"/>
            <a:chOff x="0" y="0"/>
            <a:chExt cx="6583680" cy="4389120"/>
          </a:xfrm>
        </p:grpSpPr>
        <p:sp>
          <p:nvSpPr>
            <p:cNvPr name="Freeform 18" id="18" descr="/home/claude/alu_deck/assets/assets_trace_teal.png"/>
            <p:cNvSpPr/>
            <p:nvPr/>
          </p:nvSpPr>
          <p:spPr>
            <a:xfrm flipH="false" flipV="false" rot="0">
              <a:off x="0" y="0"/>
              <a:ext cx="65836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6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-10800000">
            <a:off x="13516480" y="7155599"/>
            <a:ext cx="4937760" cy="3291840"/>
            <a:chOff x="0" y="0"/>
            <a:chExt cx="6583680" cy="4389120"/>
          </a:xfrm>
        </p:grpSpPr>
        <p:sp>
          <p:nvSpPr>
            <p:cNvPr name="Freeform 20" id="20" descr="/home/claude/alu_deck/assets/assets_trace_teal.png"/>
            <p:cNvSpPr/>
            <p:nvPr/>
          </p:nvSpPr>
          <p:spPr>
            <a:xfrm flipH="false" flipV="false" rot="0">
              <a:off x="0" y="0"/>
              <a:ext cx="65836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6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16887825" y="377857"/>
            <a:ext cx="1095375" cy="647700"/>
          </a:xfrm>
          <a:custGeom>
            <a:avLst/>
            <a:gdLst/>
            <a:ahLst/>
            <a:cxnLst/>
            <a:rect r="r" b="b" t="t" l="l"/>
            <a:pathLst>
              <a:path h="647700" w="1095375">
                <a:moveTo>
                  <a:pt x="0" y="0"/>
                </a:moveTo>
                <a:lnTo>
                  <a:pt x="1095375" y="0"/>
                </a:lnTo>
                <a:lnTo>
                  <a:pt x="1095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01429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5095" y="647745"/>
            <a:ext cx="17386744" cy="30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501" spc="90">
                <a:solidFill>
                  <a:srgbClr val="FFBD59"/>
                </a:solidFill>
                <a:latin typeface="Carlito"/>
                <a:ea typeface="Carlito"/>
                <a:cs typeface="Carlito"/>
                <a:sym typeface="Carlito"/>
              </a:rPr>
              <a:t>KNOWLEDGE CHECK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5095" y="1301782"/>
            <a:ext cx="1275874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4"/>
              </a:lnSpc>
            </a:pPr>
            <a:r>
              <a:rPr lang="en-US" sz="4953" b="true">
                <a:solidFill>
                  <a:srgbClr val="F2FFFA"/>
                </a:solidFill>
                <a:latin typeface="Caladea Bold"/>
                <a:ea typeface="Caladea Bold"/>
                <a:cs typeface="Caladea Bold"/>
                <a:sym typeface="Caladea Bold"/>
              </a:rPr>
              <a:t>Quiz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5095" y="2306860"/>
            <a:ext cx="16471659" cy="558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F2FFFA"/>
                </a:solidFill>
                <a:latin typeface="Caladea Bold"/>
                <a:ea typeface="Caladea Bold"/>
                <a:cs typeface="Caladea Bold"/>
                <a:sym typeface="Caladea Bold"/>
              </a:rPr>
              <a:t>Choose the best answer for each question.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5095" y="3113237"/>
            <a:ext cx="7892672" cy="3015825"/>
            <a:chOff x="0" y="0"/>
            <a:chExt cx="10523563" cy="40210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23601" cy="4021074"/>
            </a:xfrm>
            <a:custGeom>
              <a:avLst/>
              <a:gdLst/>
              <a:ahLst/>
              <a:cxnLst/>
              <a:rect r="r" b="b" t="t" l="l"/>
              <a:pathLst>
                <a:path h="4021074" w="10523601">
                  <a:moveTo>
                    <a:pt x="0" y="0"/>
                  </a:moveTo>
                  <a:lnTo>
                    <a:pt x="10523601" y="0"/>
                  </a:lnTo>
                  <a:lnTo>
                    <a:pt x="10523601" y="4021074"/>
                  </a:lnTo>
                  <a:lnTo>
                    <a:pt x="0" y="4021074"/>
                  </a:ln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43867" y="3332493"/>
            <a:ext cx="7466648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2"/>
              </a:lnSpc>
            </a:pPr>
            <a:r>
              <a:rPr lang="en-US" sz="2502" b="true">
                <a:solidFill>
                  <a:srgbClr val="FFFFFF"/>
                </a:solidFill>
                <a:latin typeface="Caladea Bold"/>
                <a:ea typeface="Caladea Bold"/>
                <a:cs typeface="Caladea Bold"/>
                <a:sym typeface="Caladea Bold"/>
              </a:rPr>
              <a:t>1. What is the correct sequence of the DHCP process?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3867" y="3775681"/>
            <a:ext cx="7435120" cy="1706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2"/>
              </a:lnSpc>
            </a:pPr>
            <a:r>
              <a:rPr lang="en-US" sz="2201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A. Discover, Offer, Request, Acknowledge</a:t>
            </a:r>
          </a:p>
          <a:p>
            <a:pPr algn="l">
              <a:lnSpc>
                <a:spcPts val="3302"/>
              </a:lnSpc>
            </a:pPr>
            <a:r>
              <a:rPr lang="en-US" sz="2201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B. Discover, Request, Offer, Acknowledge</a:t>
            </a:r>
          </a:p>
          <a:p>
            <a:pPr algn="l">
              <a:lnSpc>
                <a:spcPts val="3302"/>
              </a:lnSpc>
            </a:pPr>
            <a:r>
              <a:rPr lang="en-US" sz="2201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C. Offer, Discover, Acknowledge, Request</a:t>
            </a:r>
          </a:p>
          <a:p>
            <a:pPr algn="l">
              <a:lnSpc>
                <a:spcPts val="3302"/>
              </a:lnSpc>
            </a:pPr>
            <a:r>
              <a:rPr lang="en-US" sz="2201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D. Request, Discover, Offer, Acknowledge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494082" y="3113237"/>
            <a:ext cx="7892672" cy="3015825"/>
            <a:chOff x="0" y="0"/>
            <a:chExt cx="10523563" cy="40210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523601" cy="4021074"/>
            </a:xfrm>
            <a:custGeom>
              <a:avLst/>
              <a:gdLst/>
              <a:ahLst/>
              <a:cxnLst/>
              <a:rect r="r" b="b" t="t" l="l"/>
              <a:pathLst>
                <a:path h="4021074" w="10523601">
                  <a:moveTo>
                    <a:pt x="0" y="0"/>
                  </a:moveTo>
                  <a:lnTo>
                    <a:pt x="10523601" y="0"/>
                  </a:lnTo>
                  <a:lnTo>
                    <a:pt x="10523601" y="4021074"/>
                  </a:lnTo>
                  <a:lnTo>
                    <a:pt x="0" y="4021074"/>
                  </a:ln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722853" y="3332493"/>
            <a:ext cx="7435120" cy="42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FFFFFF"/>
                </a:solidFill>
                <a:latin typeface="Caladea Bold"/>
                <a:ea typeface="Caladea Bold"/>
                <a:cs typeface="Caladea Bold"/>
                <a:sym typeface="Caladea Bold"/>
              </a:rPr>
              <a:t>2. What does DNS translate?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22853" y="3775681"/>
            <a:ext cx="7435120" cy="1706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2"/>
              </a:lnSpc>
            </a:pPr>
            <a:r>
              <a:rPr lang="en-US" sz="2201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A. Domain names to IP addresses</a:t>
            </a:r>
          </a:p>
          <a:p>
            <a:pPr algn="l">
              <a:lnSpc>
                <a:spcPts val="3302"/>
              </a:lnSpc>
            </a:pPr>
            <a:r>
              <a:rPr lang="en-US" sz="2201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B. MAC addresses to VLAN IDs</a:t>
            </a:r>
          </a:p>
          <a:p>
            <a:pPr algn="l">
              <a:lnSpc>
                <a:spcPts val="3302"/>
              </a:lnSpc>
            </a:pPr>
            <a:r>
              <a:rPr lang="en-US" sz="2201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C. IP addresses to port numbers</a:t>
            </a:r>
          </a:p>
          <a:p>
            <a:pPr algn="l">
              <a:lnSpc>
                <a:spcPts val="3302"/>
              </a:lnSpc>
            </a:pPr>
            <a:r>
              <a:rPr lang="en-US" sz="2201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D. URLs to encryption keys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15095" y="6815404"/>
            <a:ext cx="7892672" cy="2963822"/>
            <a:chOff x="0" y="0"/>
            <a:chExt cx="10523563" cy="395176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523601" cy="3951719"/>
            </a:xfrm>
            <a:custGeom>
              <a:avLst/>
              <a:gdLst/>
              <a:ahLst/>
              <a:cxnLst/>
              <a:rect r="r" b="b" t="t" l="l"/>
              <a:pathLst>
                <a:path h="3951719" w="10523601">
                  <a:moveTo>
                    <a:pt x="0" y="0"/>
                  </a:moveTo>
                  <a:lnTo>
                    <a:pt x="10523601" y="0"/>
                  </a:lnTo>
                  <a:lnTo>
                    <a:pt x="10523601" y="3951719"/>
                  </a:lnTo>
                  <a:lnTo>
                    <a:pt x="0" y="3951719"/>
                  </a:ln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143867" y="7034660"/>
            <a:ext cx="5408772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FFFFFF"/>
                </a:solidFill>
                <a:latin typeface="Caladea Bold"/>
                <a:ea typeface="Caladea Bold"/>
                <a:cs typeface="Caladea Bold"/>
                <a:sym typeface="Caladea Bold"/>
              </a:rPr>
              <a:t>3. Many hosts, one public IP + ports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43867" y="7477849"/>
            <a:ext cx="7435120" cy="1706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2"/>
              </a:lnSpc>
            </a:pPr>
            <a:r>
              <a:rPr lang="en-US" sz="2201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A. Static NAT</a:t>
            </a:r>
          </a:p>
          <a:p>
            <a:pPr algn="l">
              <a:lnSpc>
                <a:spcPts val="3302"/>
              </a:lnSpc>
            </a:pPr>
            <a:r>
              <a:rPr lang="en-US" sz="2201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B. Dynamic NAT</a:t>
            </a:r>
          </a:p>
          <a:p>
            <a:pPr algn="l">
              <a:lnSpc>
                <a:spcPts val="3302"/>
              </a:lnSpc>
            </a:pPr>
            <a:r>
              <a:rPr lang="en-US" sz="2201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C. PAT (NAT overload)</a:t>
            </a:r>
          </a:p>
          <a:p>
            <a:pPr algn="l">
              <a:lnSpc>
                <a:spcPts val="3302"/>
              </a:lnSpc>
            </a:pPr>
            <a:r>
              <a:rPr lang="en-US" sz="2201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D. Destination NAT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494082" y="6815404"/>
            <a:ext cx="7892672" cy="2963822"/>
            <a:chOff x="0" y="0"/>
            <a:chExt cx="10523563" cy="395176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523601" cy="3951719"/>
            </a:xfrm>
            <a:custGeom>
              <a:avLst/>
              <a:gdLst/>
              <a:ahLst/>
              <a:cxnLst/>
              <a:rect r="r" b="b" t="t" l="l"/>
              <a:pathLst>
                <a:path h="3951719" w="10523601">
                  <a:moveTo>
                    <a:pt x="0" y="0"/>
                  </a:moveTo>
                  <a:lnTo>
                    <a:pt x="10523601" y="0"/>
                  </a:lnTo>
                  <a:lnTo>
                    <a:pt x="10523601" y="3951719"/>
                  </a:lnTo>
                  <a:lnTo>
                    <a:pt x="0" y="3951719"/>
                  </a:ln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722853" y="7034660"/>
            <a:ext cx="7435120" cy="83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FFFFFF"/>
                </a:solidFill>
                <a:latin typeface="Caladea Bold"/>
                <a:ea typeface="Caladea Bold"/>
                <a:cs typeface="Caladea Bold"/>
                <a:sym typeface="Caladea Bold"/>
              </a:rPr>
              <a:t>4. Which OSI layer handles IP addressing and routing?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22853" y="7889529"/>
            <a:ext cx="7435120" cy="1706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2"/>
              </a:lnSpc>
            </a:pPr>
            <a:r>
              <a:rPr lang="en-US" sz="2201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A. Data Link (Layer 2)</a:t>
            </a:r>
          </a:p>
          <a:p>
            <a:pPr algn="l">
              <a:lnSpc>
                <a:spcPts val="3302"/>
              </a:lnSpc>
            </a:pPr>
            <a:r>
              <a:rPr lang="en-US" sz="2201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B. Network (Layer 3)</a:t>
            </a:r>
          </a:p>
          <a:p>
            <a:pPr algn="l">
              <a:lnSpc>
                <a:spcPts val="3302"/>
              </a:lnSpc>
            </a:pPr>
            <a:r>
              <a:rPr lang="en-US" sz="2201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C. Transport (Layer 4)</a:t>
            </a:r>
          </a:p>
          <a:p>
            <a:pPr algn="l">
              <a:lnSpc>
                <a:spcPts val="3302"/>
              </a:lnSpc>
            </a:pPr>
            <a:r>
              <a:rPr lang="en-US" sz="2201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D. Application (Layer 7)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15095" y="10490759"/>
            <a:ext cx="16471659" cy="857917"/>
            <a:chOff x="0" y="0"/>
            <a:chExt cx="21962212" cy="114388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62238" cy="1143889"/>
            </a:xfrm>
            <a:custGeom>
              <a:avLst/>
              <a:gdLst/>
              <a:ahLst/>
              <a:cxnLst/>
              <a:rect r="r" b="b" t="t" l="l"/>
              <a:pathLst>
                <a:path h="1143889" w="21962238">
                  <a:moveTo>
                    <a:pt x="0" y="0"/>
                  </a:moveTo>
                  <a:lnTo>
                    <a:pt x="21962238" y="0"/>
                  </a:lnTo>
                  <a:lnTo>
                    <a:pt x="21962238" y="1143889"/>
                  </a:lnTo>
                  <a:lnTo>
                    <a:pt x="0" y="1143889"/>
                  </a:lnTo>
                  <a:close/>
                </a:path>
              </a:pathLst>
            </a:custGeom>
            <a:solidFill>
              <a:srgbClr val="16C7E8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143867" y="10614755"/>
            <a:ext cx="16242887" cy="505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 b="true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Answer key</a:t>
            </a:r>
            <a:r>
              <a:rPr lang="en-US" sz="21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· 1A · 2A · 3C · 4B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6866079" y="304800"/>
            <a:ext cx="1095375" cy="647700"/>
          </a:xfrm>
          <a:custGeom>
            <a:avLst/>
            <a:gdLst/>
            <a:ahLst/>
            <a:cxnLst/>
            <a:rect r="r" b="b" t="t" l="l"/>
            <a:pathLst>
              <a:path h="647700" w="1095375">
                <a:moveTo>
                  <a:pt x="0" y="0"/>
                </a:moveTo>
                <a:lnTo>
                  <a:pt x="1095375" y="0"/>
                </a:lnTo>
                <a:lnTo>
                  <a:pt x="1095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-331470" y="-178603"/>
            <a:ext cx="4937760" cy="3291840"/>
            <a:chOff x="0" y="0"/>
            <a:chExt cx="6583680" cy="4389120"/>
          </a:xfrm>
        </p:grpSpPr>
        <p:sp>
          <p:nvSpPr>
            <p:cNvPr name="Freeform 30" id="30" descr="/home/claude/alu_deck/assets/assets_trace_teal.png"/>
            <p:cNvSpPr/>
            <p:nvPr/>
          </p:nvSpPr>
          <p:spPr>
            <a:xfrm flipH="false" flipV="false" rot="0">
              <a:off x="0" y="0"/>
              <a:ext cx="65836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-10800000">
            <a:off x="13668880" y="7307999"/>
            <a:ext cx="4937760" cy="3291840"/>
            <a:chOff x="0" y="0"/>
            <a:chExt cx="6583680" cy="4389120"/>
          </a:xfrm>
        </p:grpSpPr>
        <p:sp>
          <p:nvSpPr>
            <p:cNvPr name="Freeform 32" id="32" descr="/home/claude/alu_deck/assets/assets_trace_teal.png"/>
            <p:cNvSpPr/>
            <p:nvPr/>
          </p:nvSpPr>
          <p:spPr>
            <a:xfrm flipH="false" flipV="false" rot="0">
              <a:off x="0" y="0"/>
              <a:ext cx="65836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0"/>
                  </a:lnTo>
                  <a:lnTo>
                    <a:pt x="0" y="438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6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982276" y="1311307"/>
            <a:ext cx="3319564" cy="4424879"/>
            <a:chOff x="0" y="0"/>
            <a:chExt cx="7897673" cy="105273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897622" cy="10527361"/>
            </a:xfrm>
            <a:custGeom>
              <a:avLst/>
              <a:gdLst/>
              <a:ahLst/>
              <a:cxnLst/>
              <a:rect r="r" b="b" t="t" l="l"/>
              <a:pathLst>
                <a:path h="10527361" w="7897622">
                  <a:moveTo>
                    <a:pt x="0" y="0"/>
                  </a:moveTo>
                  <a:lnTo>
                    <a:pt x="7897622" y="0"/>
                  </a:lnTo>
                  <a:lnTo>
                    <a:pt x="7897622" y="10527361"/>
                  </a:lnTo>
                  <a:lnTo>
                    <a:pt x="0" y="105273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81023" t="-17392" r="0" b="-23156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39983" y="694256"/>
            <a:ext cx="6143582" cy="8898488"/>
          </a:xfrm>
          <a:custGeom>
            <a:avLst/>
            <a:gdLst/>
            <a:ahLst/>
            <a:cxnLst/>
            <a:rect r="r" b="b" t="t" l="l"/>
            <a:pathLst>
              <a:path h="8898488" w="6143582">
                <a:moveTo>
                  <a:pt x="0" y="0"/>
                </a:moveTo>
                <a:lnTo>
                  <a:pt x="6143581" y="0"/>
                </a:lnTo>
                <a:lnTo>
                  <a:pt x="6143581" y="8898488"/>
                </a:lnTo>
                <a:lnTo>
                  <a:pt x="0" y="88984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"/>
            </a:blip>
            <a:stretch>
              <a:fillRect l="-6" t="0" r="-6" b="0"/>
            </a:stretch>
          </a:blipFill>
        </p:spPr>
      </p:sp>
      <p:sp>
        <p:nvSpPr>
          <p:cNvPr name="AutoShape 3" id="3"/>
          <p:cNvSpPr/>
          <p:nvPr/>
        </p:nvSpPr>
        <p:spPr>
          <a:xfrm rot="-5371800">
            <a:off x="14167199" y="7805985"/>
            <a:ext cx="2491607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10771800">
            <a:off x="12930273" y="6570431"/>
            <a:ext cx="2491607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5364311" y="8998982"/>
            <a:ext cx="96012" cy="96012"/>
            <a:chOff x="0" y="0"/>
            <a:chExt cx="128016" cy="1280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891840" y="6526501"/>
            <a:ext cx="96012" cy="96012"/>
            <a:chOff x="0" y="0"/>
            <a:chExt cx="128016" cy="1280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9" id="9"/>
          <p:cNvSpPr/>
          <p:nvPr/>
        </p:nvSpPr>
        <p:spPr>
          <a:xfrm rot="51060">
            <a:off x="5359156" y="7663634"/>
            <a:ext cx="1374848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5348940">
            <a:off x="6037659" y="8340776"/>
            <a:ext cx="1374848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5320751" y="7619705"/>
            <a:ext cx="96012" cy="96012"/>
            <a:chOff x="0" y="0"/>
            <a:chExt cx="128016" cy="1280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676387" y="8975350"/>
            <a:ext cx="96012" cy="96012"/>
            <a:chOff x="0" y="0"/>
            <a:chExt cx="128016" cy="1280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15" id="15"/>
          <p:cNvSpPr/>
          <p:nvPr/>
        </p:nvSpPr>
        <p:spPr>
          <a:xfrm rot="30660">
            <a:off x="15243296" y="8048339"/>
            <a:ext cx="2288181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rot="5368860">
            <a:off x="16395735" y="9164945"/>
            <a:ext cx="2253729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5204862" y="8004410"/>
            <a:ext cx="96012" cy="96012"/>
            <a:chOff x="0" y="0"/>
            <a:chExt cx="128016" cy="1280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7473908" y="10238994"/>
            <a:ext cx="96012" cy="96012"/>
            <a:chOff x="0" y="0"/>
            <a:chExt cx="128016" cy="12801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21" id="21"/>
          <p:cNvSpPr/>
          <p:nvPr/>
        </p:nvSpPr>
        <p:spPr>
          <a:xfrm rot="5360040">
            <a:off x="9918783" y="7252106"/>
            <a:ext cx="1758124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rot="10760040">
            <a:off x="9048626" y="8122272"/>
            <a:ext cx="1758124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10749153" y="6339392"/>
            <a:ext cx="96012" cy="96012"/>
            <a:chOff x="0" y="0"/>
            <a:chExt cx="128016" cy="12801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010202" y="8078343"/>
            <a:ext cx="96012" cy="96012"/>
            <a:chOff x="0" y="0"/>
            <a:chExt cx="128016" cy="12801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27" id="27"/>
          <p:cNvSpPr/>
          <p:nvPr/>
        </p:nvSpPr>
        <p:spPr>
          <a:xfrm rot="10765980">
            <a:off x="54131" y="4623044"/>
            <a:ext cx="2063667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rot="-5365980">
            <a:off x="-967445" y="3600098"/>
            <a:ext cx="2063667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2060219" y="4579115"/>
            <a:ext cx="96012" cy="96012"/>
            <a:chOff x="0" y="0"/>
            <a:chExt cx="128016" cy="1280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5697" y="2534593"/>
            <a:ext cx="96012" cy="96012"/>
            <a:chOff x="0" y="0"/>
            <a:chExt cx="128016" cy="12801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33" id="33"/>
          <p:cNvSpPr/>
          <p:nvPr/>
        </p:nvSpPr>
        <p:spPr>
          <a:xfrm rot="5363520">
            <a:off x="12607766" y="7148627"/>
            <a:ext cx="1924745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rot="10763520">
            <a:off x="11654285" y="8102108"/>
            <a:ext cx="1924745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5" id="35"/>
          <p:cNvGrpSpPr/>
          <p:nvPr/>
        </p:nvGrpSpPr>
        <p:grpSpPr>
          <a:xfrm rot="0">
            <a:off x="13521452" y="6152588"/>
            <a:ext cx="96012" cy="96012"/>
            <a:chOff x="0" y="0"/>
            <a:chExt cx="128016" cy="12801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1615861" y="8058179"/>
            <a:ext cx="96012" cy="96012"/>
            <a:chOff x="0" y="0"/>
            <a:chExt cx="128016" cy="12801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39" id="39"/>
          <p:cNvSpPr/>
          <p:nvPr/>
        </p:nvSpPr>
        <p:spPr>
          <a:xfrm rot="35460">
            <a:off x="14692027" y="4245750"/>
            <a:ext cx="1981391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 rot="5364540">
            <a:off x="15673835" y="5226187"/>
            <a:ext cx="1981391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1" id="41"/>
          <p:cNvGrpSpPr/>
          <p:nvPr/>
        </p:nvGrpSpPr>
        <p:grpSpPr>
          <a:xfrm rot="0">
            <a:off x="14653603" y="4201820"/>
            <a:ext cx="96012" cy="96012"/>
            <a:chOff x="0" y="0"/>
            <a:chExt cx="128016" cy="12801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6615839" y="6164056"/>
            <a:ext cx="96012" cy="96012"/>
            <a:chOff x="0" y="0"/>
            <a:chExt cx="128016" cy="12801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45" id="45"/>
          <p:cNvSpPr/>
          <p:nvPr/>
        </p:nvSpPr>
        <p:spPr>
          <a:xfrm rot="73620">
            <a:off x="11590896" y="2199723"/>
            <a:ext cx="953576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6" id="46"/>
          <p:cNvSpPr/>
          <p:nvPr/>
        </p:nvSpPr>
        <p:spPr>
          <a:xfrm rot="5326380">
            <a:off x="12058736" y="2666190"/>
            <a:ext cx="953576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7" id="47"/>
          <p:cNvGrpSpPr/>
          <p:nvPr/>
        </p:nvGrpSpPr>
        <p:grpSpPr>
          <a:xfrm rot="0">
            <a:off x="11552530" y="2155793"/>
            <a:ext cx="96012" cy="96012"/>
            <a:chOff x="0" y="0"/>
            <a:chExt cx="128016" cy="12801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2486837" y="3090100"/>
            <a:ext cx="96012" cy="96012"/>
            <a:chOff x="0" y="0"/>
            <a:chExt cx="128016" cy="12801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51" id="51"/>
          <p:cNvSpPr/>
          <p:nvPr/>
        </p:nvSpPr>
        <p:spPr>
          <a:xfrm rot="5349900">
            <a:off x="9662103" y="4177827"/>
            <a:ext cx="1401318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2" id="52"/>
          <p:cNvSpPr/>
          <p:nvPr/>
        </p:nvSpPr>
        <p:spPr>
          <a:xfrm rot="50100">
            <a:off x="10352475" y="4869571"/>
            <a:ext cx="1401318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3" id="53"/>
          <p:cNvGrpSpPr/>
          <p:nvPr/>
        </p:nvGrpSpPr>
        <p:grpSpPr>
          <a:xfrm rot="0">
            <a:off x="10314070" y="3443526"/>
            <a:ext cx="96012" cy="96012"/>
            <a:chOff x="0" y="0"/>
            <a:chExt cx="128016" cy="12801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1696186" y="4825641"/>
            <a:ext cx="96012" cy="96012"/>
            <a:chOff x="0" y="0"/>
            <a:chExt cx="128016" cy="12801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57" id="57"/>
          <p:cNvSpPr/>
          <p:nvPr/>
        </p:nvSpPr>
        <p:spPr>
          <a:xfrm rot="10765680">
            <a:off x="15047014" y="1250928"/>
            <a:ext cx="2044656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8" id="58"/>
          <p:cNvSpPr/>
          <p:nvPr/>
        </p:nvSpPr>
        <p:spPr>
          <a:xfrm rot="-5344920">
            <a:off x="14420164" y="622744"/>
            <a:ext cx="1274216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9" id="59"/>
          <p:cNvGrpSpPr/>
          <p:nvPr/>
        </p:nvGrpSpPr>
        <p:grpSpPr>
          <a:xfrm rot="0">
            <a:off x="17034081" y="1206998"/>
            <a:ext cx="96012" cy="96012"/>
            <a:chOff x="0" y="0"/>
            <a:chExt cx="128016" cy="12801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5008581" y="-48006"/>
            <a:ext cx="96012" cy="96012"/>
            <a:chOff x="0" y="0"/>
            <a:chExt cx="128016" cy="12801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63" id="63"/>
          <p:cNvSpPr/>
          <p:nvPr/>
        </p:nvSpPr>
        <p:spPr>
          <a:xfrm rot="10746000">
            <a:off x="-9601" y="9206160"/>
            <a:ext cx="1300544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4" id="64"/>
          <p:cNvSpPr/>
          <p:nvPr/>
        </p:nvSpPr>
        <p:spPr>
          <a:xfrm rot="-5356200">
            <a:off x="-801062" y="8413318"/>
            <a:ext cx="1603496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5" id="65"/>
          <p:cNvGrpSpPr/>
          <p:nvPr/>
        </p:nvGrpSpPr>
        <p:grpSpPr>
          <a:xfrm rot="0">
            <a:off x="1233326" y="9162231"/>
            <a:ext cx="96012" cy="96012"/>
            <a:chOff x="0" y="0"/>
            <a:chExt cx="128016" cy="1280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-48006" y="7577909"/>
            <a:ext cx="96012" cy="96012"/>
            <a:chOff x="0" y="0"/>
            <a:chExt cx="128016" cy="12801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69" id="69"/>
          <p:cNvSpPr/>
          <p:nvPr/>
        </p:nvSpPr>
        <p:spPr>
          <a:xfrm rot="10702200">
            <a:off x="4922444" y="10208133"/>
            <a:ext cx="717966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0" id="70"/>
          <p:cNvSpPr/>
          <p:nvPr/>
        </p:nvSpPr>
        <p:spPr>
          <a:xfrm rot="-5302200">
            <a:off x="4573819" y="9858137"/>
            <a:ext cx="717966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1" id="71"/>
          <p:cNvGrpSpPr/>
          <p:nvPr/>
        </p:nvGrpSpPr>
        <p:grpSpPr>
          <a:xfrm rot="0">
            <a:off x="5582736" y="10164204"/>
            <a:ext cx="96012" cy="96012"/>
            <a:chOff x="0" y="0"/>
            <a:chExt cx="128016" cy="12801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4884115" y="9465583"/>
            <a:ext cx="96012" cy="96012"/>
            <a:chOff x="0" y="0"/>
            <a:chExt cx="128016" cy="12801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75" id="75"/>
          <p:cNvSpPr/>
          <p:nvPr/>
        </p:nvSpPr>
        <p:spPr>
          <a:xfrm rot="-5363940">
            <a:off x="16965349" y="6720802"/>
            <a:ext cx="1947910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6" id="76"/>
          <p:cNvSpPr/>
          <p:nvPr/>
        </p:nvSpPr>
        <p:spPr>
          <a:xfrm rot="190560">
            <a:off x="17928803" y="5757110"/>
            <a:ext cx="368541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7" id="77"/>
          <p:cNvGrpSpPr/>
          <p:nvPr/>
        </p:nvGrpSpPr>
        <p:grpSpPr>
          <a:xfrm rot="0">
            <a:off x="17890607" y="7641936"/>
            <a:ext cx="96012" cy="96012"/>
            <a:chOff x="0" y="0"/>
            <a:chExt cx="128016" cy="12801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8239537" y="5713181"/>
            <a:ext cx="96012" cy="96012"/>
            <a:chOff x="0" y="0"/>
            <a:chExt cx="128016" cy="12801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81" id="81"/>
          <p:cNvSpPr/>
          <p:nvPr/>
        </p:nvSpPr>
        <p:spPr>
          <a:xfrm rot="5366460">
            <a:off x="6679673" y="6104801"/>
            <a:ext cx="2093452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2" id="82"/>
          <p:cNvSpPr/>
          <p:nvPr/>
        </p:nvSpPr>
        <p:spPr>
          <a:xfrm rot="33540">
            <a:off x="7716145" y="7142645"/>
            <a:ext cx="2093452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3" id="83"/>
          <p:cNvGrpSpPr/>
          <p:nvPr/>
        </p:nvGrpSpPr>
        <p:grpSpPr>
          <a:xfrm rot="0">
            <a:off x="7677712" y="5024409"/>
            <a:ext cx="96012" cy="96012"/>
            <a:chOff x="0" y="0"/>
            <a:chExt cx="128016" cy="12801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9752019" y="7098716"/>
            <a:ext cx="96012" cy="96012"/>
            <a:chOff x="0" y="0"/>
            <a:chExt cx="128016" cy="12801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87" id="87"/>
          <p:cNvSpPr/>
          <p:nvPr/>
        </p:nvSpPr>
        <p:spPr>
          <a:xfrm rot="-5360880">
            <a:off x="16766410" y="4896202"/>
            <a:ext cx="1794520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8" id="88"/>
          <p:cNvSpPr/>
          <p:nvPr/>
        </p:nvSpPr>
        <p:spPr>
          <a:xfrm rot="109020">
            <a:off x="17653302" y="4009215"/>
            <a:ext cx="643928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9" id="89"/>
          <p:cNvGrpSpPr/>
          <p:nvPr/>
        </p:nvGrpSpPr>
        <p:grpSpPr>
          <a:xfrm rot="0">
            <a:off x="17614983" y="5740632"/>
            <a:ext cx="96012" cy="96012"/>
            <a:chOff x="0" y="0"/>
            <a:chExt cx="128016" cy="12801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8239537" y="3965286"/>
            <a:ext cx="96012" cy="96012"/>
            <a:chOff x="0" y="0"/>
            <a:chExt cx="128016" cy="12801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2998470" y="3478530"/>
            <a:ext cx="9090660" cy="2644140"/>
            <a:chOff x="0" y="0"/>
            <a:chExt cx="12120880" cy="352552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2120880" cy="3525520"/>
            </a:xfrm>
            <a:custGeom>
              <a:avLst/>
              <a:gdLst/>
              <a:ahLst/>
              <a:cxnLst/>
              <a:rect r="r" b="b" t="t" l="l"/>
              <a:pathLst>
                <a:path h="3525520" w="12120880">
                  <a:moveTo>
                    <a:pt x="0" y="222631"/>
                  </a:moveTo>
                  <a:cubicBezTo>
                    <a:pt x="0" y="99695"/>
                    <a:pt x="99695" y="0"/>
                    <a:pt x="222631" y="0"/>
                  </a:cubicBezTo>
                  <a:lnTo>
                    <a:pt x="11898249" y="0"/>
                  </a:lnTo>
                  <a:cubicBezTo>
                    <a:pt x="12021185" y="0"/>
                    <a:pt x="12120880" y="99695"/>
                    <a:pt x="12120880" y="222631"/>
                  </a:cubicBezTo>
                  <a:lnTo>
                    <a:pt x="12120880" y="3302889"/>
                  </a:lnTo>
                  <a:cubicBezTo>
                    <a:pt x="12120880" y="3425825"/>
                    <a:pt x="12021185" y="3525520"/>
                    <a:pt x="11898249" y="3525520"/>
                  </a:cubicBezTo>
                  <a:lnTo>
                    <a:pt x="222631" y="3525520"/>
                  </a:lnTo>
                  <a:cubicBezTo>
                    <a:pt x="99695" y="3525520"/>
                    <a:pt x="0" y="3425825"/>
                    <a:pt x="0" y="3302889"/>
                  </a:cubicBezTo>
                  <a:close/>
                </a:path>
              </a:pathLst>
            </a:custGeom>
            <a:solidFill>
              <a:srgbClr val="00202F"/>
            </a:solidFill>
            <a:ln w="38100" cap="sq">
              <a:solidFill>
                <a:srgbClr val="F2A73D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2839212" y="3957066"/>
            <a:ext cx="178308" cy="123444"/>
            <a:chOff x="0" y="0"/>
            <a:chExt cx="237744" cy="16459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37744" cy="164592"/>
            </a:xfrm>
            <a:custGeom>
              <a:avLst/>
              <a:gdLst/>
              <a:ahLst/>
              <a:cxnLst/>
              <a:rect r="r" b="b" t="t" l="l"/>
              <a:pathLst>
                <a:path h="164592" w="237744">
                  <a:moveTo>
                    <a:pt x="0" y="0"/>
                  </a:moveTo>
                  <a:lnTo>
                    <a:pt x="237744" y="0"/>
                  </a:lnTo>
                  <a:lnTo>
                    <a:pt x="237744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2839212" y="4478274"/>
            <a:ext cx="178308" cy="123444"/>
            <a:chOff x="0" y="0"/>
            <a:chExt cx="237744" cy="164592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37744" cy="164592"/>
            </a:xfrm>
            <a:custGeom>
              <a:avLst/>
              <a:gdLst/>
              <a:ahLst/>
              <a:cxnLst/>
              <a:rect r="r" b="b" t="t" l="l"/>
              <a:pathLst>
                <a:path h="164592" w="237744">
                  <a:moveTo>
                    <a:pt x="0" y="0"/>
                  </a:moveTo>
                  <a:lnTo>
                    <a:pt x="237744" y="0"/>
                  </a:lnTo>
                  <a:lnTo>
                    <a:pt x="237744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2839212" y="4999482"/>
            <a:ext cx="178308" cy="123444"/>
            <a:chOff x="0" y="0"/>
            <a:chExt cx="237744" cy="16459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37744" cy="164592"/>
            </a:xfrm>
            <a:custGeom>
              <a:avLst/>
              <a:gdLst/>
              <a:ahLst/>
              <a:cxnLst/>
              <a:rect r="r" b="b" t="t" l="l"/>
              <a:pathLst>
                <a:path h="164592" w="237744">
                  <a:moveTo>
                    <a:pt x="0" y="0"/>
                  </a:moveTo>
                  <a:lnTo>
                    <a:pt x="237744" y="0"/>
                  </a:lnTo>
                  <a:lnTo>
                    <a:pt x="237744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2839212" y="5520690"/>
            <a:ext cx="178308" cy="123444"/>
            <a:chOff x="0" y="0"/>
            <a:chExt cx="237744" cy="16459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37744" cy="164592"/>
            </a:xfrm>
            <a:custGeom>
              <a:avLst/>
              <a:gdLst/>
              <a:ahLst/>
              <a:cxnLst/>
              <a:rect r="r" b="b" t="t" l="l"/>
              <a:pathLst>
                <a:path h="164592" w="237744">
                  <a:moveTo>
                    <a:pt x="0" y="0"/>
                  </a:moveTo>
                  <a:lnTo>
                    <a:pt x="237744" y="0"/>
                  </a:lnTo>
                  <a:lnTo>
                    <a:pt x="237744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2070080" y="3957066"/>
            <a:ext cx="178308" cy="123444"/>
            <a:chOff x="0" y="0"/>
            <a:chExt cx="237744" cy="164592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37744" cy="164592"/>
            </a:xfrm>
            <a:custGeom>
              <a:avLst/>
              <a:gdLst/>
              <a:ahLst/>
              <a:cxnLst/>
              <a:rect r="r" b="b" t="t" l="l"/>
              <a:pathLst>
                <a:path h="164592" w="237744">
                  <a:moveTo>
                    <a:pt x="0" y="0"/>
                  </a:moveTo>
                  <a:lnTo>
                    <a:pt x="237744" y="0"/>
                  </a:lnTo>
                  <a:lnTo>
                    <a:pt x="237744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2070080" y="4478274"/>
            <a:ext cx="178308" cy="123444"/>
            <a:chOff x="0" y="0"/>
            <a:chExt cx="237744" cy="164592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37744" cy="164592"/>
            </a:xfrm>
            <a:custGeom>
              <a:avLst/>
              <a:gdLst/>
              <a:ahLst/>
              <a:cxnLst/>
              <a:rect r="r" b="b" t="t" l="l"/>
              <a:pathLst>
                <a:path h="164592" w="237744">
                  <a:moveTo>
                    <a:pt x="0" y="0"/>
                  </a:moveTo>
                  <a:lnTo>
                    <a:pt x="237744" y="0"/>
                  </a:lnTo>
                  <a:lnTo>
                    <a:pt x="237744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2070080" y="4999482"/>
            <a:ext cx="178308" cy="123444"/>
            <a:chOff x="0" y="0"/>
            <a:chExt cx="237744" cy="16459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37744" cy="164592"/>
            </a:xfrm>
            <a:custGeom>
              <a:avLst/>
              <a:gdLst/>
              <a:ahLst/>
              <a:cxnLst/>
              <a:rect r="r" b="b" t="t" l="l"/>
              <a:pathLst>
                <a:path h="164592" w="237744">
                  <a:moveTo>
                    <a:pt x="0" y="0"/>
                  </a:moveTo>
                  <a:lnTo>
                    <a:pt x="237744" y="0"/>
                  </a:lnTo>
                  <a:lnTo>
                    <a:pt x="237744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2070080" y="5520690"/>
            <a:ext cx="178308" cy="123444"/>
            <a:chOff x="0" y="0"/>
            <a:chExt cx="237744" cy="164592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37744" cy="164592"/>
            </a:xfrm>
            <a:custGeom>
              <a:avLst/>
              <a:gdLst/>
              <a:ahLst/>
              <a:cxnLst/>
              <a:rect r="r" b="b" t="t" l="l"/>
              <a:pathLst>
                <a:path h="164592" w="237744">
                  <a:moveTo>
                    <a:pt x="0" y="0"/>
                  </a:moveTo>
                  <a:lnTo>
                    <a:pt x="237744" y="0"/>
                  </a:lnTo>
                  <a:lnTo>
                    <a:pt x="237744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3017520" y="3497580"/>
            <a:ext cx="9052560" cy="1371600"/>
            <a:chOff x="0" y="0"/>
            <a:chExt cx="12070080" cy="182880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20700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8601" r="0" b="-78601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9525"/>
              <a:ext cx="1207008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b="true" sz="510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ANY QUESTIONS?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3017520" y="4869180"/>
            <a:ext cx="9052560" cy="960120"/>
            <a:chOff x="0" y="0"/>
            <a:chExt cx="12070080" cy="128016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20700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3716" r="0" b="-133716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38100"/>
              <a:ext cx="1207008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F2A73D"/>
                  </a:solidFill>
                  <a:latin typeface="Consolas"/>
                  <a:ea typeface="Consolas"/>
                  <a:cs typeface="Consolas"/>
                  <a:sym typeface="Consolas"/>
                </a:rPr>
                <a:t>system.query( )  awaiting input...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3477494" y="6070854"/>
            <a:ext cx="4111752" cy="4111752"/>
            <a:chOff x="0" y="0"/>
            <a:chExt cx="5482336" cy="5482336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5482336" cy="5482336"/>
            </a:xfrm>
            <a:custGeom>
              <a:avLst/>
              <a:gdLst/>
              <a:ahLst/>
              <a:cxnLst/>
              <a:rect r="r" b="b" t="t" l="l"/>
              <a:pathLst>
                <a:path h="5482336" w="5482336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5334635" y="0"/>
                  </a:lnTo>
                  <a:cubicBezTo>
                    <a:pt x="5416169" y="0"/>
                    <a:pt x="5482336" y="66167"/>
                    <a:pt x="5482336" y="147701"/>
                  </a:cubicBezTo>
                  <a:lnTo>
                    <a:pt x="5482336" y="5334635"/>
                  </a:lnTo>
                  <a:cubicBezTo>
                    <a:pt x="5482336" y="5416169"/>
                    <a:pt x="5416169" y="5482336"/>
                    <a:pt x="5334635" y="5482336"/>
                  </a:cubicBezTo>
                  <a:lnTo>
                    <a:pt x="147701" y="5482336"/>
                  </a:lnTo>
                  <a:cubicBezTo>
                    <a:pt x="66167" y="5482336"/>
                    <a:pt x="0" y="5416169"/>
                    <a:pt x="0" y="5334635"/>
                  </a:cubicBezTo>
                  <a:close/>
                </a:path>
              </a:pathLst>
            </a:custGeom>
            <a:solidFill>
              <a:srgbClr val="00202F"/>
            </a:solidFill>
            <a:ln w="38100" cap="sq">
              <a:solidFill>
                <a:srgbClr val="F2A73D"/>
              </a:solidFill>
              <a:prstDash val="solid"/>
              <a:miter/>
            </a:ln>
          </p:spPr>
        </p:sp>
      </p:grpSp>
      <p:grpSp>
        <p:nvGrpSpPr>
          <p:cNvPr name="Group 119" id="119"/>
          <p:cNvGrpSpPr/>
          <p:nvPr/>
        </p:nvGrpSpPr>
        <p:grpSpPr>
          <a:xfrm rot="0">
            <a:off x="13578840" y="6172200"/>
            <a:ext cx="3909060" cy="3909060"/>
            <a:chOff x="0" y="0"/>
            <a:chExt cx="5212080" cy="5212080"/>
          </a:xfrm>
        </p:grpSpPr>
        <p:sp>
          <p:nvSpPr>
            <p:cNvPr name="Freeform 120" id="120" descr="/home/claude/work/imgs/chrome_fallen.png"/>
            <p:cNvSpPr/>
            <p:nvPr/>
          </p:nvSpPr>
          <p:spPr>
            <a:xfrm flipH="false" flipV="false" rot="0">
              <a:off x="0" y="0"/>
              <a:ext cx="5212080" cy="5212080"/>
            </a:xfrm>
            <a:custGeom>
              <a:avLst/>
              <a:gdLst/>
              <a:ahLst/>
              <a:cxnLst/>
              <a:rect r="r" b="b" t="t" l="l"/>
              <a:pathLst>
                <a:path h="521208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5212080"/>
                  </a:lnTo>
                  <a:lnTo>
                    <a:pt x="0" y="5212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891540" y="9258300"/>
            <a:ext cx="12070080" cy="548640"/>
            <a:chOff x="0" y="0"/>
            <a:chExt cx="16093440" cy="73152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6093439" cy="731520"/>
            </a:xfrm>
            <a:custGeom>
              <a:avLst/>
              <a:gdLst/>
              <a:ahLst/>
              <a:cxnLst/>
              <a:rect r="r" b="b" t="t" l="l"/>
              <a:pathLst>
                <a:path h="731520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28575"/>
              <a:ext cx="1609344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00649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( don't be like Chrome — ask before you fall behind )</a:t>
              </a:r>
            </a:p>
          </p:txBody>
        </p:sp>
      </p:grpSp>
      <p:sp>
        <p:nvSpPr>
          <p:cNvPr name="AutoShape 124" id="124"/>
          <p:cNvSpPr/>
          <p:nvPr/>
        </p:nvSpPr>
        <p:spPr>
          <a:xfrm rot="2880">
            <a:off x="678656" y="9706166"/>
            <a:ext cx="16930240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5" id="125"/>
          <p:cNvGrpSpPr/>
          <p:nvPr/>
        </p:nvGrpSpPr>
        <p:grpSpPr>
          <a:xfrm rot="0">
            <a:off x="14721383" y="9765792"/>
            <a:ext cx="2880360" cy="411480"/>
            <a:chOff x="0" y="0"/>
            <a:chExt cx="3840480" cy="54864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3840480" cy="548640"/>
            </a:xfrm>
            <a:custGeom>
              <a:avLst/>
              <a:gdLst/>
              <a:ahLst/>
              <a:cxnLst/>
              <a:rect r="r" b="b" t="t" l="l"/>
              <a:pathLst>
                <a:path h="54864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28575"/>
              <a:ext cx="38404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F2A73D"/>
                  </a:solidFill>
                  <a:latin typeface="Consolas"/>
                  <a:ea typeface="Consolas"/>
                  <a:cs typeface="Consolas"/>
                  <a:sym typeface="Consolas"/>
                </a:rPr>
                <a:t>Q &amp; A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6369589" y="-127786"/>
            <a:ext cx="1779422" cy="1779422"/>
            <a:chOff x="0" y="0"/>
            <a:chExt cx="2372563" cy="2372563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2372614" cy="2372614"/>
            </a:xfrm>
            <a:custGeom>
              <a:avLst/>
              <a:gdLst/>
              <a:ahLst/>
              <a:cxnLst/>
              <a:rect r="r" b="b" t="t" l="l"/>
              <a:pathLst>
                <a:path h="2372614" w="2372614">
                  <a:moveTo>
                    <a:pt x="0" y="0"/>
                  </a:moveTo>
                  <a:lnTo>
                    <a:pt x="2372614" y="0"/>
                  </a:lnTo>
                  <a:lnTo>
                    <a:pt x="2372614" y="2372614"/>
                  </a:lnTo>
                  <a:lnTo>
                    <a:pt x="0" y="2372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2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97247" y="718004"/>
            <a:ext cx="96012" cy="96012"/>
            <a:chOff x="0" y="0"/>
            <a:chExt cx="128016" cy="1280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4" id="4"/>
          <p:cNvSpPr/>
          <p:nvPr/>
        </p:nvSpPr>
        <p:spPr>
          <a:xfrm rot="-5360220">
            <a:off x="14203785" y="7543581"/>
            <a:ext cx="1765421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39780">
            <a:off x="15076227" y="6671139"/>
            <a:ext cx="1765421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5037803" y="8373456"/>
            <a:ext cx="96012" cy="96012"/>
            <a:chOff x="0" y="0"/>
            <a:chExt cx="128016" cy="1280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784060" y="6627209"/>
            <a:ext cx="96012" cy="96012"/>
            <a:chOff x="0" y="0"/>
            <a:chExt cx="128016" cy="1280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10" id="10"/>
          <p:cNvSpPr/>
          <p:nvPr/>
        </p:nvSpPr>
        <p:spPr>
          <a:xfrm rot="-5361840">
            <a:off x="12787694" y="904894"/>
            <a:ext cx="1838477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30480">
            <a:off x="13696683" y="-4077"/>
            <a:ext cx="2305069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3658240" y="1771317"/>
            <a:ext cx="96012" cy="96012"/>
            <a:chOff x="0" y="0"/>
            <a:chExt cx="128016" cy="1280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944174" y="-48006"/>
            <a:ext cx="96012" cy="96012"/>
            <a:chOff x="0" y="0"/>
            <a:chExt cx="128016" cy="1280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16" id="16"/>
          <p:cNvSpPr/>
          <p:nvPr/>
        </p:nvSpPr>
        <p:spPr>
          <a:xfrm rot="5347380">
            <a:off x="3363497" y="7204310"/>
            <a:ext cx="1333510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rot="10747380">
            <a:off x="2705662" y="7862145"/>
            <a:ext cx="1333510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3981555" y="6503918"/>
            <a:ext cx="96012" cy="96012"/>
            <a:chOff x="0" y="0"/>
            <a:chExt cx="128016" cy="1280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667257" y="7818215"/>
            <a:ext cx="96012" cy="96012"/>
            <a:chOff x="0" y="0"/>
            <a:chExt cx="128016" cy="1280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999439" y="4034580"/>
            <a:ext cx="96012" cy="96012"/>
            <a:chOff x="0" y="0"/>
            <a:chExt cx="128016" cy="1280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24" id="24"/>
          <p:cNvSpPr/>
          <p:nvPr/>
        </p:nvSpPr>
        <p:spPr>
          <a:xfrm rot="-5344140">
            <a:off x="1827848" y="1391641"/>
            <a:ext cx="1257157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rot="55860">
            <a:off x="2446134" y="773354"/>
            <a:ext cx="1257157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2407739" y="1967370"/>
            <a:ext cx="96012" cy="96012"/>
            <a:chOff x="0" y="0"/>
            <a:chExt cx="128016" cy="12801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3645684" y="729424"/>
            <a:ext cx="96012" cy="96012"/>
            <a:chOff x="0" y="0"/>
            <a:chExt cx="128016" cy="12801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30" id="30"/>
          <p:cNvSpPr/>
          <p:nvPr/>
        </p:nvSpPr>
        <p:spPr>
          <a:xfrm rot="78300">
            <a:off x="4258866" y="1665751"/>
            <a:ext cx="896388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rot="-5321700">
            <a:off x="4698101" y="1226515"/>
            <a:ext cx="896388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4220499" y="1621822"/>
            <a:ext cx="96012" cy="96012"/>
            <a:chOff x="0" y="0"/>
            <a:chExt cx="128016" cy="1280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097609" y="744712"/>
            <a:ext cx="96012" cy="96012"/>
            <a:chOff x="0" y="0"/>
            <a:chExt cx="128016" cy="12801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36" id="36"/>
          <p:cNvSpPr/>
          <p:nvPr/>
        </p:nvSpPr>
        <p:spPr>
          <a:xfrm rot="10764360">
            <a:off x="6009056" y="1350102"/>
            <a:ext cx="1969332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 rot="5364360">
            <a:off x="5034658" y="2324510"/>
            <a:ext cx="1969332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8" id="38"/>
          <p:cNvGrpSpPr/>
          <p:nvPr/>
        </p:nvGrpSpPr>
        <p:grpSpPr>
          <a:xfrm rot="0">
            <a:off x="7920809" y="1306173"/>
            <a:ext cx="96012" cy="96012"/>
            <a:chOff x="0" y="0"/>
            <a:chExt cx="128016" cy="12801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970632" y="3256359"/>
            <a:ext cx="96012" cy="96012"/>
            <a:chOff x="0" y="0"/>
            <a:chExt cx="128016" cy="12801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835947" y="3550234"/>
            <a:ext cx="96012" cy="96012"/>
            <a:chOff x="0" y="0"/>
            <a:chExt cx="128016" cy="12801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44" id="44"/>
          <p:cNvSpPr/>
          <p:nvPr/>
        </p:nvSpPr>
        <p:spPr>
          <a:xfrm rot="5367240">
            <a:off x="13791190" y="8351749"/>
            <a:ext cx="2141896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5" id="45"/>
          <p:cNvSpPr/>
          <p:nvPr/>
        </p:nvSpPr>
        <p:spPr>
          <a:xfrm rot="10767240">
            <a:off x="12729134" y="9413805"/>
            <a:ext cx="2141896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6" id="46"/>
          <p:cNvGrpSpPr/>
          <p:nvPr/>
        </p:nvGrpSpPr>
        <p:grpSpPr>
          <a:xfrm rot="0">
            <a:off x="14813442" y="7247134"/>
            <a:ext cx="96012" cy="96012"/>
            <a:chOff x="0" y="0"/>
            <a:chExt cx="128016" cy="12801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2690700" y="9369876"/>
            <a:ext cx="96012" cy="96012"/>
            <a:chOff x="0" y="0"/>
            <a:chExt cx="128016" cy="1280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50" id="50"/>
          <p:cNvSpPr/>
          <p:nvPr/>
        </p:nvSpPr>
        <p:spPr>
          <a:xfrm rot="10772160">
            <a:off x="9445962" y="10118665"/>
            <a:ext cx="2521534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1" id="51"/>
          <p:cNvSpPr/>
          <p:nvPr/>
        </p:nvSpPr>
        <p:spPr>
          <a:xfrm rot="5018580">
            <a:off x="9363989" y="10200103"/>
            <a:ext cx="184442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2" id="52"/>
          <p:cNvGrpSpPr/>
          <p:nvPr/>
        </p:nvGrpSpPr>
        <p:grpSpPr>
          <a:xfrm rot="0">
            <a:off x="11909917" y="10074735"/>
            <a:ext cx="96012" cy="96012"/>
            <a:chOff x="0" y="0"/>
            <a:chExt cx="128016" cy="12801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407519" y="10238994"/>
            <a:ext cx="96012" cy="96012"/>
            <a:chOff x="0" y="0"/>
            <a:chExt cx="128016" cy="12801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56" id="56"/>
          <p:cNvSpPr/>
          <p:nvPr/>
        </p:nvSpPr>
        <p:spPr>
          <a:xfrm rot="50520">
            <a:off x="747674" y="3707016"/>
            <a:ext cx="1389945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7" id="57"/>
          <p:cNvSpPr/>
          <p:nvPr/>
        </p:nvSpPr>
        <p:spPr>
          <a:xfrm rot="5349480">
            <a:off x="1433741" y="4391701"/>
            <a:ext cx="1389945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8" id="58"/>
          <p:cNvGrpSpPr/>
          <p:nvPr/>
        </p:nvGrpSpPr>
        <p:grpSpPr>
          <a:xfrm rot="0">
            <a:off x="709270" y="3663086"/>
            <a:ext cx="96012" cy="96012"/>
            <a:chOff x="0" y="0"/>
            <a:chExt cx="128016" cy="12801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2080022" y="5033829"/>
            <a:ext cx="96012" cy="96012"/>
            <a:chOff x="0" y="0"/>
            <a:chExt cx="128016" cy="12801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sp>
        <p:nvSpPr>
          <p:cNvPr name="AutoShape 62" id="62"/>
          <p:cNvSpPr/>
          <p:nvPr/>
        </p:nvSpPr>
        <p:spPr>
          <a:xfrm rot="53700">
            <a:off x="5633285" y="3060240"/>
            <a:ext cx="1307335" cy="0"/>
          </a:xfrm>
          <a:prstGeom prst="line">
            <a:avLst/>
          </a:prstGeom>
          <a:ln cap="rnd" w="9525">
            <a:solidFill>
              <a:srgbClr val="003E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3" id="63"/>
          <p:cNvGrpSpPr/>
          <p:nvPr/>
        </p:nvGrpSpPr>
        <p:grpSpPr>
          <a:xfrm rot="0">
            <a:off x="6883013" y="3016310"/>
            <a:ext cx="96012" cy="96012"/>
            <a:chOff x="0" y="0"/>
            <a:chExt cx="128016" cy="12801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28016" cy="128016"/>
            </a:xfrm>
            <a:custGeom>
              <a:avLst/>
              <a:gdLst/>
              <a:ahLst/>
              <a:cxnLst/>
              <a:rect r="r" b="b" t="t" l="l"/>
              <a:pathLst>
                <a:path h="128016" w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003E6B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4186961" y="2724150"/>
            <a:ext cx="9913620" cy="2095500"/>
            <a:chOff x="0" y="0"/>
            <a:chExt cx="13218160" cy="27940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3218161" cy="2794000"/>
            </a:xfrm>
            <a:custGeom>
              <a:avLst/>
              <a:gdLst/>
              <a:ahLst/>
              <a:cxnLst/>
              <a:rect r="r" b="b" t="t" l="l"/>
              <a:pathLst>
                <a:path h="2794000" w="13218161">
                  <a:moveTo>
                    <a:pt x="0" y="223520"/>
                  </a:moveTo>
                  <a:cubicBezTo>
                    <a:pt x="0" y="100076"/>
                    <a:pt x="100076" y="0"/>
                    <a:pt x="223520" y="0"/>
                  </a:cubicBezTo>
                  <a:lnTo>
                    <a:pt x="12994640" y="0"/>
                  </a:lnTo>
                  <a:cubicBezTo>
                    <a:pt x="13118085" y="0"/>
                    <a:pt x="13218161" y="100076"/>
                    <a:pt x="13218161" y="223520"/>
                  </a:cubicBezTo>
                  <a:lnTo>
                    <a:pt x="13218161" y="2570480"/>
                  </a:lnTo>
                  <a:cubicBezTo>
                    <a:pt x="13218161" y="2693924"/>
                    <a:pt x="13118085" y="2794000"/>
                    <a:pt x="12994640" y="2794000"/>
                  </a:cubicBezTo>
                  <a:lnTo>
                    <a:pt x="223520" y="2794000"/>
                  </a:lnTo>
                  <a:cubicBezTo>
                    <a:pt x="100076" y="2794000"/>
                    <a:pt x="0" y="2693924"/>
                    <a:pt x="0" y="2570480"/>
                  </a:cubicBezTo>
                  <a:close/>
                </a:path>
              </a:pathLst>
            </a:custGeom>
            <a:solidFill>
              <a:srgbClr val="00202F"/>
            </a:solidFill>
            <a:ln w="38100" cap="sq">
              <a:solidFill>
                <a:srgbClr val="F2A73D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5790209" y="2564892"/>
            <a:ext cx="123444" cy="178308"/>
            <a:chOff x="0" y="0"/>
            <a:chExt cx="164592" cy="23774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64592" cy="237744"/>
            </a:xfrm>
            <a:custGeom>
              <a:avLst/>
              <a:gdLst/>
              <a:ahLst/>
              <a:cxnLst/>
              <a:rect r="r" b="b" t="t" l="l"/>
              <a:pathLst>
                <a:path h="237744" w="164592">
                  <a:moveTo>
                    <a:pt x="0" y="0"/>
                  </a:moveTo>
                  <a:lnTo>
                    <a:pt x="164592" y="0"/>
                  </a:lnTo>
                  <a:lnTo>
                    <a:pt x="164592" y="237744"/>
                  </a:lnTo>
                  <a:lnTo>
                    <a:pt x="0" y="237744"/>
                  </a:ln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7436129" y="2564892"/>
            <a:ext cx="123444" cy="178308"/>
            <a:chOff x="0" y="0"/>
            <a:chExt cx="164592" cy="23774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64592" cy="237744"/>
            </a:xfrm>
            <a:custGeom>
              <a:avLst/>
              <a:gdLst/>
              <a:ahLst/>
              <a:cxnLst/>
              <a:rect r="r" b="b" t="t" l="l"/>
              <a:pathLst>
                <a:path h="237744" w="164592">
                  <a:moveTo>
                    <a:pt x="0" y="0"/>
                  </a:moveTo>
                  <a:lnTo>
                    <a:pt x="164592" y="0"/>
                  </a:lnTo>
                  <a:lnTo>
                    <a:pt x="164592" y="237744"/>
                  </a:lnTo>
                  <a:lnTo>
                    <a:pt x="0" y="237744"/>
                  </a:ln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082049" y="2564892"/>
            <a:ext cx="123444" cy="178308"/>
            <a:chOff x="0" y="0"/>
            <a:chExt cx="164592" cy="23774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64592" cy="237744"/>
            </a:xfrm>
            <a:custGeom>
              <a:avLst/>
              <a:gdLst/>
              <a:ahLst/>
              <a:cxnLst/>
              <a:rect r="r" b="b" t="t" l="l"/>
              <a:pathLst>
                <a:path h="237744" w="164592">
                  <a:moveTo>
                    <a:pt x="0" y="0"/>
                  </a:moveTo>
                  <a:lnTo>
                    <a:pt x="164592" y="0"/>
                  </a:lnTo>
                  <a:lnTo>
                    <a:pt x="164592" y="237744"/>
                  </a:lnTo>
                  <a:lnTo>
                    <a:pt x="0" y="237744"/>
                  </a:ln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0727969" y="2564892"/>
            <a:ext cx="123444" cy="178308"/>
            <a:chOff x="0" y="0"/>
            <a:chExt cx="164592" cy="23774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64592" cy="237744"/>
            </a:xfrm>
            <a:custGeom>
              <a:avLst/>
              <a:gdLst/>
              <a:ahLst/>
              <a:cxnLst/>
              <a:rect r="r" b="b" t="t" l="l"/>
              <a:pathLst>
                <a:path h="237744" w="164592">
                  <a:moveTo>
                    <a:pt x="0" y="0"/>
                  </a:moveTo>
                  <a:lnTo>
                    <a:pt x="164592" y="0"/>
                  </a:lnTo>
                  <a:lnTo>
                    <a:pt x="164592" y="237744"/>
                  </a:lnTo>
                  <a:lnTo>
                    <a:pt x="0" y="237744"/>
                  </a:ln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2373889" y="2564892"/>
            <a:ext cx="123444" cy="178308"/>
            <a:chOff x="0" y="0"/>
            <a:chExt cx="164592" cy="23774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64592" cy="237744"/>
            </a:xfrm>
            <a:custGeom>
              <a:avLst/>
              <a:gdLst/>
              <a:ahLst/>
              <a:cxnLst/>
              <a:rect r="r" b="b" t="t" l="l"/>
              <a:pathLst>
                <a:path h="237744" w="164592">
                  <a:moveTo>
                    <a:pt x="0" y="0"/>
                  </a:moveTo>
                  <a:lnTo>
                    <a:pt x="164592" y="0"/>
                  </a:lnTo>
                  <a:lnTo>
                    <a:pt x="164592" y="237744"/>
                  </a:lnTo>
                  <a:lnTo>
                    <a:pt x="0" y="237744"/>
                  </a:ln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5790209" y="4800600"/>
            <a:ext cx="123444" cy="178308"/>
            <a:chOff x="0" y="0"/>
            <a:chExt cx="164592" cy="23774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64592" cy="237744"/>
            </a:xfrm>
            <a:custGeom>
              <a:avLst/>
              <a:gdLst/>
              <a:ahLst/>
              <a:cxnLst/>
              <a:rect r="r" b="b" t="t" l="l"/>
              <a:pathLst>
                <a:path h="237744" w="164592">
                  <a:moveTo>
                    <a:pt x="0" y="0"/>
                  </a:moveTo>
                  <a:lnTo>
                    <a:pt x="164592" y="0"/>
                  </a:lnTo>
                  <a:lnTo>
                    <a:pt x="164592" y="237744"/>
                  </a:lnTo>
                  <a:lnTo>
                    <a:pt x="0" y="237744"/>
                  </a:ln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7436129" y="4800600"/>
            <a:ext cx="123444" cy="178308"/>
            <a:chOff x="0" y="0"/>
            <a:chExt cx="164592" cy="23774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64592" cy="237744"/>
            </a:xfrm>
            <a:custGeom>
              <a:avLst/>
              <a:gdLst/>
              <a:ahLst/>
              <a:cxnLst/>
              <a:rect r="r" b="b" t="t" l="l"/>
              <a:pathLst>
                <a:path h="237744" w="164592">
                  <a:moveTo>
                    <a:pt x="0" y="0"/>
                  </a:moveTo>
                  <a:lnTo>
                    <a:pt x="164592" y="0"/>
                  </a:lnTo>
                  <a:lnTo>
                    <a:pt x="164592" y="237744"/>
                  </a:lnTo>
                  <a:lnTo>
                    <a:pt x="0" y="237744"/>
                  </a:ln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9082049" y="4800600"/>
            <a:ext cx="123444" cy="178308"/>
            <a:chOff x="0" y="0"/>
            <a:chExt cx="164592" cy="237744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64592" cy="237744"/>
            </a:xfrm>
            <a:custGeom>
              <a:avLst/>
              <a:gdLst/>
              <a:ahLst/>
              <a:cxnLst/>
              <a:rect r="r" b="b" t="t" l="l"/>
              <a:pathLst>
                <a:path h="237744" w="164592">
                  <a:moveTo>
                    <a:pt x="0" y="0"/>
                  </a:moveTo>
                  <a:lnTo>
                    <a:pt x="164592" y="0"/>
                  </a:lnTo>
                  <a:lnTo>
                    <a:pt x="164592" y="237744"/>
                  </a:lnTo>
                  <a:lnTo>
                    <a:pt x="0" y="237744"/>
                  </a:ln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0727969" y="4800600"/>
            <a:ext cx="123444" cy="178308"/>
            <a:chOff x="0" y="0"/>
            <a:chExt cx="164592" cy="23774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64592" cy="237744"/>
            </a:xfrm>
            <a:custGeom>
              <a:avLst/>
              <a:gdLst/>
              <a:ahLst/>
              <a:cxnLst/>
              <a:rect r="r" b="b" t="t" l="l"/>
              <a:pathLst>
                <a:path h="237744" w="164592">
                  <a:moveTo>
                    <a:pt x="0" y="0"/>
                  </a:moveTo>
                  <a:lnTo>
                    <a:pt x="164592" y="0"/>
                  </a:lnTo>
                  <a:lnTo>
                    <a:pt x="164592" y="237744"/>
                  </a:lnTo>
                  <a:lnTo>
                    <a:pt x="0" y="237744"/>
                  </a:ln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2373889" y="4800600"/>
            <a:ext cx="123444" cy="178308"/>
            <a:chOff x="0" y="0"/>
            <a:chExt cx="164592" cy="23774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64592" cy="237744"/>
            </a:xfrm>
            <a:custGeom>
              <a:avLst/>
              <a:gdLst/>
              <a:ahLst/>
              <a:cxnLst/>
              <a:rect r="r" b="b" t="t" l="l"/>
              <a:pathLst>
                <a:path h="237744" w="164592">
                  <a:moveTo>
                    <a:pt x="0" y="0"/>
                  </a:moveTo>
                  <a:lnTo>
                    <a:pt x="164592" y="0"/>
                  </a:lnTo>
                  <a:lnTo>
                    <a:pt x="164592" y="237744"/>
                  </a:lnTo>
                  <a:lnTo>
                    <a:pt x="0" y="237744"/>
                  </a:lnTo>
                  <a:close/>
                </a:path>
              </a:pathLst>
            </a:custGeom>
            <a:solidFill>
              <a:srgbClr val="F2A73D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4206011" y="2743200"/>
            <a:ext cx="9875520" cy="2057400"/>
            <a:chOff x="0" y="0"/>
            <a:chExt cx="13167360" cy="27432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3167361" cy="2743200"/>
            </a:xfrm>
            <a:custGeom>
              <a:avLst/>
              <a:gdLst/>
              <a:ahLst/>
              <a:cxnLst/>
              <a:rect r="r" b="b" t="t" l="l"/>
              <a:pathLst>
                <a:path h="2743200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528" r="0" b="-43528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19050"/>
              <a:ext cx="13167360" cy="2762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0"/>
                </a:lnSpc>
              </a:pPr>
              <a:r>
                <a:rPr lang="en-US" b="true" sz="660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THANK YOU</a:t>
              </a:r>
            </a:p>
          </p:txBody>
        </p:sp>
      </p:grpSp>
      <p:sp>
        <p:nvSpPr>
          <p:cNvPr name="AutoShape 90" id="90"/>
          <p:cNvSpPr/>
          <p:nvPr/>
        </p:nvSpPr>
        <p:spPr>
          <a:xfrm rot="-5368740">
            <a:off x="7760894" y="1366838"/>
            <a:ext cx="2767127" cy="0"/>
          </a:xfrm>
          <a:prstGeom prst="line">
            <a:avLst/>
          </a:prstGeom>
          <a:ln cap="rnd" w="9525">
            <a:solidFill>
              <a:srgbClr val="F2A73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1" id="91"/>
          <p:cNvGrpSpPr/>
          <p:nvPr/>
        </p:nvGrpSpPr>
        <p:grpSpPr>
          <a:xfrm rot="0">
            <a:off x="7909160" y="-310953"/>
            <a:ext cx="2517467" cy="2517467"/>
            <a:chOff x="0" y="0"/>
            <a:chExt cx="3356623" cy="3356623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356610" cy="3356610"/>
            </a:xfrm>
            <a:custGeom>
              <a:avLst/>
              <a:gdLst/>
              <a:ahLst/>
              <a:cxnLst/>
              <a:rect r="r" b="b" t="t" l="l"/>
              <a:pathLst>
                <a:path h="3356610" w="3356610">
                  <a:moveTo>
                    <a:pt x="0" y="0"/>
                  </a:moveTo>
                  <a:lnTo>
                    <a:pt x="3356610" y="0"/>
                  </a:lnTo>
                  <a:lnTo>
                    <a:pt x="3356610" y="3356610"/>
                  </a:lnTo>
                  <a:lnTo>
                    <a:pt x="0" y="3356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6759150" y="4978908"/>
            <a:ext cx="4376633" cy="4836881"/>
            <a:chOff x="0" y="0"/>
            <a:chExt cx="5835510" cy="6449174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5835523" cy="6449187"/>
            </a:xfrm>
            <a:custGeom>
              <a:avLst/>
              <a:gdLst/>
              <a:ahLst/>
              <a:cxnLst/>
              <a:rect r="r" b="b" t="t" l="l"/>
              <a:pathLst>
                <a:path h="6449187" w="5835523">
                  <a:moveTo>
                    <a:pt x="0" y="0"/>
                  </a:moveTo>
                  <a:lnTo>
                    <a:pt x="5835523" y="0"/>
                  </a:lnTo>
                  <a:lnTo>
                    <a:pt x="5835523" y="6449187"/>
                  </a:lnTo>
                  <a:lnTo>
                    <a:pt x="0" y="6449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6487" t="-16625" r="-246084" b="-96056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DAHWH5cv4D8</dc:identifier>
  <dcterms:modified xsi:type="dcterms:W3CDTF">2011-08-01T06:04:30Z</dcterms:modified>
  <cp:revision>1</cp:revision>
  <dc:title>Copy of Copy of DrStone_Circuit_Template.pptx</dc:title>
</cp:coreProperties>
</file>